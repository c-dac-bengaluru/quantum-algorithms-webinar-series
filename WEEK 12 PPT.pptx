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72" r:id="rId3"/>
    <p:sldId id="277" r:id="rId4"/>
    <p:sldId id="282" r:id="rId5"/>
    <p:sldId id="259" r:id="rId6"/>
    <p:sldId id="258" r:id="rId7"/>
    <p:sldId id="283" r:id="rId8"/>
    <p:sldId id="273" r:id="rId9"/>
    <p:sldId id="260" r:id="rId10"/>
    <p:sldId id="274" r:id="rId11"/>
    <p:sldId id="261" r:id="rId12"/>
    <p:sldId id="262" r:id="rId13"/>
    <p:sldId id="263" r:id="rId14"/>
    <p:sldId id="264" r:id="rId15"/>
    <p:sldId id="284" r:id="rId16"/>
    <p:sldId id="285" r:id="rId17"/>
    <p:sldId id="279" r:id="rId18"/>
    <p:sldId id="275" r:id="rId19"/>
    <p:sldId id="265" r:id="rId20"/>
    <p:sldId id="266" r:id="rId21"/>
    <p:sldId id="267" r:id="rId22"/>
    <p:sldId id="268" r:id="rId23"/>
    <p:sldId id="280" r:id="rId24"/>
    <p:sldId id="281" r:id="rId25"/>
    <p:sldId id="269" r:id="rId26"/>
    <p:sldId id="270" r:id="rId27"/>
    <p:sldId id="278" r:id="rId28"/>
    <p:sldId id="287" r:id="rId29"/>
    <p:sldId id="271"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653" autoAdjust="0"/>
    <p:restoredTop sz="94660"/>
  </p:normalViewPr>
  <p:slideViewPr>
    <p:cSldViewPr snapToGrid="0">
      <p:cViewPr varScale="1">
        <p:scale>
          <a:sx n="85" d="100"/>
          <a:sy n="85" d="100"/>
        </p:scale>
        <p:origin x="10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9/24/2025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674539911"/>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9/24/2025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87677488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9/24/2025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48334529"/>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59891783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9/24/2025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153004914"/>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9/24/2025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87166458"/>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9/24/2025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612354556"/>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9/24/2025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745731016"/>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9/24/2025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164187346"/>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9/24/2025</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797186710"/>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9/24/2025</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473729087"/>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9/24/2025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41311205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8.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9.sv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Freeform: Shape 3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Freeform: Shape 35">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524003" y="1999615"/>
            <a:ext cx="9144000" cy="2764028"/>
          </a:xfrm>
        </p:spPr>
        <p:txBody>
          <a:bodyPr anchor="ctr">
            <a:normAutofit/>
          </a:bodyPr>
          <a:lstStyle/>
          <a:p>
            <a:r>
              <a:rPr lang="en-US" sz="6700" dirty="0"/>
              <a:t> QUANTUM ERROR CORRECTION</a:t>
            </a:r>
          </a:p>
        </p:txBody>
      </p:sp>
      <p:sp>
        <p:nvSpPr>
          <p:cNvPr id="38" name="Rectangle 37">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024C5642-5D7E-AE2A-74FD-8FCF6D252DF0}"/>
              </a:ext>
            </a:extLst>
          </p:cNvPr>
          <p:cNvSpPr>
            <a:spLocks noGrp="1"/>
          </p:cNvSpPr>
          <p:nvPr>
            <p:ph type="sldNum" sz="quarter" idx="12"/>
          </p:nvPr>
        </p:nvSpPr>
        <p:spPr>
          <a:xfrm>
            <a:off x="10489019" y="6356350"/>
            <a:ext cx="1268818"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pic>
        <p:nvPicPr>
          <p:cNvPr id="5" name="Picture 4" descr="Blue and black text with a black background&#10;&#10;AI-generated content may be incorrect.">
            <a:extLst>
              <a:ext uri="{FF2B5EF4-FFF2-40B4-BE49-F238E27FC236}">
                <a16:creationId xmlns:a16="http://schemas.microsoft.com/office/drawing/2014/main" id="{F2C13710-135E-7592-426D-C0527E5EA217}"/>
              </a:ext>
            </a:extLst>
          </p:cNvPr>
          <p:cNvPicPr>
            <a:picLocks noChangeAspect="1"/>
          </p:cNvPicPr>
          <p:nvPr/>
        </p:nvPicPr>
        <p:blipFill>
          <a:blip r:embed="rId2"/>
          <a:stretch>
            <a:fillRect/>
          </a:stretch>
        </p:blipFill>
        <p:spPr>
          <a:xfrm>
            <a:off x="4951527" y="809413"/>
            <a:ext cx="1969631" cy="1185333"/>
          </a:xfrm>
          <a:prstGeom prst="rect">
            <a:avLst/>
          </a:prstGeom>
        </p:spPr>
      </p:pic>
      <p:sp>
        <p:nvSpPr>
          <p:cNvPr id="4" name="TextBox 3">
            <a:extLst>
              <a:ext uri="{FF2B5EF4-FFF2-40B4-BE49-F238E27FC236}">
                <a16:creationId xmlns:a16="http://schemas.microsoft.com/office/drawing/2014/main" id="{BE5C9B59-3B9B-7F5E-C710-EDCBA744CAB1}"/>
              </a:ext>
            </a:extLst>
          </p:cNvPr>
          <p:cNvSpPr txBox="1"/>
          <p:nvPr/>
        </p:nvSpPr>
        <p:spPr>
          <a:xfrm>
            <a:off x="3360796" y="5718137"/>
            <a:ext cx="547038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t>HR Jeevitha </a:t>
            </a:r>
          </a:p>
          <a:p>
            <a:pPr algn="ctr"/>
            <a:r>
              <a:rPr lang="en-US" sz="2000" dirty="0"/>
              <a:t>CDAC-Bangalore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81CCE6-4871-E6A6-AEEC-CE789E63C2AB}"/>
              </a:ext>
            </a:extLst>
          </p:cNvPr>
          <p:cNvSpPr>
            <a:spLocks noGrp="1"/>
          </p:cNvSpPr>
          <p:nvPr>
            <p:ph type="title"/>
          </p:nvPr>
        </p:nvSpPr>
        <p:spPr>
          <a:xfrm>
            <a:off x="1115568" y="548640"/>
            <a:ext cx="10168128" cy="1179576"/>
          </a:xfrm>
        </p:spPr>
        <p:txBody>
          <a:bodyPr>
            <a:normAutofit/>
          </a:bodyPr>
          <a:lstStyle/>
          <a:p>
            <a:r>
              <a:rPr lang="en-US" sz="4000" dirty="0"/>
              <a:t>Outline :</a:t>
            </a:r>
          </a:p>
        </p:txBody>
      </p:sp>
      <p:sp>
        <p:nvSpPr>
          <p:cNvPr id="18" name="Rectangle 1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1E1FCC2-E8BE-7DEC-556D-A48D1E428DFA}"/>
              </a:ext>
            </a:extLst>
          </p:cNvPr>
          <p:cNvSpPr>
            <a:spLocks noGrp="1"/>
          </p:cNvSpPr>
          <p:nvPr>
            <p:ph idx="1"/>
          </p:nvPr>
        </p:nvSpPr>
        <p:spPr>
          <a:xfrm>
            <a:off x="1115568" y="2481943"/>
            <a:ext cx="10168128" cy="3695020"/>
          </a:xfrm>
        </p:spPr>
        <p:txBody>
          <a:bodyPr vert="horz" lIns="91440" tIns="45720" rIns="91440" bIns="45720" rtlCol="0">
            <a:normAutofit/>
          </a:bodyPr>
          <a:lstStyle/>
          <a:p>
            <a:pPr marL="0" indent="0">
              <a:buNone/>
            </a:pPr>
            <a:r>
              <a:rPr lang="en-US" sz="2200"/>
              <a:t>Classical Error Correction</a:t>
            </a:r>
          </a:p>
          <a:p>
            <a:pPr marL="0" indent="0">
              <a:buNone/>
            </a:pPr>
            <a:r>
              <a:rPr lang="en-US" sz="2200"/>
              <a:t>Quantum Error Correction</a:t>
            </a:r>
          </a:p>
          <a:p>
            <a:pPr marL="342900" indent="-342900"/>
            <a:r>
              <a:rPr lang="en-US" sz="2200"/>
              <a:t>Bit Flip Error</a:t>
            </a:r>
          </a:p>
          <a:p>
            <a:pPr marL="342900" indent="-342900"/>
            <a:r>
              <a:rPr lang="en-US" sz="2200"/>
              <a:t>Phase Flip Error </a:t>
            </a:r>
          </a:p>
          <a:p>
            <a:pPr marL="342900" indent="-342900"/>
            <a:r>
              <a:rPr lang="en-US" sz="2200"/>
              <a:t>Shor's Code  </a:t>
            </a:r>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p:txBody>
      </p:sp>
      <p:sp>
        <p:nvSpPr>
          <p:cNvPr id="4" name="Date Placeholder 3">
            <a:extLst>
              <a:ext uri="{FF2B5EF4-FFF2-40B4-BE49-F238E27FC236}">
                <a16:creationId xmlns:a16="http://schemas.microsoft.com/office/drawing/2014/main" id="{C0A8FE08-758A-D91E-EF46-2B7882C0A90B}"/>
              </a:ext>
            </a:extLst>
          </p:cNvPr>
          <p:cNvSpPr>
            <a:spLocks noGrp="1"/>
          </p:cNvSpPr>
          <p:nvPr>
            <p:ph type="dt" sz="half" idx="10"/>
          </p:nvPr>
        </p:nvSpPr>
        <p:spPr>
          <a:xfrm>
            <a:off x="1115568" y="6356350"/>
            <a:ext cx="2743200" cy="365125"/>
          </a:xfrm>
        </p:spPr>
        <p:txBody>
          <a:bodyPr>
            <a:normAutofit/>
          </a:bodyPr>
          <a:lstStyle/>
          <a:p>
            <a:pPr>
              <a:spcAft>
                <a:spcPts val="600"/>
              </a:spcAft>
            </a:pPr>
            <a:fld id="{D0BC23F9-6708-4041-A8D9-0D8ED8937193}"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E497BA5B-8614-88B2-0913-EA5774A41032}"/>
              </a:ext>
            </a:extLst>
          </p:cNvPr>
          <p:cNvSpPr>
            <a:spLocks noGrp="1"/>
          </p:cNvSpPr>
          <p:nvPr>
            <p:ph type="sldNum" sz="quarter" idx="12"/>
          </p:nvPr>
        </p:nvSpPr>
        <p:spPr>
          <a:xfrm>
            <a:off x="8540496"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2</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C9E8493F-DD06-A94A-2F64-5D19AA9291AD}"/>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210580A9-AF71-7ABE-3D49-A44BBA1BB475}"/>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074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0F0D78-95D9-250C-B06A-D9C19B1960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14BDBB5-4C80-F37F-9E60-DC42455C4CD9}"/>
              </a:ext>
            </a:extLst>
          </p:cNvPr>
          <p:cNvSpPr>
            <a:spLocks noGrp="1"/>
          </p:cNvSpPr>
          <p:nvPr>
            <p:ph type="title"/>
          </p:nvPr>
        </p:nvSpPr>
        <p:spPr>
          <a:xfrm>
            <a:off x="1115568" y="548640"/>
            <a:ext cx="10168128" cy="1179576"/>
          </a:xfrm>
        </p:spPr>
        <p:txBody>
          <a:bodyPr>
            <a:normAutofit/>
          </a:bodyPr>
          <a:lstStyle/>
          <a:p>
            <a:r>
              <a:rPr lang="en-US" sz="4000" dirty="0"/>
              <a:t>Outline :</a:t>
            </a:r>
          </a:p>
        </p:txBody>
      </p:sp>
      <p:sp>
        <p:nvSpPr>
          <p:cNvPr id="13" name="Rectangle 1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A6F5A0B-8D7E-E42A-2B42-752DD76689DE}"/>
              </a:ext>
            </a:extLst>
          </p:cNvPr>
          <p:cNvSpPr>
            <a:spLocks noGrp="1"/>
          </p:cNvSpPr>
          <p:nvPr>
            <p:ph idx="1"/>
          </p:nvPr>
        </p:nvSpPr>
        <p:spPr>
          <a:xfrm>
            <a:off x="1115568" y="2481943"/>
            <a:ext cx="10168128" cy="3695020"/>
          </a:xfrm>
        </p:spPr>
        <p:txBody>
          <a:bodyPr vert="horz" lIns="91440" tIns="45720" rIns="91440" bIns="45720" rtlCol="0" anchor="t">
            <a:normAutofit/>
          </a:bodyPr>
          <a:lstStyle/>
          <a:p>
            <a:pPr marL="0" indent="0">
              <a:buNone/>
            </a:pPr>
            <a:r>
              <a:rPr lang="en-US" sz="2200" dirty="0"/>
              <a:t>Classical Error Correction</a:t>
            </a:r>
          </a:p>
          <a:p>
            <a:pPr marL="0" indent="0">
              <a:buNone/>
            </a:pPr>
            <a:r>
              <a:rPr lang="en-US" sz="2200" dirty="0">
                <a:solidFill>
                  <a:schemeClr val="bg1">
                    <a:lumMod val="85000"/>
                  </a:schemeClr>
                </a:solidFill>
              </a:rPr>
              <a:t>Quantum Error Correction</a:t>
            </a:r>
          </a:p>
          <a:p>
            <a:pPr marL="342900" indent="-342900"/>
            <a:r>
              <a:rPr lang="en-US" sz="2200" dirty="0">
                <a:solidFill>
                  <a:schemeClr val="bg1">
                    <a:lumMod val="85000"/>
                  </a:schemeClr>
                </a:solidFill>
              </a:rPr>
              <a:t>Bit Flip Error</a:t>
            </a:r>
          </a:p>
          <a:p>
            <a:pPr marL="342900" indent="-342900"/>
            <a:r>
              <a:rPr lang="en-US" sz="2200" dirty="0">
                <a:solidFill>
                  <a:schemeClr val="bg1">
                    <a:lumMod val="85000"/>
                  </a:schemeClr>
                </a:solidFill>
              </a:rPr>
              <a:t>Phase Flip Error </a:t>
            </a:r>
          </a:p>
          <a:p>
            <a:pPr marL="342900" indent="-342900"/>
            <a:r>
              <a:rPr lang="en-US" sz="2200" dirty="0">
                <a:solidFill>
                  <a:schemeClr val="bg1">
                    <a:lumMod val="85000"/>
                  </a:schemeClr>
                </a:solidFill>
              </a:rPr>
              <a:t>Shor's Code  </a:t>
            </a:r>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p:txBody>
      </p:sp>
      <p:sp>
        <p:nvSpPr>
          <p:cNvPr id="4" name="Date Placeholder 3">
            <a:extLst>
              <a:ext uri="{FF2B5EF4-FFF2-40B4-BE49-F238E27FC236}">
                <a16:creationId xmlns:a16="http://schemas.microsoft.com/office/drawing/2014/main" id="{9516881B-6F81-6C06-D2FB-ABBD5CA1AFEA}"/>
              </a:ext>
            </a:extLst>
          </p:cNvPr>
          <p:cNvSpPr>
            <a:spLocks noGrp="1"/>
          </p:cNvSpPr>
          <p:nvPr>
            <p:ph type="dt" sz="half" idx="10"/>
          </p:nvPr>
        </p:nvSpPr>
        <p:spPr>
          <a:xfrm>
            <a:off x="1115568" y="6356350"/>
            <a:ext cx="2743200" cy="365125"/>
          </a:xfrm>
        </p:spPr>
        <p:txBody>
          <a:bodyPr>
            <a:normAutofit/>
          </a:bodyPr>
          <a:lstStyle/>
          <a:p>
            <a:pPr>
              <a:spcAft>
                <a:spcPts val="600"/>
              </a:spcAft>
            </a:pPr>
            <a:fld id="{D0BC23F9-6708-4041-A8D9-0D8ED8937193}"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8AE4BE2C-4C58-61BC-D1AA-605D84C2F8EE}"/>
              </a:ext>
            </a:extLst>
          </p:cNvPr>
          <p:cNvSpPr>
            <a:spLocks noGrp="1"/>
          </p:cNvSpPr>
          <p:nvPr>
            <p:ph type="sldNum" sz="quarter" idx="12"/>
          </p:nvPr>
        </p:nvSpPr>
        <p:spPr>
          <a:xfrm>
            <a:off x="8540496"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3</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B8953C36-FDC5-FAC0-D827-B946408D251A}"/>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63C1C13C-637E-F649-E7CB-AA04E6729BE8}"/>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1737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7C2D0-B7BE-0723-B878-EFC05CF0F515}"/>
              </a:ext>
            </a:extLst>
          </p:cNvPr>
          <p:cNvSpPr>
            <a:spLocks noGrp="1"/>
          </p:cNvSpPr>
          <p:nvPr>
            <p:ph type="title"/>
          </p:nvPr>
        </p:nvSpPr>
        <p:spPr/>
        <p:txBody>
          <a:bodyPr/>
          <a:lstStyle/>
          <a:p>
            <a:r>
              <a:rPr lang="en-US" dirty="0"/>
              <a:t>Why do we need Error Correction?</a:t>
            </a:r>
          </a:p>
        </p:txBody>
      </p:sp>
      <p:sp>
        <p:nvSpPr>
          <p:cNvPr id="5" name="Slide Number Placeholder 4">
            <a:extLst>
              <a:ext uri="{FF2B5EF4-FFF2-40B4-BE49-F238E27FC236}">
                <a16:creationId xmlns:a16="http://schemas.microsoft.com/office/drawing/2014/main" id="{F315F2C6-92E8-8A2E-2DEE-2495AEEDF570}"/>
              </a:ext>
            </a:extLst>
          </p:cNvPr>
          <p:cNvSpPr>
            <a:spLocks noGrp="1"/>
          </p:cNvSpPr>
          <p:nvPr>
            <p:ph type="sldNum" sz="quarter" idx="12"/>
          </p:nvPr>
        </p:nvSpPr>
        <p:spPr/>
        <p:txBody>
          <a:bodyPr/>
          <a:lstStyle/>
          <a:p>
            <a:fld id="{CC057153-B650-4DEB-B370-79DDCFDCE934}" type="slidenum">
              <a:rPr lang="en-US" smtClean="0"/>
              <a:t>4</a:t>
            </a:fld>
            <a:endParaRPr lang="en-US" dirty="0"/>
          </a:p>
        </p:txBody>
      </p:sp>
      <p:sp>
        <p:nvSpPr>
          <p:cNvPr id="6" name="Rectangle 1">
            <a:extLst>
              <a:ext uri="{FF2B5EF4-FFF2-40B4-BE49-F238E27FC236}">
                <a16:creationId xmlns:a16="http://schemas.microsoft.com/office/drawing/2014/main" id="{6B0B0BB6-62BF-EEAF-0FCC-F5BC91B67C83}"/>
              </a:ext>
            </a:extLst>
          </p:cNvPr>
          <p:cNvSpPr>
            <a:spLocks noGrp="1" noChangeArrowheads="1"/>
          </p:cNvSpPr>
          <p:nvPr>
            <p:ph idx="1"/>
          </p:nvPr>
        </p:nvSpPr>
        <p:spPr bwMode="auto">
          <a:xfrm>
            <a:off x="612648" y="1513283"/>
            <a:ext cx="10252577" cy="3831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Data stored or transmitted is affected by </a:t>
            </a:r>
            <a:r>
              <a:rPr kumimoji="0" lang="en-US" altLang="en-US" sz="1800" b="1" i="0" u="none" strike="noStrike" cap="none" normalizeH="0" baseline="0" dirty="0">
                <a:ln>
                  <a:noFill/>
                </a:ln>
                <a:solidFill>
                  <a:schemeClr val="tx1"/>
                </a:solidFill>
                <a:effectLst/>
                <a:latin typeface="Arial" panose="020B0604020202020204" pitchFamily="34" charset="0"/>
              </a:rPr>
              <a:t>noise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interference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 single bit can </a:t>
            </a:r>
            <a:r>
              <a:rPr kumimoji="0" lang="en-US" altLang="en-US" sz="1800" b="1" i="0" u="none" strike="noStrike" cap="none" normalizeH="0" baseline="0" dirty="0">
                <a:ln>
                  <a:noFill/>
                </a:ln>
                <a:solidFill>
                  <a:schemeClr val="tx1"/>
                </a:solidFill>
                <a:effectLst/>
                <a:latin typeface="Arial" panose="020B0604020202020204" pitchFamily="34" charset="0"/>
              </a:rPr>
              <a:t>flip</a:t>
            </a:r>
            <a:r>
              <a:rPr kumimoji="0" lang="en-US" altLang="en-US" sz="1800" b="0" i="0" u="none" strike="noStrike" cap="none" normalizeH="0" baseline="0" dirty="0">
                <a:ln>
                  <a:noFill/>
                </a:ln>
                <a:solidFill>
                  <a:schemeClr val="tx1"/>
                </a:solidFill>
                <a:effectLst/>
                <a:latin typeface="Arial" panose="020B0604020202020204" pitchFamily="34" charset="0"/>
              </a:rPr>
              <a:t> during transmission:</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Unicode MS"/>
              </a:rPr>
              <a:t>                             0 → 1</a:t>
            </a:r>
            <a:r>
              <a:rPr kumimoji="0" lang="en-US" altLang="en-US" sz="1800" b="0" i="0" u="none" strike="noStrike" cap="none" normalizeH="0" baseline="0" dirty="0">
                <a:ln>
                  <a:noFill/>
                </a:ln>
                <a:solidFill>
                  <a:schemeClr val="tx1"/>
                </a:solidFill>
                <a:effectLst/>
              </a:rPr>
              <a:t> or </a:t>
            </a:r>
            <a:r>
              <a:rPr kumimoji="0" lang="en-US" altLang="en-US" sz="1800" b="0" i="0" u="none" strike="noStrike" cap="none" normalizeH="0" baseline="0" dirty="0">
                <a:ln>
                  <a:noFill/>
                </a:ln>
                <a:solidFill>
                  <a:schemeClr val="tx1"/>
                </a:solidFill>
                <a:effectLst/>
                <a:latin typeface="Arial Unicode MS"/>
              </a:rPr>
              <a:t>1 → 0</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Even </a:t>
            </a:r>
            <a:r>
              <a:rPr kumimoji="0" lang="en-US" altLang="en-US" sz="1800" b="1" i="0" u="none" strike="noStrike" cap="none" normalizeH="0" baseline="0" dirty="0">
                <a:ln>
                  <a:noFill/>
                </a:ln>
                <a:solidFill>
                  <a:schemeClr val="tx1"/>
                </a:solidFill>
                <a:effectLst/>
                <a:latin typeface="Arial" panose="020B0604020202020204" pitchFamily="34" charset="0"/>
              </a:rPr>
              <a:t>one wrong bit</a:t>
            </a:r>
            <a:r>
              <a:rPr kumimoji="0" lang="en-US" altLang="en-US" sz="1800" b="0" i="0" u="none" strike="noStrike" cap="none" normalizeH="0" baseline="0" dirty="0">
                <a:ln>
                  <a:noFill/>
                </a:ln>
                <a:solidFill>
                  <a:schemeClr val="tx1"/>
                </a:solidFill>
                <a:effectLst/>
                <a:latin typeface="Arial" panose="020B0604020202020204" pitchFamily="34" charset="0"/>
              </a:rPr>
              <a:t> can change the meaning of the entire message.</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Goal:</a:t>
            </a:r>
            <a:r>
              <a:rPr kumimoji="0" lang="en-US" altLang="en-US" sz="1800" b="0" i="0" u="none" strike="noStrike" cap="none" normalizeH="0" baseline="0" dirty="0">
                <a:ln>
                  <a:noFill/>
                </a:ln>
                <a:solidFill>
                  <a:schemeClr val="tx1"/>
                </a:solidFill>
                <a:effectLst/>
                <a:latin typeface="Arial" panose="020B0604020202020204" pitchFamily="34" charset="0"/>
              </a:rPr>
              <a:t> Detect and correct errors to ensure reliable communication.</a:t>
            </a:r>
          </a:p>
          <a:p>
            <a:pPr marL="0" lvl="0" indent="0" eaLnBrk="0" fontAlgn="base" hangingPunct="0">
              <a:lnSpc>
                <a:spcPct val="15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50000"/>
              </a:lnSpc>
              <a:spcBef>
                <a:spcPct val="0"/>
              </a:spcBef>
              <a:spcAft>
                <a:spcPct val="0"/>
              </a:spcAft>
              <a:buNone/>
            </a:pPr>
            <a:r>
              <a:rPr lang="en-US" altLang="en-US" sz="1800" dirty="0">
                <a:latin typeface="Arial" panose="020B0604020202020204" pitchFamily="34" charset="0"/>
              </a:rPr>
              <a:t>    Eg: </a:t>
            </a:r>
            <a:r>
              <a:rPr lang="en-US" dirty="0"/>
              <a:t>101 → 10</a:t>
            </a:r>
            <a:r>
              <a:rPr lang="en-US" dirty="0">
                <a:solidFill>
                  <a:srgbClr val="FF0000"/>
                </a:solidFill>
              </a:rPr>
              <a:t>0</a:t>
            </a:r>
            <a:r>
              <a:rPr lang="en-US" sz="1800" dirty="0"/>
              <a:t> (bit flip)</a:t>
            </a:r>
          </a:p>
          <a:p>
            <a:pPr marL="0" lvl="0" indent="0" eaLnBrk="0" fontAlgn="base" hangingPunct="0">
              <a:lnSpc>
                <a:spcPct val="150000"/>
              </a:lnSpc>
              <a:spcBef>
                <a:spcPct val="0"/>
              </a:spcBef>
              <a:spcAft>
                <a:spcPct val="0"/>
              </a:spcAft>
              <a:buNone/>
            </a:pPr>
            <a:r>
              <a:rPr lang="en-US" sz="1800" dirty="0">
                <a:solidFill>
                  <a:srgbClr val="0070C0"/>
                </a:solidFill>
              </a:rPr>
              <a:t>      “Can we fix this?”</a:t>
            </a:r>
          </a:p>
          <a:p>
            <a:pPr marL="0" indent="0" eaLnBrk="0" fontAlgn="base" hangingPunct="0">
              <a:lnSpc>
                <a:spcPct val="150000"/>
              </a:lnSpc>
              <a:spcBef>
                <a:spcPct val="0"/>
              </a:spcBef>
              <a:spcAft>
                <a:spcPct val="0"/>
              </a:spcAft>
              <a:buNone/>
            </a:pPr>
            <a:r>
              <a:rPr lang="en-US" sz="1800" dirty="0"/>
              <a:t>    The </a:t>
            </a:r>
            <a:r>
              <a:rPr lang="en-US" sz="1800" i="1" dirty="0"/>
              <a:t>3-bit repetition code</a:t>
            </a:r>
            <a:r>
              <a:rPr lang="en-US" sz="1800" dirty="0"/>
              <a:t>.</a:t>
            </a:r>
          </a:p>
        </p:txBody>
      </p:sp>
      <p:pic>
        <p:nvPicPr>
          <p:cNvPr id="3" name="Picture 2" descr="Blue and black text with a black background&#10;&#10;AI-generated content may be incorrect.">
            <a:extLst>
              <a:ext uri="{FF2B5EF4-FFF2-40B4-BE49-F238E27FC236}">
                <a16:creationId xmlns:a16="http://schemas.microsoft.com/office/drawing/2014/main" id="{9524BE93-B2EC-340E-6351-7F732ED31A24}"/>
              </a:ext>
            </a:extLst>
          </p:cNvPr>
          <p:cNvPicPr>
            <a:picLocks noChangeAspect="1"/>
          </p:cNvPicPr>
          <p:nvPr/>
        </p:nvPicPr>
        <p:blipFill>
          <a:blip r:embed="rId2"/>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315902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2C9789-68AB-0288-ECCE-D26DCA502FB8}"/>
              </a:ext>
            </a:extLst>
          </p:cNvPr>
          <p:cNvSpPr>
            <a:spLocks noGrp="1"/>
          </p:cNvSpPr>
          <p:nvPr>
            <p:ph type="title"/>
          </p:nvPr>
        </p:nvSpPr>
        <p:spPr>
          <a:xfrm>
            <a:off x="841248" y="426720"/>
            <a:ext cx="10506456" cy="1919141"/>
          </a:xfrm>
        </p:spPr>
        <p:txBody>
          <a:bodyPr anchor="b">
            <a:normAutofit/>
          </a:bodyPr>
          <a:lstStyle/>
          <a:p>
            <a:r>
              <a:rPr lang="en-US" sz="6000" dirty="0"/>
              <a:t>The 3-bit Repetition Code </a:t>
            </a:r>
          </a:p>
        </p:txBody>
      </p:sp>
      <p:sp>
        <p:nvSpPr>
          <p:cNvPr id="21" name="Rectangle 2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E53DDA5-B892-F79E-46D2-52E94EEADB31}"/>
              </a:ext>
            </a:extLst>
          </p:cNvPr>
          <p:cNvSpPr>
            <a:spLocks noGrp="1"/>
          </p:cNvSpPr>
          <p:nvPr>
            <p:ph idx="1"/>
          </p:nvPr>
        </p:nvSpPr>
        <p:spPr>
          <a:xfrm>
            <a:off x="841248" y="3337269"/>
            <a:ext cx="10509504" cy="2905686"/>
          </a:xfrm>
        </p:spPr>
        <p:txBody>
          <a:bodyPr vert="horz" lIns="91440" tIns="45720" rIns="91440" bIns="45720" rtlCol="0" anchor="t">
            <a:normAutofit/>
          </a:bodyPr>
          <a:lstStyle/>
          <a:p>
            <a:pPr>
              <a:lnSpc>
                <a:spcPct val="110000"/>
              </a:lnSpc>
            </a:pPr>
            <a:r>
              <a:rPr lang="en-US" sz="1500" dirty="0">
                <a:latin typeface="Calibri"/>
                <a:ea typeface="Calibri"/>
                <a:cs typeface="Calibri"/>
              </a:rPr>
              <a:t>Encoding : In this 0 is encoded as 000 and 1 as 111.</a:t>
            </a:r>
          </a:p>
          <a:p>
            <a:pPr marL="0" indent="0">
              <a:lnSpc>
                <a:spcPct val="110000"/>
              </a:lnSpc>
              <a:buNone/>
            </a:pPr>
            <a:r>
              <a:rPr lang="en-US" sz="1500" dirty="0">
                <a:latin typeface="Calibri"/>
                <a:ea typeface="Calibri"/>
                <a:cs typeface="Calibri"/>
              </a:rPr>
              <a:t>     Single-bit errors leads to distinct 3-bit strings:</a:t>
            </a:r>
          </a:p>
          <a:p>
            <a:pPr marL="0" indent="0">
              <a:lnSpc>
                <a:spcPct val="110000"/>
              </a:lnSpc>
              <a:buNone/>
            </a:pPr>
            <a:r>
              <a:rPr lang="en-US" sz="1500" dirty="0">
                <a:latin typeface="Calibri"/>
                <a:ea typeface="Calibri"/>
                <a:cs typeface="Calibri"/>
              </a:rPr>
              <a:t>          000 -&gt; 00</a:t>
            </a:r>
            <a:r>
              <a:rPr lang="en-US" sz="1500" dirty="0">
                <a:solidFill>
                  <a:srgbClr val="FF0000"/>
                </a:solidFill>
                <a:latin typeface="Calibri"/>
                <a:ea typeface="Calibri"/>
                <a:cs typeface="Calibri"/>
              </a:rPr>
              <a:t>1</a:t>
            </a:r>
            <a:r>
              <a:rPr lang="en-US" sz="1500" dirty="0">
                <a:latin typeface="Calibri"/>
                <a:ea typeface="Calibri"/>
                <a:cs typeface="Calibri"/>
              </a:rPr>
              <a:t>/0</a:t>
            </a:r>
            <a:r>
              <a:rPr lang="en-US" sz="1500" dirty="0">
                <a:solidFill>
                  <a:srgbClr val="FF0000"/>
                </a:solidFill>
                <a:latin typeface="Calibri"/>
                <a:ea typeface="Calibri"/>
                <a:cs typeface="Calibri"/>
              </a:rPr>
              <a:t>1</a:t>
            </a:r>
            <a:r>
              <a:rPr lang="en-US" sz="1500" dirty="0">
                <a:latin typeface="Calibri"/>
                <a:ea typeface="Calibri"/>
                <a:cs typeface="Calibri"/>
              </a:rPr>
              <a:t>0/</a:t>
            </a:r>
            <a:r>
              <a:rPr lang="en-US" sz="1500" dirty="0">
                <a:solidFill>
                  <a:srgbClr val="FF0000"/>
                </a:solidFill>
                <a:latin typeface="Calibri"/>
                <a:ea typeface="Calibri"/>
                <a:cs typeface="Calibri"/>
              </a:rPr>
              <a:t>1</a:t>
            </a:r>
            <a:r>
              <a:rPr lang="en-US" sz="1500" dirty="0">
                <a:latin typeface="Calibri"/>
                <a:ea typeface="Calibri"/>
                <a:cs typeface="Calibri"/>
              </a:rPr>
              <a:t>00 ; 111 -&gt; 11</a:t>
            </a:r>
            <a:r>
              <a:rPr lang="en-US" sz="1500" dirty="0">
                <a:solidFill>
                  <a:srgbClr val="FF0000"/>
                </a:solidFill>
                <a:latin typeface="Calibri"/>
                <a:ea typeface="Calibri"/>
                <a:cs typeface="Calibri"/>
              </a:rPr>
              <a:t>0</a:t>
            </a:r>
            <a:r>
              <a:rPr lang="en-US" sz="1500" dirty="0">
                <a:latin typeface="Calibri"/>
                <a:ea typeface="Calibri"/>
                <a:cs typeface="Calibri"/>
              </a:rPr>
              <a:t>/1</a:t>
            </a:r>
            <a:r>
              <a:rPr lang="en-US" sz="1500" dirty="0">
                <a:solidFill>
                  <a:srgbClr val="FF0000"/>
                </a:solidFill>
                <a:latin typeface="Calibri"/>
                <a:ea typeface="Calibri"/>
                <a:cs typeface="Calibri"/>
              </a:rPr>
              <a:t>0</a:t>
            </a:r>
            <a:r>
              <a:rPr lang="en-US" sz="1500" dirty="0">
                <a:latin typeface="Calibri"/>
                <a:ea typeface="Calibri"/>
                <a:cs typeface="Calibri"/>
              </a:rPr>
              <a:t>1/</a:t>
            </a:r>
            <a:r>
              <a:rPr lang="en-US" sz="1500" dirty="0">
                <a:solidFill>
                  <a:srgbClr val="FF0000"/>
                </a:solidFill>
                <a:latin typeface="Calibri"/>
                <a:ea typeface="Calibri"/>
                <a:cs typeface="Calibri"/>
              </a:rPr>
              <a:t>0</a:t>
            </a:r>
            <a:r>
              <a:rPr lang="en-US" sz="1500" dirty="0">
                <a:latin typeface="Calibri"/>
                <a:ea typeface="Calibri"/>
                <a:cs typeface="Calibri"/>
              </a:rPr>
              <a:t>11 </a:t>
            </a:r>
          </a:p>
          <a:p>
            <a:pPr marL="0" indent="0">
              <a:lnSpc>
                <a:spcPct val="110000"/>
              </a:lnSpc>
              <a:buNone/>
            </a:pPr>
            <a:r>
              <a:rPr lang="en-US" sz="1500" dirty="0">
                <a:latin typeface="Calibri"/>
                <a:ea typeface="Calibri"/>
                <a:cs typeface="Calibri"/>
              </a:rPr>
              <a:t>     Here 000 and 111 are called the codewords.</a:t>
            </a:r>
          </a:p>
          <a:p>
            <a:pPr>
              <a:lnSpc>
                <a:spcPct val="110000"/>
              </a:lnSpc>
            </a:pPr>
            <a:r>
              <a:rPr lang="en-US" sz="1500" dirty="0">
                <a:latin typeface="Calibri"/>
                <a:ea typeface="Calibri"/>
                <a:cs typeface="Calibri"/>
              </a:rPr>
              <a:t>Error detection : </a:t>
            </a:r>
            <a:r>
              <a:rPr lang="en-US" sz="1500" dirty="0">
                <a:latin typeface="Calibri"/>
                <a:ea typeface="+mn-lt"/>
                <a:cs typeface="+mn-lt"/>
              </a:rPr>
              <a:t>The decoder determines whether the noisy string represents 000 or 111 using parity checks (</a:t>
            </a:r>
            <a:r>
              <a:rPr lang="en-US" sz="1500" dirty="0">
                <a:latin typeface="Calibri"/>
                <a:ea typeface="Calibri"/>
                <a:cs typeface="Calibri"/>
              </a:rPr>
              <a:t>majority voting).</a:t>
            </a:r>
          </a:p>
          <a:p>
            <a:pPr>
              <a:lnSpc>
                <a:spcPct val="110000"/>
              </a:lnSpc>
            </a:pPr>
            <a:r>
              <a:rPr lang="en-US" sz="1500" dirty="0">
                <a:latin typeface="Calibri"/>
                <a:ea typeface="+mn-lt"/>
                <a:cs typeface="+mn-lt"/>
              </a:rPr>
              <a:t>The 3-bit code can correct up to one bit error.</a:t>
            </a:r>
          </a:p>
          <a:p>
            <a:pPr>
              <a:lnSpc>
                <a:spcPct val="110000"/>
              </a:lnSpc>
            </a:pPr>
            <a:r>
              <a:rPr lang="en-US" sz="1500" dirty="0">
                <a:latin typeface="Calibri"/>
                <a:ea typeface="Calibri"/>
                <a:cs typeface="Calibri"/>
              </a:rPr>
              <a:t>Assumption of the noise is taken as </a:t>
            </a:r>
            <a:r>
              <a:rPr lang="en-US" sz="1500" i="1" dirty="0" err="1">
                <a:latin typeface="Calibri"/>
                <a:ea typeface="Calibri"/>
                <a:cs typeface="Calibri"/>
              </a:rPr>
              <a:t>iid</a:t>
            </a:r>
            <a:r>
              <a:rPr lang="en-US" sz="1500" i="1" dirty="0">
                <a:latin typeface="Calibri"/>
                <a:ea typeface="Calibri"/>
                <a:cs typeface="Calibri"/>
              </a:rPr>
              <a:t> </a:t>
            </a:r>
            <a:r>
              <a:rPr lang="en-US" sz="1500" dirty="0">
                <a:latin typeface="Calibri"/>
                <a:ea typeface="Calibri"/>
                <a:cs typeface="Calibri"/>
              </a:rPr>
              <a:t>(independent, identically, distributed)</a:t>
            </a:r>
          </a:p>
          <a:p>
            <a:pPr marL="0" indent="0">
              <a:lnSpc>
                <a:spcPct val="110000"/>
              </a:lnSpc>
              <a:buNone/>
            </a:pPr>
            <a:endParaRPr lang="en-US" sz="1500" dirty="0"/>
          </a:p>
        </p:txBody>
      </p:sp>
      <p:sp>
        <p:nvSpPr>
          <p:cNvPr id="4" name="Slide Number Placeholder 3">
            <a:extLst>
              <a:ext uri="{FF2B5EF4-FFF2-40B4-BE49-F238E27FC236}">
                <a16:creationId xmlns:a16="http://schemas.microsoft.com/office/drawing/2014/main" id="{31994629-AED0-18B6-D866-A04C4E9EFF36}"/>
              </a:ext>
            </a:extLst>
          </p:cNvPr>
          <p:cNvSpPr>
            <a:spLocks noGrp="1"/>
          </p:cNvSpPr>
          <p:nvPr>
            <p:ph type="sldNum" sz="quarter" idx="12"/>
          </p:nvPr>
        </p:nvSpPr>
        <p:spPr>
          <a:xfrm>
            <a:off x="8873254" y="6356350"/>
            <a:ext cx="2477498"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5</a:t>
            </a:fld>
            <a:endParaRPr lang="en-US">
              <a:solidFill>
                <a:schemeClr val="tx1">
                  <a:lumMod val="50000"/>
                  <a:lumOff val="50000"/>
                </a:schemeClr>
              </a:solidFill>
            </a:endParaRPr>
          </a:p>
        </p:txBody>
      </p:sp>
      <p:pic>
        <p:nvPicPr>
          <p:cNvPr id="6" name="Picture 5" descr="Blue and black text with a black background&#10;&#10;AI-generated content may be incorrect.">
            <a:extLst>
              <a:ext uri="{FF2B5EF4-FFF2-40B4-BE49-F238E27FC236}">
                <a16:creationId xmlns:a16="http://schemas.microsoft.com/office/drawing/2014/main" id="{C8546C34-F7C6-CAD7-9A39-90DD82AC75B2}"/>
              </a:ext>
            </a:extLst>
          </p:cNvPr>
          <p:cNvPicPr>
            <a:picLocks noChangeAspect="1"/>
          </p:cNvPicPr>
          <p:nvPr/>
        </p:nvPicPr>
        <p:blipFill>
          <a:blip r:embed="rId2"/>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333687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3C0A3-D63B-6C7A-4CB0-B7C45F220D31}"/>
              </a:ext>
            </a:extLst>
          </p:cNvPr>
          <p:cNvSpPr>
            <a:spLocks noGrp="1"/>
          </p:cNvSpPr>
          <p:nvPr>
            <p:ph type="title"/>
          </p:nvPr>
        </p:nvSpPr>
        <p:spPr/>
        <p:txBody>
          <a:bodyPr/>
          <a:lstStyle/>
          <a:p>
            <a:r>
              <a:rPr lang="en-US" dirty="0"/>
              <a:t>Noise on Classical bits</a:t>
            </a:r>
          </a:p>
        </p:txBody>
      </p:sp>
      <p:sp>
        <p:nvSpPr>
          <p:cNvPr id="3" name="Content Placeholder 2">
            <a:extLst>
              <a:ext uri="{FF2B5EF4-FFF2-40B4-BE49-F238E27FC236}">
                <a16:creationId xmlns:a16="http://schemas.microsoft.com/office/drawing/2014/main" id="{9FEF9071-E18A-FD10-47FF-73D027347C23}"/>
              </a:ext>
            </a:extLst>
          </p:cNvPr>
          <p:cNvSpPr>
            <a:spLocks noGrp="1"/>
          </p:cNvSpPr>
          <p:nvPr>
            <p:ph idx="1"/>
          </p:nvPr>
        </p:nvSpPr>
        <p:spPr>
          <a:xfrm>
            <a:off x="521208" y="1998037"/>
            <a:ext cx="5897521" cy="4505137"/>
          </a:xfrm>
        </p:spPr>
        <p:txBody>
          <a:bodyPr vert="horz" lIns="91440" tIns="45720" rIns="91440" bIns="45720" rtlCol="0" anchor="t">
            <a:normAutofit/>
          </a:bodyPr>
          <a:lstStyle/>
          <a:p>
            <a:pPr marL="0" indent="0">
              <a:buNone/>
            </a:pPr>
            <a:r>
              <a:rPr lang="en-US" dirty="0"/>
              <a:t>Bit flip errors:  The binary symmetric channel</a:t>
            </a:r>
          </a:p>
          <a:p>
            <a:endParaRPr lang="en-US" dirty="0"/>
          </a:p>
          <a:p>
            <a:endParaRPr lang="en-US" dirty="0"/>
          </a:p>
          <a:p>
            <a:endParaRPr lang="en-US" dirty="0"/>
          </a:p>
          <a:p>
            <a:endParaRPr lang="en-US" dirty="0"/>
          </a:p>
          <a:p>
            <a:endParaRPr lang="en-US" dirty="0"/>
          </a:p>
          <a:p>
            <a:pPr marL="0" indent="0">
              <a:buNone/>
            </a:pPr>
            <a:r>
              <a:rPr lang="en-US" dirty="0"/>
              <a:t>                                                                                        </a:t>
            </a:r>
            <a:r>
              <a:rPr lang="en-US" i="1" dirty="0">
                <a:solidFill>
                  <a:srgbClr val="FF0000"/>
                </a:solidFill>
              </a:rPr>
              <a:t>p</a:t>
            </a:r>
            <a:r>
              <a:rPr lang="en-US" sz="1600" i="1" dirty="0"/>
              <a:t> </a:t>
            </a:r>
            <a:r>
              <a:rPr lang="en-US" dirty="0"/>
              <a:t>is the probability of single </a:t>
            </a:r>
            <a:r>
              <a:rPr lang="en-US" dirty="0">
                <a:solidFill>
                  <a:srgbClr val="FF0000"/>
                </a:solidFill>
              </a:rPr>
              <a:t>bit flip</a:t>
            </a:r>
            <a:r>
              <a:rPr lang="en-US" dirty="0"/>
              <a:t>.</a:t>
            </a:r>
          </a:p>
          <a:p>
            <a:pPr marL="0" indent="0">
              <a:buNone/>
            </a:pPr>
            <a:endParaRPr lang="en-US" dirty="0"/>
          </a:p>
        </p:txBody>
      </p:sp>
      <p:pic>
        <p:nvPicPr>
          <p:cNvPr id="4" name="Picture 3" descr="A diagram of a triangle with arrows&#10;&#10;AI-generated content may be incorrect.">
            <a:extLst>
              <a:ext uri="{FF2B5EF4-FFF2-40B4-BE49-F238E27FC236}">
                <a16:creationId xmlns:a16="http://schemas.microsoft.com/office/drawing/2014/main" id="{63E1D11C-33BB-F23A-655C-D1252072A92E}"/>
              </a:ext>
            </a:extLst>
          </p:cNvPr>
          <p:cNvPicPr>
            <a:picLocks noChangeAspect="1"/>
          </p:cNvPicPr>
          <p:nvPr/>
        </p:nvPicPr>
        <p:blipFill>
          <a:blip r:embed="rId2"/>
          <a:srcRect l="6143" t="7432" r="8108" b="4054"/>
          <a:stretch>
            <a:fillRect/>
          </a:stretch>
        </p:blipFill>
        <p:spPr>
          <a:xfrm>
            <a:off x="950162" y="2784855"/>
            <a:ext cx="3241869" cy="2430289"/>
          </a:xfrm>
          <a:prstGeom prst="rect">
            <a:avLst/>
          </a:prstGeom>
        </p:spPr>
      </p:pic>
      <p:sp>
        <p:nvSpPr>
          <p:cNvPr id="5" name="Slide Number Placeholder 4">
            <a:extLst>
              <a:ext uri="{FF2B5EF4-FFF2-40B4-BE49-F238E27FC236}">
                <a16:creationId xmlns:a16="http://schemas.microsoft.com/office/drawing/2014/main" id="{A50CAFBB-439B-0AF3-55CB-912D4ED3D276}"/>
              </a:ext>
            </a:extLst>
          </p:cNvPr>
          <p:cNvSpPr>
            <a:spLocks noGrp="1"/>
          </p:cNvSpPr>
          <p:nvPr>
            <p:ph type="sldNum" sz="quarter" idx="12"/>
          </p:nvPr>
        </p:nvSpPr>
        <p:spPr/>
        <p:txBody>
          <a:bodyPr/>
          <a:lstStyle/>
          <a:p>
            <a:fld id="{CC057153-B650-4DEB-B370-79DDCFDCE934}" type="slidenum">
              <a:rPr lang="en-US" dirty="0"/>
              <a:t>6</a:t>
            </a:fld>
            <a:endParaRPr lang="en-US"/>
          </a:p>
        </p:txBody>
      </p:sp>
      <p:pic>
        <p:nvPicPr>
          <p:cNvPr id="7" name="Picture 6" descr="Blue and black text with a black background&#10;&#10;AI-generated content may be incorrect.">
            <a:extLst>
              <a:ext uri="{FF2B5EF4-FFF2-40B4-BE49-F238E27FC236}">
                <a16:creationId xmlns:a16="http://schemas.microsoft.com/office/drawing/2014/main" id="{EE40A779-32C8-7C36-A181-F76079239810}"/>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668EF60F-5454-D9AC-9FC1-924A85C21CE2}"/>
              </a:ext>
            </a:extLst>
          </p:cNvPr>
          <p:cNvSpPr/>
          <p:nvPr/>
        </p:nvSpPr>
        <p:spPr>
          <a:xfrm>
            <a:off x="130631" y="6235329"/>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EE0DBF0-CBDA-CB3A-A2F6-635BA3CBFD86}"/>
              </a:ext>
            </a:extLst>
          </p:cNvPr>
          <p:cNvSpPr txBox="1"/>
          <p:nvPr/>
        </p:nvSpPr>
        <p:spPr>
          <a:xfrm>
            <a:off x="7284466" y="2941450"/>
            <a:ext cx="4728788" cy="3367910"/>
          </a:xfrm>
          <a:prstGeom prst="rect">
            <a:avLst/>
          </a:prstGeom>
          <a:noFill/>
        </p:spPr>
        <p:txBody>
          <a:bodyPr wrap="square" rtlCol="0">
            <a:spAutoFit/>
          </a:bodyPr>
          <a:lstStyle/>
          <a:p>
            <a:pPr lvl="0" eaLnBrk="0" fontAlgn="base" hangingPunct="0">
              <a:lnSpc>
                <a:spcPct val="150000"/>
              </a:lnSpc>
              <a:spcBef>
                <a:spcPct val="0"/>
              </a:spcBef>
              <a:spcAft>
                <a:spcPct val="0"/>
              </a:spcAft>
            </a:pPr>
            <a:r>
              <a:rPr lang="en-US" altLang="en-US" dirty="0">
                <a:latin typeface="Arial" panose="020B0604020202020204" pitchFamily="34" charset="0"/>
              </a:rPr>
              <a:t>Possible outcomes for 3 bits:</a:t>
            </a:r>
          </a:p>
          <a:p>
            <a:pPr lvl="0" eaLnBrk="0" fontAlgn="base" hangingPunct="0">
              <a:lnSpc>
                <a:spcPct val="150000"/>
              </a:lnSpc>
              <a:spcBef>
                <a:spcPct val="0"/>
              </a:spcBef>
              <a:spcAft>
                <a:spcPct val="0"/>
              </a:spcAft>
            </a:pPr>
            <a:r>
              <a:rPr lang="en-US" altLang="en-US" b="1" dirty="0">
                <a:latin typeface="Arial" panose="020B0604020202020204" pitchFamily="34" charset="0"/>
              </a:rPr>
              <a:t>No error</a:t>
            </a:r>
            <a:r>
              <a:rPr lang="en-US" altLang="en-US" dirty="0">
                <a:latin typeface="Arial" panose="020B0604020202020204" pitchFamily="34" charset="0"/>
              </a:rPr>
              <a:t> (probability </a:t>
            </a:r>
            <a:r>
              <a:rPr lang="en-US" altLang="en-US" i="1" dirty="0">
                <a:latin typeface="Arial" panose="020B0604020202020204" pitchFamily="34" charset="0"/>
              </a:rPr>
              <a:t>(1−p)</a:t>
            </a:r>
            <a:r>
              <a:rPr lang="en-US" altLang="en-US" i="1" baseline="30000" dirty="0">
                <a:latin typeface="Arial" panose="020B0604020202020204" pitchFamily="34" charset="0"/>
              </a:rPr>
              <a:t>3</a:t>
            </a:r>
            <a:r>
              <a:rPr lang="en-US" altLang="en-US" dirty="0">
                <a:latin typeface="Arial" panose="020B0604020202020204" pitchFamily="34" charset="0"/>
              </a:rPr>
              <a:t>)</a:t>
            </a:r>
            <a:r>
              <a:rPr lang="en-US" altLang="en-US" baseline="30000" dirty="0">
                <a:latin typeface="Arial" panose="020B0604020202020204" pitchFamily="34" charset="0"/>
              </a:rPr>
              <a:t> </a:t>
            </a:r>
          </a:p>
          <a:p>
            <a:pPr lvl="0" eaLnBrk="0" fontAlgn="base" hangingPunct="0">
              <a:lnSpc>
                <a:spcPct val="150000"/>
              </a:lnSpc>
              <a:spcBef>
                <a:spcPct val="0"/>
              </a:spcBef>
              <a:spcAft>
                <a:spcPct val="0"/>
              </a:spcAft>
            </a:pPr>
            <a:r>
              <a:rPr lang="en-US" altLang="en-US" b="1" dirty="0">
                <a:latin typeface="Arial" panose="020B0604020202020204" pitchFamily="34" charset="0"/>
              </a:rPr>
              <a:t>One error</a:t>
            </a:r>
            <a:r>
              <a:rPr lang="en-US" altLang="en-US" dirty="0">
                <a:latin typeface="Arial" panose="020B0604020202020204" pitchFamily="34" charset="0"/>
              </a:rPr>
              <a:t> (probability </a:t>
            </a:r>
            <a:r>
              <a:rPr lang="en-US" altLang="en-US" i="1" dirty="0">
                <a:latin typeface="Arial" panose="020B0604020202020204" pitchFamily="34" charset="0"/>
              </a:rPr>
              <a:t>3p(1−p)</a:t>
            </a:r>
            <a:r>
              <a:rPr lang="en-US" altLang="en-US" i="1" baseline="30000" dirty="0">
                <a:latin typeface="Arial" panose="020B0604020202020204" pitchFamily="34" charset="0"/>
              </a:rPr>
              <a:t>2</a:t>
            </a:r>
            <a:r>
              <a:rPr lang="en-US" altLang="en-US" dirty="0">
                <a:latin typeface="Arial" panose="020B0604020202020204" pitchFamily="34" charset="0"/>
              </a:rPr>
              <a:t>)</a:t>
            </a:r>
            <a:endParaRPr lang="en-US" altLang="en-US" baseline="30000" dirty="0">
              <a:latin typeface="Arial" panose="020B0604020202020204" pitchFamily="34" charset="0"/>
            </a:endParaRPr>
          </a:p>
          <a:p>
            <a:pPr lvl="0" eaLnBrk="0" fontAlgn="base" hangingPunct="0">
              <a:lnSpc>
                <a:spcPct val="150000"/>
              </a:lnSpc>
              <a:spcBef>
                <a:spcPct val="0"/>
              </a:spcBef>
              <a:spcAft>
                <a:spcPct val="0"/>
              </a:spcAft>
            </a:pPr>
            <a:r>
              <a:rPr lang="en-US" altLang="en-US" b="1" dirty="0">
                <a:latin typeface="Arial" panose="020B0604020202020204" pitchFamily="34" charset="0"/>
              </a:rPr>
              <a:t>Two errors</a:t>
            </a:r>
            <a:r>
              <a:rPr lang="en-US" altLang="en-US" dirty="0">
                <a:latin typeface="Arial" panose="020B0604020202020204" pitchFamily="34" charset="0"/>
              </a:rPr>
              <a:t> (probability </a:t>
            </a:r>
            <a:r>
              <a:rPr lang="en-US" altLang="en-US" i="1" dirty="0">
                <a:latin typeface="Arial" panose="020B0604020202020204" pitchFamily="34" charset="0"/>
              </a:rPr>
              <a:t>3p</a:t>
            </a:r>
            <a:r>
              <a:rPr lang="en-US" altLang="en-US" i="1" baseline="30000" dirty="0">
                <a:latin typeface="Arial" panose="020B0604020202020204" pitchFamily="34" charset="0"/>
              </a:rPr>
              <a:t>2</a:t>
            </a:r>
            <a:r>
              <a:rPr lang="en-US" altLang="en-US" i="1" dirty="0">
                <a:latin typeface="Arial" panose="020B0604020202020204" pitchFamily="34" charset="0"/>
              </a:rPr>
              <a:t>(1−p)</a:t>
            </a:r>
            <a:r>
              <a:rPr lang="en-US" altLang="en-US" dirty="0">
                <a:latin typeface="Arial" panose="020B0604020202020204" pitchFamily="34" charset="0"/>
              </a:rPr>
              <a:t>)</a:t>
            </a:r>
          </a:p>
          <a:p>
            <a:pPr lvl="0" eaLnBrk="0" fontAlgn="base" hangingPunct="0">
              <a:lnSpc>
                <a:spcPct val="150000"/>
              </a:lnSpc>
              <a:spcBef>
                <a:spcPct val="0"/>
              </a:spcBef>
              <a:spcAft>
                <a:spcPct val="0"/>
              </a:spcAft>
            </a:pPr>
            <a:r>
              <a:rPr lang="en-US" altLang="en-US" b="1" dirty="0">
                <a:latin typeface="Arial" panose="020B0604020202020204" pitchFamily="34" charset="0"/>
              </a:rPr>
              <a:t>Three errors</a:t>
            </a:r>
            <a:r>
              <a:rPr lang="en-US" altLang="en-US" dirty="0">
                <a:latin typeface="Arial" panose="020B0604020202020204" pitchFamily="34" charset="0"/>
              </a:rPr>
              <a:t> (probability </a:t>
            </a:r>
            <a:r>
              <a:rPr lang="en-US" altLang="en-US" i="1" dirty="0">
                <a:latin typeface="Arial" panose="020B0604020202020204" pitchFamily="34" charset="0"/>
              </a:rPr>
              <a:t>p</a:t>
            </a:r>
            <a:r>
              <a:rPr lang="en-US" altLang="en-US" i="1" baseline="30000" dirty="0">
                <a:latin typeface="Arial" panose="020B0604020202020204" pitchFamily="34" charset="0"/>
              </a:rPr>
              <a:t>3</a:t>
            </a:r>
            <a:r>
              <a:rPr lang="en-US" altLang="en-US" dirty="0">
                <a:latin typeface="Arial" panose="020B0604020202020204" pitchFamily="34" charset="0"/>
              </a:rPr>
              <a:t>)</a:t>
            </a:r>
          </a:p>
          <a:p>
            <a:pPr>
              <a:lnSpc>
                <a:spcPct val="150000"/>
              </a:lnSpc>
            </a:pPr>
            <a:endParaRPr lang="en-US" dirty="0"/>
          </a:p>
          <a:p>
            <a:pPr>
              <a:lnSpc>
                <a:spcPct val="150000"/>
              </a:lnSpc>
            </a:pPr>
            <a:endParaRPr lang="en-US" dirty="0"/>
          </a:p>
          <a:p>
            <a:pPr>
              <a:lnSpc>
                <a:spcPct val="150000"/>
              </a:lnSpc>
            </a:pPr>
            <a:endParaRPr lang="en-US" dirty="0"/>
          </a:p>
        </p:txBody>
      </p:sp>
    </p:spTree>
    <p:extLst>
      <p:ext uri="{BB962C8B-B14F-4D97-AF65-F5344CB8AC3E}">
        <p14:creationId xmlns:p14="http://schemas.microsoft.com/office/powerpoint/2010/main" val="409322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CC59-EFA8-5D3D-4C31-89B48B283A25}"/>
              </a:ext>
            </a:extLst>
          </p:cNvPr>
          <p:cNvSpPr>
            <a:spLocks noGrp="1"/>
          </p:cNvSpPr>
          <p:nvPr>
            <p:ph type="title"/>
          </p:nvPr>
        </p:nvSpPr>
        <p:spPr/>
        <p:txBody>
          <a:bodyPr/>
          <a:lstStyle/>
          <a:p>
            <a:r>
              <a:rPr lang="en-US" dirty="0"/>
              <a:t>Reliability of 3-Bit Repetition Code</a:t>
            </a:r>
          </a:p>
        </p:txBody>
      </p:sp>
      <p:sp>
        <p:nvSpPr>
          <p:cNvPr id="3" name="Content Placeholder 2">
            <a:extLst>
              <a:ext uri="{FF2B5EF4-FFF2-40B4-BE49-F238E27FC236}">
                <a16:creationId xmlns:a16="http://schemas.microsoft.com/office/drawing/2014/main" id="{90F79E86-B485-2CA0-FCA0-CF67F3C88DF5}"/>
              </a:ext>
            </a:extLst>
          </p:cNvPr>
          <p:cNvSpPr>
            <a:spLocks noGrp="1"/>
          </p:cNvSpPr>
          <p:nvPr>
            <p:ph idx="1"/>
          </p:nvPr>
        </p:nvSpPr>
        <p:spPr>
          <a:xfrm>
            <a:off x="612647" y="1715532"/>
            <a:ext cx="5734365" cy="3986021"/>
          </a:xfrm>
        </p:spPr>
        <p:txBody>
          <a:bodyPr/>
          <a:lstStyle/>
          <a:p>
            <a:pPr marL="0" indent="0">
              <a:buNone/>
            </a:pPr>
            <a:r>
              <a:rPr lang="en-US" dirty="0"/>
              <a:t>Success Probability </a:t>
            </a:r>
            <a:r>
              <a:rPr lang="en-US" i="1" dirty="0"/>
              <a:t>P</a:t>
            </a:r>
            <a:r>
              <a:rPr lang="en-US" sz="1200" i="1" baseline="-25000" dirty="0"/>
              <a:t>success</a:t>
            </a:r>
            <a:r>
              <a:rPr lang="en-US" dirty="0"/>
              <a:t> :</a:t>
            </a:r>
          </a:p>
          <a:p>
            <a:pPr marL="0" lvl="0" indent="0" eaLnBrk="0" fontAlgn="base" hangingPunct="0">
              <a:lnSpc>
                <a:spcPct val="150000"/>
              </a:lnSpc>
              <a:spcBef>
                <a:spcPct val="0"/>
              </a:spcBef>
              <a:spcAft>
                <a:spcPct val="0"/>
              </a:spcAft>
              <a:buNone/>
            </a:pPr>
            <a:r>
              <a:rPr lang="en-US" altLang="en-US" dirty="0">
                <a:latin typeface="Arial" panose="020B0604020202020204" pitchFamily="34" charset="0"/>
              </a:rPr>
              <a:t>No error = probability = </a:t>
            </a:r>
            <a:r>
              <a:rPr lang="en-US" altLang="en-US" i="1" dirty="0">
                <a:latin typeface="Arial" panose="020B0604020202020204" pitchFamily="34" charset="0"/>
              </a:rPr>
              <a:t>(1−p)</a:t>
            </a:r>
            <a:r>
              <a:rPr lang="en-US" altLang="en-US" i="1" baseline="30000" dirty="0">
                <a:latin typeface="Arial" panose="020B0604020202020204" pitchFamily="34" charset="0"/>
              </a:rPr>
              <a:t>3</a:t>
            </a:r>
            <a:r>
              <a:rPr lang="en-US" altLang="en-US" baseline="30000" dirty="0">
                <a:latin typeface="Arial" panose="020B0604020202020204" pitchFamily="34" charset="0"/>
              </a:rPr>
              <a:t> </a:t>
            </a:r>
          </a:p>
          <a:p>
            <a:pPr marL="0" lvl="0" indent="0" eaLnBrk="0" fontAlgn="base" hangingPunct="0">
              <a:lnSpc>
                <a:spcPct val="150000"/>
              </a:lnSpc>
              <a:spcBef>
                <a:spcPct val="0"/>
              </a:spcBef>
              <a:spcAft>
                <a:spcPct val="0"/>
              </a:spcAft>
              <a:buNone/>
            </a:pPr>
            <a:r>
              <a:rPr lang="en-US" altLang="en-US" dirty="0">
                <a:latin typeface="Arial" panose="020B0604020202020204" pitchFamily="34" charset="0"/>
              </a:rPr>
              <a:t>Exactly One error = probability = </a:t>
            </a:r>
            <a:r>
              <a:rPr lang="en-US" altLang="en-US" i="1" dirty="0">
                <a:latin typeface="Arial" panose="020B0604020202020204" pitchFamily="34" charset="0"/>
              </a:rPr>
              <a:t>3p(1−p)</a:t>
            </a:r>
            <a:r>
              <a:rPr lang="en-US" altLang="en-US" i="1" baseline="30000" dirty="0">
                <a:latin typeface="Arial" panose="020B0604020202020204" pitchFamily="34" charset="0"/>
              </a:rPr>
              <a:t>2</a:t>
            </a:r>
            <a:endParaRPr lang="en-US" altLang="en-US" dirty="0">
              <a:latin typeface="Arial" panose="020B0604020202020204" pitchFamily="34" charset="0"/>
            </a:endParaRPr>
          </a:p>
          <a:p>
            <a:pPr marL="0" lvl="0" indent="0" eaLnBrk="0" fontAlgn="base" hangingPunct="0">
              <a:lnSpc>
                <a:spcPct val="150000"/>
              </a:lnSpc>
              <a:spcBef>
                <a:spcPct val="0"/>
              </a:spcBef>
              <a:spcAft>
                <a:spcPct val="0"/>
              </a:spcAft>
              <a:buNone/>
            </a:pPr>
            <a:r>
              <a:rPr lang="en-US" dirty="0"/>
              <a:t>P</a:t>
            </a:r>
            <a:r>
              <a:rPr lang="en-US" sz="1200" baseline="-25000" dirty="0"/>
              <a:t>success </a:t>
            </a:r>
            <a:r>
              <a:rPr lang="en-US" dirty="0"/>
              <a:t>​= (1−p)</a:t>
            </a:r>
            <a:r>
              <a:rPr lang="en-US" baseline="30000" dirty="0"/>
              <a:t>3 </a:t>
            </a:r>
            <a:r>
              <a:rPr lang="en-US" dirty="0"/>
              <a:t>+ 3p(1−p)</a:t>
            </a:r>
            <a:r>
              <a:rPr lang="en-US" baseline="30000" dirty="0"/>
              <a:t>2</a:t>
            </a:r>
            <a:endParaRPr lang="en-US" altLang="en-US" baseline="30000" dirty="0">
              <a:latin typeface="Arial" panose="020B0604020202020204" pitchFamily="34" charset="0"/>
            </a:endParaRPr>
          </a:p>
          <a:p>
            <a:pPr marL="0" indent="0">
              <a:buNone/>
            </a:pPr>
            <a:endParaRPr lang="en-US" dirty="0"/>
          </a:p>
          <a:p>
            <a:pPr marL="0" indent="0">
              <a:buNone/>
            </a:pPr>
            <a:r>
              <a:rPr lang="en-US" sz="1400" dirty="0"/>
              <a:t>Suppose </a:t>
            </a:r>
            <a:r>
              <a:rPr lang="en-US" sz="1400" i="1" dirty="0"/>
              <a:t>p</a:t>
            </a:r>
            <a:r>
              <a:rPr lang="en-US" sz="1400" dirty="0"/>
              <a:t> = 0.1 (10%)</a:t>
            </a:r>
          </a:p>
          <a:p>
            <a:pPr marL="0" indent="0">
              <a:buNone/>
            </a:pPr>
            <a:r>
              <a:rPr lang="en-US" sz="1400" dirty="0"/>
              <a:t>Without 3-bit code : error probability </a:t>
            </a:r>
            <a:r>
              <a:rPr lang="en-US" sz="1400" i="1" dirty="0"/>
              <a:t>p</a:t>
            </a:r>
            <a:r>
              <a:rPr lang="en-US" sz="1400" dirty="0"/>
              <a:t> = 0.1</a:t>
            </a:r>
          </a:p>
          <a:p>
            <a:pPr marL="0" indent="0">
              <a:buNone/>
            </a:pPr>
            <a:r>
              <a:rPr lang="en-US" sz="1400" dirty="0"/>
              <a:t>With 3-bit code : error probability </a:t>
            </a:r>
            <a:r>
              <a:rPr lang="en-US" sz="1400" i="1" dirty="0"/>
              <a:t>P</a:t>
            </a:r>
            <a:r>
              <a:rPr lang="en-US" sz="1400" i="1" baseline="-25000" dirty="0"/>
              <a:t>fail</a:t>
            </a:r>
            <a:r>
              <a:rPr lang="en-US" sz="1400" dirty="0"/>
              <a:t> = 0.028</a:t>
            </a:r>
          </a:p>
          <a:p>
            <a:pPr marL="0" indent="0">
              <a:buNone/>
            </a:pPr>
            <a:r>
              <a:rPr lang="en-US" sz="1400" dirty="0"/>
              <a:t>Error probability dropped from </a:t>
            </a:r>
            <a:r>
              <a:rPr lang="en-US" sz="1400" b="1" dirty="0"/>
              <a:t>10% → 2.8%</a:t>
            </a:r>
            <a:r>
              <a:rPr lang="en-US" sz="1400" dirty="0"/>
              <a:t>.</a:t>
            </a:r>
          </a:p>
        </p:txBody>
      </p:sp>
      <p:sp>
        <p:nvSpPr>
          <p:cNvPr id="5" name="Slide Number Placeholder 4">
            <a:extLst>
              <a:ext uri="{FF2B5EF4-FFF2-40B4-BE49-F238E27FC236}">
                <a16:creationId xmlns:a16="http://schemas.microsoft.com/office/drawing/2014/main" id="{D1D89B67-491C-5C30-5CC6-38AE6DCA2815}"/>
              </a:ext>
            </a:extLst>
          </p:cNvPr>
          <p:cNvSpPr>
            <a:spLocks noGrp="1"/>
          </p:cNvSpPr>
          <p:nvPr>
            <p:ph type="sldNum" sz="quarter" idx="12"/>
          </p:nvPr>
        </p:nvSpPr>
        <p:spPr/>
        <p:txBody>
          <a:bodyPr/>
          <a:lstStyle/>
          <a:p>
            <a:fld id="{CC057153-B650-4DEB-B370-79DDCFDCE934}" type="slidenum">
              <a:rPr lang="en-US" smtClean="0"/>
              <a:t>7</a:t>
            </a:fld>
            <a:endParaRPr lang="en-US" dirty="0"/>
          </a:p>
        </p:txBody>
      </p:sp>
      <p:sp>
        <p:nvSpPr>
          <p:cNvPr id="6" name="TextBox 5">
            <a:extLst>
              <a:ext uri="{FF2B5EF4-FFF2-40B4-BE49-F238E27FC236}">
                <a16:creationId xmlns:a16="http://schemas.microsoft.com/office/drawing/2014/main" id="{2DE19DBB-A4AC-FFE9-49B6-04D69D042213}"/>
              </a:ext>
            </a:extLst>
          </p:cNvPr>
          <p:cNvSpPr txBox="1"/>
          <p:nvPr/>
        </p:nvSpPr>
        <p:spPr>
          <a:xfrm>
            <a:off x="6481482" y="1680898"/>
            <a:ext cx="5150680" cy="1885260"/>
          </a:xfrm>
          <a:prstGeom prst="rect">
            <a:avLst/>
          </a:prstGeom>
          <a:noFill/>
        </p:spPr>
        <p:txBody>
          <a:bodyPr wrap="square" rtlCol="0">
            <a:spAutoFit/>
          </a:bodyPr>
          <a:lstStyle/>
          <a:p>
            <a:pPr>
              <a:lnSpc>
                <a:spcPct val="150000"/>
              </a:lnSpc>
            </a:pPr>
            <a:r>
              <a:rPr lang="en-US" sz="2000" dirty="0"/>
              <a:t>Failure Probability </a:t>
            </a:r>
            <a:r>
              <a:rPr lang="en-US" sz="2000" i="1" dirty="0"/>
              <a:t>P</a:t>
            </a:r>
            <a:r>
              <a:rPr lang="en-US" sz="1200" i="1" baseline="-25000" dirty="0"/>
              <a:t>fail</a:t>
            </a:r>
            <a:r>
              <a:rPr lang="en-US" sz="2000" dirty="0"/>
              <a:t> :</a:t>
            </a:r>
          </a:p>
          <a:p>
            <a:pPr lvl="0" eaLnBrk="0" fontAlgn="base" hangingPunct="0">
              <a:lnSpc>
                <a:spcPct val="150000"/>
              </a:lnSpc>
              <a:spcBef>
                <a:spcPct val="0"/>
              </a:spcBef>
              <a:spcAft>
                <a:spcPct val="0"/>
              </a:spcAft>
            </a:pPr>
            <a:r>
              <a:rPr lang="en-US" altLang="en-US" sz="2000" dirty="0">
                <a:latin typeface="Arial" panose="020B0604020202020204" pitchFamily="34" charset="0"/>
              </a:rPr>
              <a:t>Two errors = probability = </a:t>
            </a:r>
            <a:r>
              <a:rPr lang="en-US" altLang="en-US" sz="2000" i="1" dirty="0">
                <a:latin typeface="Arial" panose="020B0604020202020204" pitchFamily="34" charset="0"/>
              </a:rPr>
              <a:t>p</a:t>
            </a:r>
            <a:r>
              <a:rPr lang="en-US" altLang="en-US" sz="2000" i="1" baseline="30000" dirty="0">
                <a:latin typeface="Arial" panose="020B0604020202020204" pitchFamily="34" charset="0"/>
              </a:rPr>
              <a:t>2</a:t>
            </a:r>
            <a:r>
              <a:rPr lang="en-US" altLang="en-US" sz="2000" i="1" dirty="0">
                <a:latin typeface="Arial" panose="020B0604020202020204" pitchFamily="34" charset="0"/>
              </a:rPr>
              <a:t>(1−p)</a:t>
            </a:r>
            <a:endParaRPr lang="en-US" altLang="en-US" sz="2000" dirty="0">
              <a:latin typeface="Arial" panose="020B0604020202020204" pitchFamily="34" charset="0"/>
            </a:endParaRPr>
          </a:p>
          <a:p>
            <a:pPr lvl="0" eaLnBrk="0" fontAlgn="base" hangingPunct="0">
              <a:lnSpc>
                <a:spcPct val="150000"/>
              </a:lnSpc>
              <a:spcBef>
                <a:spcPct val="0"/>
              </a:spcBef>
              <a:spcAft>
                <a:spcPct val="0"/>
              </a:spcAft>
            </a:pPr>
            <a:r>
              <a:rPr lang="en-US" altLang="en-US" sz="2000" dirty="0">
                <a:latin typeface="Arial" panose="020B0604020202020204" pitchFamily="34" charset="0"/>
              </a:rPr>
              <a:t>Three errors = probability = </a:t>
            </a:r>
            <a:r>
              <a:rPr lang="en-US" altLang="en-US" sz="2000" i="1" dirty="0">
                <a:latin typeface="Arial" panose="020B0604020202020204" pitchFamily="34" charset="0"/>
              </a:rPr>
              <a:t>p</a:t>
            </a:r>
            <a:r>
              <a:rPr lang="en-US" altLang="en-US" sz="2000" i="1" baseline="30000" dirty="0">
                <a:latin typeface="Arial" panose="020B0604020202020204" pitchFamily="34" charset="0"/>
              </a:rPr>
              <a:t>3</a:t>
            </a:r>
            <a:endParaRPr lang="en-US" altLang="en-US" sz="2000" dirty="0">
              <a:latin typeface="Arial" panose="020B0604020202020204" pitchFamily="34" charset="0"/>
            </a:endParaRPr>
          </a:p>
          <a:p>
            <a:pPr>
              <a:lnSpc>
                <a:spcPct val="150000"/>
              </a:lnSpc>
            </a:pPr>
            <a:r>
              <a:rPr lang="en-US" sz="2000" i="1" dirty="0"/>
              <a:t>P</a:t>
            </a:r>
            <a:r>
              <a:rPr lang="en-US" sz="1200" i="1" baseline="-25000" dirty="0"/>
              <a:t>fail</a:t>
            </a:r>
            <a:r>
              <a:rPr lang="en-US" sz="2000" i="1" baseline="-25000" dirty="0"/>
              <a:t>  </a:t>
            </a:r>
            <a:r>
              <a:rPr lang="en-US" sz="2000" i="1" dirty="0"/>
              <a:t>= 3p</a:t>
            </a:r>
            <a:r>
              <a:rPr lang="en-US" sz="2000" i="1" baseline="30000" dirty="0"/>
              <a:t>2</a:t>
            </a:r>
            <a:r>
              <a:rPr lang="en-US" sz="2000" i="1" dirty="0"/>
              <a:t>(1−p) + p</a:t>
            </a:r>
            <a:r>
              <a:rPr lang="en-US" sz="2000" i="1" baseline="30000" dirty="0"/>
              <a:t>3</a:t>
            </a:r>
          </a:p>
        </p:txBody>
      </p:sp>
      <p:sp>
        <p:nvSpPr>
          <p:cNvPr id="7" name="Rectangle 6">
            <a:extLst>
              <a:ext uri="{FF2B5EF4-FFF2-40B4-BE49-F238E27FC236}">
                <a16:creationId xmlns:a16="http://schemas.microsoft.com/office/drawing/2014/main" id="{1CD84A9E-17CB-D2B5-3700-99A005BB0A6F}"/>
              </a:ext>
            </a:extLst>
          </p:cNvPr>
          <p:cNvSpPr/>
          <p:nvPr/>
        </p:nvSpPr>
        <p:spPr>
          <a:xfrm>
            <a:off x="612647" y="6032589"/>
            <a:ext cx="1769887" cy="2812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C3C278A8-F0FC-C91C-EC87-3968B3E51EE7}"/>
              </a:ext>
            </a:extLst>
          </p:cNvPr>
          <p:cNvSpPr txBox="1"/>
          <p:nvPr/>
        </p:nvSpPr>
        <p:spPr>
          <a:xfrm>
            <a:off x="137160" y="5880847"/>
            <a:ext cx="11839687" cy="584775"/>
          </a:xfrm>
          <a:prstGeom prst="rect">
            <a:avLst/>
          </a:prstGeom>
          <a:noFill/>
        </p:spPr>
        <p:txBody>
          <a:bodyPr wrap="square" rtlCol="0">
            <a:spAutoFit/>
          </a:bodyPr>
          <a:lstStyle/>
          <a:p>
            <a:r>
              <a:rPr lang="en-US" sz="1600" i="1" dirty="0"/>
              <a:t>“Now that we’ve seen how repetition helps in classical systems, let’s explore how similar ideas extend to </a:t>
            </a:r>
            <a:r>
              <a:rPr lang="en-US" sz="1600" i="1" dirty="0">
                <a:solidFill>
                  <a:srgbClr val="00B0F0"/>
                </a:solidFill>
              </a:rPr>
              <a:t>quantum error correction.</a:t>
            </a:r>
            <a:r>
              <a:rPr lang="en-US" sz="1600" i="1" dirty="0"/>
              <a:t>”</a:t>
            </a:r>
            <a:r>
              <a:rPr lang="en-US" sz="1600" i="1" dirty="0">
                <a:solidFill>
                  <a:srgbClr val="00B0F0"/>
                </a:solidFill>
              </a:rPr>
              <a:t> </a:t>
            </a:r>
          </a:p>
        </p:txBody>
      </p:sp>
      <p:pic>
        <p:nvPicPr>
          <p:cNvPr id="9" name="Picture 8" descr="Blue and black text with a black background&#10;&#10;AI-generated content may be incorrect.">
            <a:extLst>
              <a:ext uri="{FF2B5EF4-FFF2-40B4-BE49-F238E27FC236}">
                <a16:creationId xmlns:a16="http://schemas.microsoft.com/office/drawing/2014/main" id="{DED6D55B-77F5-029D-4833-10A6463DA0FA}"/>
              </a:ext>
            </a:extLst>
          </p:cNvPr>
          <p:cNvPicPr>
            <a:picLocks noChangeAspect="1"/>
          </p:cNvPicPr>
          <p:nvPr/>
        </p:nvPicPr>
        <p:blipFill>
          <a:blip r:embed="rId2"/>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104360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79A7E7-09D1-1C01-158C-92EFAD8B4F6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78D29E-B7C6-9372-1A06-C07DB8E14697}"/>
              </a:ext>
            </a:extLst>
          </p:cNvPr>
          <p:cNvSpPr>
            <a:spLocks noGrp="1"/>
          </p:cNvSpPr>
          <p:nvPr>
            <p:ph type="title"/>
          </p:nvPr>
        </p:nvSpPr>
        <p:spPr>
          <a:xfrm>
            <a:off x="1115568" y="548640"/>
            <a:ext cx="10168128" cy="1179576"/>
          </a:xfrm>
        </p:spPr>
        <p:txBody>
          <a:bodyPr>
            <a:normAutofit/>
          </a:bodyPr>
          <a:lstStyle/>
          <a:p>
            <a:r>
              <a:rPr lang="en-US" sz="4000" dirty="0"/>
              <a:t>Outline :</a:t>
            </a:r>
          </a:p>
        </p:txBody>
      </p:sp>
      <p:sp>
        <p:nvSpPr>
          <p:cNvPr id="18" name="Rectangle 1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603D941-0071-E3E9-C5B5-9688768E2862}"/>
              </a:ext>
            </a:extLst>
          </p:cNvPr>
          <p:cNvSpPr>
            <a:spLocks noGrp="1"/>
          </p:cNvSpPr>
          <p:nvPr>
            <p:ph idx="1"/>
          </p:nvPr>
        </p:nvSpPr>
        <p:spPr>
          <a:xfrm>
            <a:off x="1115568" y="2481943"/>
            <a:ext cx="10168128" cy="3695020"/>
          </a:xfrm>
        </p:spPr>
        <p:txBody>
          <a:bodyPr vert="horz" lIns="91440" tIns="45720" rIns="91440" bIns="45720" rtlCol="0" anchor="t">
            <a:normAutofit/>
          </a:bodyPr>
          <a:lstStyle/>
          <a:p>
            <a:pPr marL="0" indent="0">
              <a:buNone/>
            </a:pPr>
            <a:r>
              <a:rPr lang="en-US" sz="2200" dirty="0">
                <a:solidFill>
                  <a:schemeClr val="bg1">
                    <a:lumMod val="85000"/>
                  </a:schemeClr>
                </a:solidFill>
              </a:rPr>
              <a:t>Classical Error Correction</a:t>
            </a:r>
          </a:p>
          <a:p>
            <a:pPr marL="0" indent="0">
              <a:buNone/>
            </a:pPr>
            <a:r>
              <a:rPr lang="en-US" sz="2200" dirty="0"/>
              <a:t>Quantum Error Correction</a:t>
            </a:r>
          </a:p>
          <a:p>
            <a:pPr marL="0" indent="0">
              <a:buNone/>
            </a:pPr>
            <a:r>
              <a:rPr lang="en-US" sz="2200" dirty="0">
                <a:solidFill>
                  <a:schemeClr val="bg1">
                    <a:lumMod val="85000"/>
                  </a:schemeClr>
                </a:solidFill>
              </a:rPr>
              <a:t>Bit Flip Error</a:t>
            </a:r>
          </a:p>
          <a:p>
            <a:pPr marL="0" indent="0">
              <a:buNone/>
            </a:pPr>
            <a:r>
              <a:rPr lang="en-US" sz="2200" dirty="0">
                <a:solidFill>
                  <a:schemeClr val="bg1">
                    <a:lumMod val="85000"/>
                  </a:schemeClr>
                </a:solidFill>
              </a:rPr>
              <a:t>Phase Flip Error </a:t>
            </a:r>
          </a:p>
          <a:p>
            <a:pPr marL="0" indent="0">
              <a:buNone/>
            </a:pPr>
            <a:r>
              <a:rPr lang="en-US" sz="2200" dirty="0">
                <a:solidFill>
                  <a:schemeClr val="bg1">
                    <a:lumMod val="85000"/>
                  </a:schemeClr>
                </a:solidFill>
              </a:rPr>
              <a:t>Shor's Code  </a:t>
            </a:r>
          </a:p>
          <a:p>
            <a:pPr marL="0" indent="0">
              <a:buNone/>
            </a:pPr>
            <a:endParaRPr lang="en-US" sz="2200" dirty="0">
              <a:solidFill>
                <a:schemeClr val="bg1">
                  <a:lumMod val="85000"/>
                </a:schemeClr>
              </a:solidFill>
            </a:endParaRPr>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p:txBody>
      </p:sp>
      <p:sp>
        <p:nvSpPr>
          <p:cNvPr id="4" name="Date Placeholder 3">
            <a:extLst>
              <a:ext uri="{FF2B5EF4-FFF2-40B4-BE49-F238E27FC236}">
                <a16:creationId xmlns:a16="http://schemas.microsoft.com/office/drawing/2014/main" id="{32042A70-A669-2657-86E6-4DF741C2EC53}"/>
              </a:ext>
            </a:extLst>
          </p:cNvPr>
          <p:cNvSpPr>
            <a:spLocks noGrp="1"/>
          </p:cNvSpPr>
          <p:nvPr>
            <p:ph type="dt" sz="half" idx="10"/>
          </p:nvPr>
        </p:nvSpPr>
        <p:spPr>
          <a:xfrm>
            <a:off x="1115568" y="6356350"/>
            <a:ext cx="2743200" cy="365125"/>
          </a:xfrm>
        </p:spPr>
        <p:txBody>
          <a:bodyPr>
            <a:normAutofit/>
          </a:bodyPr>
          <a:lstStyle/>
          <a:p>
            <a:pPr>
              <a:spcAft>
                <a:spcPts val="600"/>
              </a:spcAft>
            </a:pPr>
            <a:fld id="{D0BC23F9-6708-4041-A8D9-0D8ED8937193}"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168A7651-B314-D888-49E9-08326B9FCB0F}"/>
              </a:ext>
            </a:extLst>
          </p:cNvPr>
          <p:cNvSpPr>
            <a:spLocks noGrp="1"/>
          </p:cNvSpPr>
          <p:nvPr>
            <p:ph type="sldNum" sz="quarter" idx="12"/>
          </p:nvPr>
        </p:nvSpPr>
        <p:spPr>
          <a:xfrm>
            <a:off x="8540496"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8</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E1FB05D5-3F90-670A-B2A9-3E2B39B08E55}"/>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2B2D10A0-9583-8FFF-6634-7E80C3680DA1}"/>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2015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9469B0E-EBBD-2989-4E53-FF0DA3041549}"/>
              </a:ext>
            </a:extLst>
          </p:cNvPr>
          <p:cNvSpPr>
            <a:spLocks noGrp="1"/>
          </p:cNvSpPr>
          <p:nvPr>
            <p:ph type="title"/>
          </p:nvPr>
        </p:nvSpPr>
        <p:spPr>
          <a:xfrm>
            <a:off x="838200" y="253397"/>
            <a:ext cx="10515600" cy="1273233"/>
          </a:xfrm>
        </p:spPr>
        <p:txBody>
          <a:bodyPr>
            <a:normAutofit/>
          </a:bodyPr>
          <a:lstStyle/>
          <a:p>
            <a:r>
              <a:rPr lang="en-US" sz="4000"/>
              <a:t>Quantum Error Correction</a:t>
            </a:r>
          </a:p>
        </p:txBody>
      </p:sp>
      <p:sp>
        <p:nvSpPr>
          <p:cNvPr id="25" name="Rectangle 24">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FCA17C3-CE16-C00D-4B1B-9034D123E687}"/>
              </a:ext>
            </a:extLst>
          </p:cNvPr>
          <p:cNvSpPr>
            <a:spLocks noGrp="1"/>
          </p:cNvSpPr>
          <p:nvPr>
            <p:ph idx="1"/>
          </p:nvPr>
        </p:nvSpPr>
        <p:spPr>
          <a:xfrm>
            <a:off x="838200" y="2478024"/>
            <a:ext cx="10515600" cy="3694176"/>
          </a:xfrm>
        </p:spPr>
        <p:txBody>
          <a:bodyPr vert="horz" lIns="91440" tIns="45720" rIns="91440" bIns="45720" rtlCol="0">
            <a:normAutofit/>
          </a:bodyPr>
          <a:lstStyle/>
          <a:p>
            <a:pPr>
              <a:lnSpc>
                <a:spcPct val="110000"/>
              </a:lnSpc>
            </a:pPr>
            <a:endParaRPr lang="en-US">
              <a:latin typeface="Calibri"/>
              <a:ea typeface="Calibri"/>
              <a:cs typeface="Calibri"/>
            </a:endParaRPr>
          </a:p>
          <a:p>
            <a:pPr>
              <a:lnSpc>
                <a:spcPct val="110000"/>
              </a:lnSpc>
            </a:pPr>
            <a:r>
              <a:rPr lang="en-US">
                <a:latin typeface="Calibri"/>
                <a:ea typeface="Calibri"/>
                <a:cs typeface="Calibri"/>
              </a:rPr>
              <a:t>Quantum error correction (QEC) is a crucial field in quantum computing aimed at protecting quantum information from errors caused by various types of noise, such as bit-flips and phase-flips. </a:t>
            </a:r>
            <a:endParaRPr lang="en-US"/>
          </a:p>
          <a:p>
            <a:pPr>
              <a:lnSpc>
                <a:spcPct val="110000"/>
              </a:lnSpc>
            </a:pPr>
            <a:r>
              <a:rPr lang="en-US">
                <a:latin typeface="Calibri"/>
                <a:ea typeface="Calibri"/>
                <a:cs typeface="Calibri"/>
              </a:rPr>
              <a:t>A bit-flip(X error) occurs when the state of a qubit changes from ∣0⟩ to ∣1⟩ or vice versa, which is analogous to flipping a classical bit.</a:t>
            </a:r>
          </a:p>
          <a:p>
            <a:pPr>
              <a:lnSpc>
                <a:spcPct val="110000"/>
              </a:lnSpc>
            </a:pPr>
            <a:r>
              <a:rPr lang="en-US">
                <a:latin typeface="Calibri"/>
                <a:ea typeface="Calibri"/>
                <a:cs typeface="Calibri"/>
              </a:rPr>
              <a:t>A phase-flip error (Z error) flips the relative phase between the qubit states |+⟩ and |-⟩, effectively flipping the sign of the |1⟩ component only in the computational basis i.e. the state ∣0⟩ remains unaffected by this error.</a:t>
            </a:r>
          </a:p>
          <a:p>
            <a:pPr>
              <a:lnSpc>
                <a:spcPct val="110000"/>
              </a:lnSpc>
            </a:pPr>
            <a:endParaRPr lang="en-US">
              <a:latin typeface="Calibri"/>
              <a:ea typeface="Calibri"/>
              <a:cs typeface="Calibri"/>
            </a:endParaRPr>
          </a:p>
          <a:p>
            <a:pPr>
              <a:lnSpc>
                <a:spcPct val="110000"/>
              </a:lnSpc>
            </a:pPr>
            <a:endParaRPr lang="en-US">
              <a:latin typeface="Calibri"/>
              <a:ea typeface="Calibri"/>
              <a:cs typeface="Calibri"/>
            </a:endParaRPr>
          </a:p>
          <a:p>
            <a:pPr>
              <a:lnSpc>
                <a:spcPct val="110000"/>
              </a:lnSpc>
            </a:pPr>
            <a:endParaRPr lang="en-US">
              <a:latin typeface="Neue Haas Grotesk Text Pro"/>
              <a:ea typeface="Calibri"/>
              <a:cs typeface="Calibri"/>
            </a:endParaRPr>
          </a:p>
        </p:txBody>
      </p:sp>
      <p:sp>
        <p:nvSpPr>
          <p:cNvPr id="4" name="Slide Number Placeholder 3">
            <a:extLst>
              <a:ext uri="{FF2B5EF4-FFF2-40B4-BE49-F238E27FC236}">
                <a16:creationId xmlns:a16="http://schemas.microsoft.com/office/drawing/2014/main" id="{0062A2FD-A1BF-F7C5-61E2-57E55B4906FB}"/>
              </a:ext>
            </a:extLst>
          </p:cNvPr>
          <p:cNvSpPr>
            <a:spLocks noGrp="1"/>
          </p:cNvSpPr>
          <p:nvPr>
            <p:ph type="sldNum" sz="quarter" idx="12"/>
          </p:nvPr>
        </p:nvSpPr>
        <p:spPr>
          <a:xfrm>
            <a:off x="8610600"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9</a:t>
            </a:fld>
            <a:endParaRPr lang="en-US">
              <a:solidFill>
                <a:schemeClr val="tx1">
                  <a:lumMod val="50000"/>
                  <a:lumOff val="50000"/>
                </a:schemeClr>
              </a:solidFill>
            </a:endParaRPr>
          </a:p>
        </p:txBody>
      </p:sp>
      <p:pic>
        <p:nvPicPr>
          <p:cNvPr id="6" name="Picture 5" descr="Blue and black text with a black background&#10;&#10;AI-generated content may be incorrect.">
            <a:extLst>
              <a:ext uri="{FF2B5EF4-FFF2-40B4-BE49-F238E27FC236}">
                <a16:creationId xmlns:a16="http://schemas.microsoft.com/office/drawing/2014/main" id="{C4F9A24A-787C-16B4-5DF4-AE88B47E94BA}"/>
              </a:ext>
            </a:extLst>
          </p:cNvPr>
          <p:cNvPicPr>
            <a:picLocks noChangeAspect="1"/>
          </p:cNvPicPr>
          <p:nvPr/>
        </p:nvPicPr>
        <p:blipFill>
          <a:blip r:embed="rId2"/>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2576100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B3F41C-E3ED-B51B-C4E3-CEBDF534ACB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3F9FECF-5E52-2F8B-C6A2-2B66B030A3AD}"/>
              </a:ext>
            </a:extLst>
          </p:cNvPr>
          <p:cNvSpPr>
            <a:spLocks noGrp="1"/>
          </p:cNvSpPr>
          <p:nvPr>
            <p:ph type="title"/>
          </p:nvPr>
        </p:nvSpPr>
        <p:spPr>
          <a:xfrm>
            <a:off x="1115568" y="548640"/>
            <a:ext cx="10168128" cy="1179576"/>
          </a:xfrm>
        </p:spPr>
        <p:txBody>
          <a:bodyPr>
            <a:normAutofit/>
          </a:bodyPr>
          <a:lstStyle/>
          <a:p>
            <a:r>
              <a:rPr lang="en-US" sz="4000" dirty="0"/>
              <a:t>Outline :</a:t>
            </a:r>
          </a:p>
        </p:txBody>
      </p:sp>
      <p:sp>
        <p:nvSpPr>
          <p:cNvPr id="18" name="Rectangle 1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2EF8C74-1013-DF95-B223-8882D8D50235}"/>
              </a:ext>
            </a:extLst>
          </p:cNvPr>
          <p:cNvSpPr>
            <a:spLocks noGrp="1"/>
          </p:cNvSpPr>
          <p:nvPr>
            <p:ph idx="1"/>
          </p:nvPr>
        </p:nvSpPr>
        <p:spPr>
          <a:xfrm>
            <a:off x="1115568" y="2481943"/>
            <a:ext cx="10168128" cy="3695020"/>
          </a:xfrm>
        </p:spPr>
        <p:txBody>
          <a:bodyPr vert="horz" lIns="91440" tIns="45720" rIns="91440" bIns="45720" rtlCol="0" anchor="t">
            <a:normAutofit/>
          </a:bodyPr>
          <a:lstStyle/>
          <a:p>
            <a:pPr marL="0" indent="0">
              <a:buNone/>
            </a:pPr>
            <a:r>
              <a:rPr lang="en-US" sz="2200" dirty="0">
                <a:solidFill>
                  <a:schemeClr val="bg1">
                    <a:lumMod val="85000"/>
                  </a:schemeClr>
                </a:solidFill>
              </a:rPr>
              <a:t>Classical Error Correction</a:t>
            </a:r>
          </a:p>
          <a:p>
            <a:pPr marL="0" indent="0">
              <a:buNone/>
            </a:pPr>
            <a:r>
              <a:rPr lang="en-US" sz="2200" dirty="0">
                <a:solidFill>
                  <a:schemeClr val="bg1">
                    <a:lumMod val="85000"/>
                  </a:schemeClr>
                </a:solidFill>
              </a:rPr>
              <a:t>Quantum Error Correction</a:t>
            </a:r>
          </a:p>
          <a:p>
            <a:pPr marL="342900" indent="-342900"/>
            <a:r>
              <a:rPr lang="en-US" sz="2200" dirty="0"/>
              <a:t>Bit Flip Error</a:t>
            </a:r>
          </a:p>
          <a:p>
            <a:pPr marL="342900" indent="-342900"/>
            <a:r>
              <a:rPr lang="en-US" sz="2200" dirty="0">
                <a:solidFill>
                  <a:schemeClr val="bg1">
                    <a:lumMod val="85000"/>
                  </a:schemeClr>
                </a:solidFill>
              </a:rPr>
              <a:t>Phase Flip Error </a:t>
            </a:r>
          </a:p>
          <a:p>
            <a:pPr marL="342900" indent="-342900"/>
            <a:r>
              <a:rPr lang="en-US" sz="2200" dirty="0">
                <a:solidFill>
                  <a:schemeClr val="bg1">
                    <a:lumMod val="85000"/>
                  </a:schemeClr>
                </a:solidFill>
              </a:rPr>
              <a:t>Shor's Code </a:t>
            </a:r>
            <a:r>
              <a:rPr lang="en-US" sz="2200" dirty="0"/>
              <a:t> </a:t>
            </a:r>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p:txBody>
      </p:sp>
      <p:sp>
        <p:nvSpPr>
          <p:cNvPr id="4" name="Date Placeholder 3">
            <a:extLst>
              <a:ext uri="{FF2B5EF4-FFF2-40B4-BE49-F238E27FC236}">
                <a16:creationId xmlns:a16="http://schemas.microsoft.com/office/drawing/2014/main" id="{5EA6442D-5B8C-14CF-C875-A480DD730016}"/>
              </a:ext>
            </a:extLst>
          </p:cNvPr>
          <p:cNvSpPr>
            <a:spLocks noGrp="1"/>
          </p:cNvSpPr>
          <p:nvPr>
            <p:ph type="dt" sz="half" idx="10"/>
          </p:nvPr>
        </p:nvSpPr>
        <p:spPr>
          <a:xfrm>
            <a:off x="1115568" y="6356350"/>
            <a:ext cx="2743200" cy="365125"/>
          </a:xfrm>
        </p:spPr>
        <p:txBody>
          <a:bodyPr>
            <a:normAutofit/>
          </a:bodyPr>
          <a:lstStyle/>
          <a:p>
            <a:pPr>
              <a:spcAft>
                <a:spcPts val="600"/>
              </a:spcAft>
            </a:pPr>
            <a:fld id="{D0BC23F9-6708-4041-A8D9-0D8ED8937193}"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80F2DA8B-C564-2D50-E292-342A3026E4B5}"/>
              </a:ext>
            </a:extLst>
          </p:cNvPr>
          <p:cNvSpPr>
            <a:spLocks noGrp="1"/>
          </p:cNvSpPr>
          <p:nvPr>
            <p:ph type="sldNum" sz="quarter" idx="12"/>
          </p:nvPr>
        </p:nvSpPr>
        <p:spPr>
          <a:xfrm>
            <a:off x="8540496"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10</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8FE03BE8-24A9-78B7-52BC-6E9DF00DF352}"/>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F4234095-6C0D-A84F-4B4A-0426A4DD2724}"/>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0181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BEF6EE-C735-A8F2-F4B0-8C6CAB9B79B2}"/>
              </a:ext>
            </a:extLst>
          </p:cNvPr>
          <p:cNvSpPr>
            <a:spLocks noGrp="1"/>
          </p:cNvSpPr>
          <p:nvPr>
            <p:ph type="title"/>
          </p:nvPr>
        </p:nvSpPr>
        <p:spPr>
          <a:xfrm>
            <a:off x="612648" y="1078992"/>
            <a:ext cx="6268770" cy="1536192"/>
          </a:xfrm>
        </p:spPr>
        <p:txBody>
          <a:bodyPr vert="horz" lIns="91440" tIns="45720" rIns="91440" bIns="45720" rtlCol="0" anchor="b">
            <a:normAutofit/>
          </a:bodyPr>
          <a:lstStyle/>
          <a:p>
            <a:r>
              <a:rPr lang="en-US" sz="5200" kern="1200">
                <a:solidFill>
                  <a:schemeClr val="tx1"/>
                </a:solidFill>
                <a:latin typeface="+mj-lt"/>
                <a:ea typeface="+mj-ea"/>
                <a:cs typeface="+mj-cs"/>
              </a:rPr>
              <a:t>Bit Flip</a:t>
            </a:r>
          </a:p>
        </p:txBody>
      </p:sp>
      <p:sp>
        <p:nvSpPr>
          <p:cNvPr id="15" name="Rectangle 14">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 Placeholder 3">
            <a:extLst>
              <a:ext uri="{FF2B5EF4-FFF2-40B4-BE49-F238E27FC236}">
                <a16:creationId xmlns:a16="http://schemas.microsoft.com/office/drawing/2014/main" id="{928E2053-9F8F-7B73-6131-36A1F466F772}"/>
              </a:ext>
            </a:extLst>
          </p:cNvPr>
          <p:cNvSpPr>
            <a:spLocks noGrp="1"/>
          </p:cNvSpPr>
          <p:nvPr>
            <p:ph type="body" sz="half" idx="2"/>
          </p:nvPr>
        </p:nvSpPr>
        <p:spPr>
          <a:xfrm>
            <a:off x="612648" y="3074755"/>
            <a:ext cx="6268770" cy="3433263"/>
          </a:xfrm>
        </p:spPr>
        <p:txBody>
          <a:bodyPr vert="horz" lIns="91440" tIns="45720" rIns="91440" bIns="45720" rtlCol="0">
            <a:normAutofit/>
          </a:bodyPr>
          <a:lstStyle/>
          <a:p>
            <a:pPr>
              <a:lnSpc>
                <a:spcPct val="90000"/>
              </a:lnSpc>
            </a:pPr>
            <a:r>
              <a:rPr lang="en-US" sz="1400" b="1" dirty="0"/>
              <a:t>Encoding:</a:t>
            </a:r>
            <a:endParaRPr lang="en-US" sz="1400" dirty="0"/>
          </a:p>
          <a:p>
            <a:pPr marL="342900" indent="-285750">
              <a:lnSpc>
                <a:spcPct val="90000"/>
              </a:lnSpc>
              <a:buChar char="•"/>
            </a:pPr>
            <a:r>
              <a:rPr lang="en-US" sz="1400" dirty="0"/>
              <a:t>Encoding is the process of transforming a single logical qubit into a larger entangled state across multiple physical qubits, in order to protect the information against errors. The goal is to add redundancy without losing the quantum nature of the state.</a:t>
            </a:r>
          </a:p>
          <a:p>
            <a:pPr marL="342900" indent="-285750">
              <a:lnSpc>
                <a:spcPct val="90000"/>
              </a:lnSpc>
              <a:buChar char="•"/>
            </a:pPr>
            <a:r>
              <a:rPr lang="en-US" sz="1400" dirty="0"/>
              <a:t>This process encodes a logical qubit’s information into three physical qubits using CNOT gates.</a:t>
            </a:r>
          </a:p>
          <a:p>
            <a:pPr>
              <a:lnSpc>
                <a:spcPct val="90000"/>
              </a:lnSpc>
            </a:pPr>
            <a:r>
              <a:rPr lang="en-US" sz="1400" dirty="0"/>
              <a:t>                 α|0⟩ + β|1⟩ → α∣000⟩ + β∣111⟩</a:t>
            </a:r>
          </a:p>
          <a:p>
            <a:pPr>
              <a:lnSpc>
                <a:spcPct val="90000"/>
              </a:lnSpc>
            </a:pPr>
            <a:endParaRPr lang="en-US" sz="1400" dirty="0"/>
          </a:p>
          <a:p>
            <a:pPr>
              <a:lnSpc>
                <a:spcPct val="90000"/>
              </a:lnSpc>
            </a:pPr>
            <a:endParaRPr lang="en-US" sz="1400" dirty="0"/>
          </a:p>
          <a:p>
            <a:pPr marL="342900" indent="-285750">
              <a:lnSpc>
                <a:spcPct val="90000"/>
              </a:lnSpc>
              <a:buChar char="•"/>
            </a:pPr>
            <a:r>
              <a:rPr lang="en-US" sz="1400" dirty="0"/>
              <a:t>It ensures that if a bit error occurs on any one of the qubits, the majority value among the three still reflects the correct logical state.</a:t>
            </a:r>
          </a:p>
          <a:p>
            <a:pPr marL="57150">
              <a:lnSpc>
                <a:spcPct val="90000"/>
              </a:lnSpc>
            </a:pPr>
            <a:endParaRPr lang="en-US" sz="1400" dirty="0"/>
          </a:p>
        </p:txBody>
      </p:sp>
      <p:pic>
        <p:nvPicPr>
          <p:cNvPr id="8" name="Content Placeholder 7" descr="A diagram of a square with lines and dots&#10;&#10;AI-generated content may be incorrect.">
            <a:extLst>
              <a:ext uri="{FF2B5EF4-FFF2-40B4-BE49-F238E27FC236}">
                <a16:creationId xmlns:a16="http://schemas.microsoft.com/office/drawing/2014/main" id="{8DA34144-8C80-192C-0284-A8DD5B69F279}"/>
              </a:ext>
            </a:extLst>
          </p:cNvPr>
          <p:cNvPicPr>
            <a:picLocks noGrp="1" noChangeAspect="1"/>
          </p:cNvPicPr>
          <p:nvPr>
            <p:ph idx="1"/>
          </p:nvPr>
        </p:nvPicPr>
        <p:blipFill>
          <a:blip r:embed="rId2"/>
          <a:srcRect r="1575" b="1786"/>
          <a:stretch>
            <a:fillRect/>
          </a:stretch>
        </p:blipFill>
        <p:spPr>
          <a:xfrm>
            <a:off x="7454932" y="2340210"/>
            <a:ext cx="4081969" cy="3693805"/>
          </a:xfrm>
          <a:prstGeom prst="rect">
            <a:avLst/>
          </a:prstGeom>
        </p:spPr>
      </p:pic>
      <p:sp>
        <p:nvSpPr>
          <p:cNvPr id="5" name="Date Placeholder 4">
            <a:extLst>
              <a:ext uri="{FF2B5EF4-FFF2-40B4-BE49-F238E27FC236}">
                <a16:creationId xmlns:a16="http://schemas.microsoft.com/office/drawing/2014/main" id="{BB6BF612-1E72-3478-4491-8B801DFC46A2}"/>
              </a:ext>
            </a:extLst>
          </p:cNvPr>
          <p:cNvSpPr>
            <a:spLocks noGrp="1"/>
          </p:cNvSpPr>
          <p:nvPr>
            <p:ph type="dt" sz="half" idx="10"/>
          </p:nvPr>
        </p:nvSpPr>
        <p:spPr>
          <a:xfrm>
            <a:off x="612648" y="6356350"/>
            <a:ext cx="1704386" cy="365125"/>
          </a:xfrm>
        </p:spPr>
        <p:txBody>
          <a:bodyPr vert="horz" lIns="91440" tIns="45720" rIns="91440" bIns="45720" rtlCol="0" anchor="ctr">
            <a:normAutofit/>
          </a:bodyPr>
          <a:lstStyle/>
          <a:p>
            <a:pPr>
              <a:spcAft>
                <a:spcPts val="600"/>
              </a:spcAft>
            </a:pPr>
            <a:fld id="{2493DB19-84C1-45ED-9C5B-86D889BB5E38}" type="datetime1">
              <a:rPr lang="en-US" sz="1200">
                <a:solidFill>
                  <a:schemeClr val="tx1">
                    <a:lumMod val="50000"/>
                    <a:lumOff val="50000"/>
                  </a:schemeClr>
                </a:solidFill>
              </a:rPr>
              <a:pPr>
                <a:spcAft>
                  <a:spcPts val="600"/>
                </a:spcAft>
              </a:pPr>
              <a:t>9/24/2025</a:t>
            </a:fld>
            <a:endParaRPr lang="en-US" sz="1200">
              <a:solidFill>
                <a:schemeClr val="tx1">
                  <a:lumMod val="50000"/>
                  <a:lumOff val="50000"/>
                </a:schemeClr>
              </a:solidFill>
            </a:endParaRPr>
          </a:p>
        </p:txBody>
      </p:sp>
      <p:sp>
        <p:nvSpPr>
          <p:cNvPr id="7" name="Slide Number Placeholder 6">
            <a:extLst>
              <a:ext uri="{FF2B5EF4-FFF2-40B4-BE49-F238E27FC236}">
                <a16:creationId xmlns:a16="http://schemas.microsoft.com/office/drawing/2014/main" id="{0A974C6E-5327-61CB-7745-8341342DF03E}"/>
              </a:ext>
            </a:extLst>
          </p:cNvPr>
          <p:cNvSpPr>
            <a:spLocks noGrp="1"/>
          </p:cNvSpPr>
          <p:nvPr>
            <p:ph type="sldNum" sz="quarter" idx="12"/>
          </p:nvPr>
        </p:nvSpPr>
        <p:spPr>
          <a:xfrm>
            <a:off x="8726424" y="6356350"/>
            <a:ext cx="2852928" cy="365125"/>
          </a:xfrm>
        </p:spPr>
        <p:txBody>
          <a:bodyPr vert="horz" lIns="91440" tIns="45720" rIns="91440" bIns="45720" rtlCol="0" anchor="ctr">
            <a:normAutofit/>
          </a:bodyPr>
          <a:lstStyle/>
          <a:p>
            <a:pPr>
              <a:spcAft>
                <a:spcPts val="600"/>
              </a:spcAft>
            </a:pPr>
            <a:fld id="{CC057153-B650-4DEB-B370-79DDCFDCE934}" type="slidenum">
              <a:rPr lang="en-US" sz="1200">
                <a:solidFill>
                  <a:schemeClr val="tx1">
                    <a:lumMod val="50000"/>
                    <a:lumOff val="50000"/>
                  </a:schemeClr>
                </a:solidFill>
              </a:rPr>
              <a:pPr>
                <a:spcAft>
                  <a:spcPts val="600"/>
                </a:spcAft>
              </a:pPr>
              <a:t>11</a:t>
            </a:fld>
            <a:endParaRPr lang="en-US" sz="1200">
              <a:solidFill>
                <a:schemeClr val="tx1">
                  <a:lumMod val="50000"/>
                  <a:lumOff val="50000"/>
                </a:schemeClr>
              </a:solidFill>
            </a:endParaRPr>
          </a:p>
        </p:txBody>
      </p:sp>
      <p:pic>
        <p:nvPicPr>
          <p:cNvPr id="6" name="Picture 5" descr="Blue and black text with a black background&#10;&#10;AI-generated content may be incorrect.">
            <a:extLst>
              <a:ext uri="{FF2B5EF4-FFF2-40B4-BE49-F238E27FC236}">
                <a16:creationId xmlns:a16="http://schemas.microsoft.com/office/drawing/2014/main" id="{D7C26F8B-12B0-A794-FA93-5A657D8C444F}"/>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9" name="Rectangle 8">
            <a:extLst>
              <a:ext uri="{FF2B5EF4-FFF2-40B4-BE49-F238E27FC236}">
                <a16:creationId xmlns:a16="http://schemas.microsoft.com/office/drawing/2014/main" id="{9FCEA600-8C8E-84E5-426C-2DF48D5577F2}"/>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C4779B6-9798-5E98-F398-FFB62EE5997D}"/>
              </a:ext>
            </a:extLst>
          </p:cNvPr>
          <p:cNvPicPr>
            <a:picLocks noChangeAspect="1"/>
          </p:cNvPicPr>
          <p:nvPr/>
        </p:nvPicPr>
        <p:blipFill>
          <a:blip r:embed="rId4"/>
          <a:stretch>
            <a:fillRect/>
          </a:stretch>
        </p:blipFill>
        <p:spPr>
          <a:xfrm>
            <a:off x="2669983" y="5101362"/>
            <a:ext cx="476630" cy="556601"/>
          </a:xfrm>
          <a:prstGeom prst="rect">
            <a:avLst/>
          </a:prstGeom>
        </p:spPr>
      </p:pic>
      <p:pic>
        <p:nvPicPr>
          <p:cNvPr id="12" name="Picture 11">
            <a:extLst>
              <a:ext uri="{FF2B5EF4-FFF2-40B4-BE49-F238E27FC236}">
                <a16:creationId xmlns:a16="http://schemas.microsoft.com/office/drawing/2014/main" id="{20E7A2FA-E404-68BB-C3EE-5EE383E2FA28}"/>
              </a:ext>
            </a:extLst>
          </p:cNvPr>
          <p:cNvPicPr>
            <a:picLocks noChangeAspect="1"/>
          </p:cNvPicPr>
          <p:nvPr/>
        </p:nvPicPr>
        <p:blipFill>
          <a:blip r:embed="rId5"/>
          <a:stretch>
            <a:fillRect/>
          </a:stretch>
        </p:blipFill>
        <p:spPr>
          <a:xfrm>
            <a:off x="3401984" y="5101361"/>
            <a:ext cx="480701" cy="556601"/>
          </a:xfrm>
          <a:prstGeom prst="rect">
            <a:avLst/>
          </a:prstGeom>
        </p:spPr>
      </p:pic>
    </p:spTree>
    <p:extLst>
      <p:ext uri="{BB962C8B-B14F-4D97-AF65-F5344CB8AC3E}">
        <p14:creationId xmlns:p14="http://schemas.microsoft.com/office/powerpoint/2010/main" val="426229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DFC9B5-30AA-A736-4FA3-9067714FCCEC}"/>
              </a:ext>
            </a:extLst>
          </p:cNvPr>
          <p:cNvSpPr>
            <a:spLocks noGrp="1"/>
          </p:cNvSpPr>
          <p:nvPr>
            <p:ph type="title"/>
          </p:nvPr>
        </p:nvSpPr>
        <p:spPr>
          <a:xfrm>
            <a:off x="838200" y="253397"/>
            <a:ext cx="10515600" cy="1273233"/>
          </a:xfrm>
        </p:spPr>
        <p:txBody>
          <a:bodyPr>
            <a:normAutofit/>
          </a:bodyPr>
          <a:lstStyle/>
          <a:p>
            <a:r>
              <a:rPr lang="en-US" sz="4000"/>
              <a:t>Bit Flip</a:t>
            </a:r>
          </a:p>
        </p:txBody>
      </p:sp>
      <p:sp>
        <p:nvSpPr>
          <p:cNvPr id="18" name="Rectangle 17">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7F7E8C9-2E89-072C-2B31-8CEEA59C2F91}"/>
              </a:ext>
            </a:extLst>
          </p:cNvPr>
          <p:cNvSpPr>
            <a:spLocks noGrp="1"/>
          </p:cNvSpPr>
          <p:nvPr>
            <p:ph idx="1"/>
          </p:nvPr>
        </p:nvSpPr>
        <p:spPr>
          <a:xfrm>
            <a:off x="838200" y="2478024"/>
            <a:ext cx="10515600" cy="3694176"/>
          </a:xfrm>
        </p:spPr>
        <p:txBody>
          <a:bodyPr vert="horz" lIns="91440" tIns="45720" rIns="91440" bIns="45720" rtlCol="0" anchor="t">
            <a:normAutofit/>
          </a:bodyPr>
          <a:lstStyle/>
          <a:p>
            <a:r>
              <a:rPr lang="en-US" sz="2200" b="1" dirty="0">
                <a:latin typeface="Calibri"/>
                <a:ea typeface="Calibri"/>
                <a:cs typeface="Calibri"/>
              </a:rPr>
              <a:t>Error Simulation : </a:t>
            </a:r>
            <a:r>
              <a:rPr lang="en-US" sz="2200" dirty="0">
                <a:latin typeface="Calibri"/>
                <a:ea typeface="Calibri"/>
                <a:cs typeface="Calibri"/>
              </a:rPr>
              <a:t>After encoding the logical qubit into three physical qubits, we simulate the presence of an error to model the effects of noise in a quantum system. To simulate an error, a bit-flip (X gate) is manually applied to one of the 3 qubits, mimicking the effect of noise in a real system.</a:t>
            </a:r>
            <a:endParaRPr lang="en-US" sz="2200" dirty="0"/>
          </a:p>
          <a:p>
            <a:r>
              <a:rPr lang="en-US" sz="2200" dirty="0">
                <a:latin typeface="Calibri"/>
                <a:ea typeface="Calibri"/>
                <a:cs typeface="Calibri"/>
              </a:rPr>
              <a:t>An example is causing a </a:t>
            </a:r>
            <a:r>
              <a:rPr lang="en-US" sz="2200" b="1" dirty="0">
                <a:latin typeface="Calibri"/>
                <a:ea typeface="Calibri"/>
                <a:cs typeface="Calibri"/>
              </a:rPr>
              <a:t>X error on the first qubit</a:t>
            </a:r>
            <a:r>
              <a:rPr lang="en-US" sz="2200" dirty="0">
                <a:latin typeface="Calibri"/>
                <a:ea typeface="Calibri"/>
                <a:cs typeface="Calibri"/>
              </a:rPr>
              <a:t> leads the state of the logical qubit as: </a:t>
            </a:r>
            <a:endParaRPr lang="en-US" sz="2200" dirty="0"/>
          </a:p>
          <a:p>
            <a:pPr marL="0" indent="0">
              <a:buNone/>
            </a:pPr>
            <a:r>
              <a:rPr lang="en-US" sz="2200" dirty="0">
                <a:latin typeface="Calibri"/>
                <a:ea typeface="Calibri"/>
                <a:cs typeface="Calibri"/>
              </a:rPr>
              <a:t>                                              X</a:t>
            </a:r>
            <a:r>
              <a:rPr lang="en-US" sz="2200" baseline="-25000" dirty="0">
                <a:latin typeface="Calibri"/>
                <a:ea typeface="Calibri"/>
                <a:cs typeface="Calibri"/>
              </a:rPr>
              <a:t>0</a:t>
            </a:r>
            <a:r>
              <a:rPr lang="en-US" sz="2200" dirty="0">
                <a:latin typeface="Cambria Math"/>
                <a:ea typeface="Cambria Math"/>
              </a:rPr>
              <a:t>∣</a:t>
            </a:r>
            <a:r>
              <a:rPr lang="en-US" sz="2200" dirty="0">
                <a:latin typeface="Calibri"/>
                <a:ea typeface="Calibri"/>
                <a:cs typeface="Calibri"/>
              </a:rPr>
              <a:t>ψ</a:t>
            </a:r>
            <a:r>
              <a:rPr lang="en-US" sz="2200" baseline="-25000" dirty="0">
                <a:latin typeface="Calibri"/>
                <a:ea typeface="Calibri"/>
                <a:cs typeface="Calibri"/>
              </a:rPr>
              <a:t>L</a:t>
            </a:r>
            <a:r>
              <a:rPr lang="en-US" sz="2200" dirty="0">
                <a:latin typeface="Cambria Math"/>
                <a:ea typeface="Cambria Math"/>
              </a:rPr>
              <a:t>⟩</a:t>
            </a:r>
            <a:r>
              <a:rPr lang="en-US" sz="2200" dirty="0">
                <a:latin typeface="Calibri"/>
                <a:ea typeface="Calibri"/>
                <a:cs typeface="Calibri"/>
              </a:rPr>
              <a:t>= α|</a:t>
            </a:r>
            <a:r>
              <a:rPr lang="en-US" sz="2200" dirty="0">
                <a:solidFill>
                  <a:srgbClr val="FF0000"/>
                </a:solidFill>
                <a:latin typeface="Calibri"/>
                <a:ea typeface="Calibri"/>
                <a:cs typeface="Calibri"/>
              </a:rPr>
              <a:t>1</a:t>
            </a:r>
            <a:r>
              <a:rPr lang="en-US" sz="2200" dirty="0">
                <a:latin typeface="Calibri"/>
                <a:ea typeface="Calibri"/>
                <a:cs typeface="Calibri"/>
              </a:rPr>
              <a:t>00</a:t>
            </a:r>
            <a:r>
              <a:rPr lang="en-US" sz="2200" dirty="0">
                <a:latin typeface="Cambria Math"/>
                <a:ea typeface="Cambria Math"/>
              </a:rPr>
              <a:t>⟩</a:t>
            </a:r>
            <a:r>
              <a:rPr lang="en-US" sz="2200" dirty="0">
                <a:latin typeface="Calibri"/>
                <a:ea typeface="Calibri"/>
                <a:cs typeface="Calibri"/>
              </a:rPr>
              <a:t> + β|</a:t>
            </a:r>
            <a:r>
              <a:rPr lang="en-US" sz="2200" dirty="0">
                <a:solidFill>
                  <a:srgbClr val="FF0000"/>
                </a:solidFill>
                <a:latin typeface="Calibri"/>
                <a:ea typeface="Calibri"/>
                <a:cs typeface="Calibri"/>
              </a:rPr>
              <a:t>0</a:t>
            </a:r>
            <a:r>
              <a:rPr lang="en-US" sz="2200" dirty="0">
                <a:latin typeface="Calibri"/>
                <a:ea typeface="Calibri"/>
                <a:cs typeface="Calibri"/>
              </a:rPr>
              <a:t>11</a:t>
            </a:r>
            <a:r>
              <a:rPr lang="en-US" sz="2200" dirty="0">
                <a:latin typeface="Cambria Math"/>
                <a:ea typeface="Cambria Math"/>
              </a:rPr>
              <a:t>⟩</a:t>
            </a:r>
            <a:endParaRPr lang="en-US" sz="2200" dirty="0"/>
          </a:p>
          <a:p>
            <a:pPr marL="0" indent="0">
              <a:buNone/>
            </a:pPr>
            <a:endParaRPr lang="en-US" sz="2200">
              <a:latin typeface="Calibri"/>
              <a:ea typeface="Calibri"/>
              <a:cs typeface="Calibri"/>
            </a:endParaRPr>
          </a:p>
          <a:p>
            <a:endParaRPr lang="en-US" sz="2200"/>
          </a:p>
        </p:txBody>
      </p:sp>
      <p:sp>
        <p:nvSpPr>
          <p:cNvPr id="4" name="Date Placeholder 3">
            <a:extLst>
              <a:ext uri="{FF2B5EF4-FFF2-40B4-BE49-F238E27FC236}">
                <a16:creationId xmlns:a16="http://schemas.microsoft.com/office/drawing/2014/main" id="{A9832676-9EB8-3E95-20B6-2A8E6AE945A5}"/>
              </a:ext>
            </a:extLst>
          </p:cNvPr>
          <p:cNvSpPr>
            <a:spLocks noGrp="1"/>
          </p:cNvSpPr>
          <p:nvPr>
            <p:ph type="dt" sz="half" idx="10"/>
          </p:nvPr>
        </p:nvSpPr>
        <p:spPr>
          <a:xfrm>
            <a:off x="838200" y="6356350"/>
            <a:ext cx="2743200" cy="365125"/>
          </a:xfrm>
        </p:spPr>
        <p:txBody>
          <a:bodyPr>
            <a:normAutofit/>
          </a:bodyPr>
          <a:lstStyle/>
          <a:p>
            <a:pPr>
              <a:spcAft>
                <a:spcPts val="600"/>
              </a:spcAft>
            </a:pPr>
            <a:fld id="{F22006CF-6B36-46D4-85A0-262EF8150C5A}"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6" name="Slide Number Placeholder 5">
            <a:extLst>
              <a:ext uri="{FF2B5EF4-FFF2-40B4-BE49-F238E27FC236}">
                <a16:creationId xmlns:a16="http://schemas.microsoft.com/office/drawing/2014/main" id="{C8C10DB3-E559-C773-5321-903F0B1C8158}"/>
              </a:ext>
            </a:extLst>
          </p:cNvPr>
          <p:cNvSpPr>
            <a:spLocks noGrp="1"/>
          </p:cNvSpPr>
          <p:nvPr>
            <p:ph type="sldNum" sz="quarter" idx="12"/>
          </p:nvPr>
        </p:nvSpPr>
        <p:spPr>
          <a:xfrm>
            <a:off x="8610600"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88B82727-4C2E-8D97-15CD-23CA59B0E271}"/>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C399102A-F573-5D22-B2B8-407B38A5E67D}"/>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3412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03FB4D-C0AA-06D9-8FB0-0C0F142A90F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3911E6-3898-3DC7-1E01-E2932D302B16}"/>
              </a:ext>
            </a:extLst>
          </p:cNvPr>
          <p:cNvSpPr>
            <a:spLocks noGrp="1"/>
          </p:cNvSpPr>
          <p:nvPr>
            <p:ph type="title"/>
          </p:nvPr>
        </p:nvSpPr>
        <p:spPr>
          <a:xfrm>
            <a:off x="411480" y="991443"/>
            <a:ext cx="4443154" cy="1087819"/>
          </a:xfrm>
        </p:spPr>
        <p:txBody>
          <a:bodyPr vert="horz" lIns="91440" tIns="45720" rIns="91440" bIns="45720" rtlCol="0" anchor="b">
            <a:normAutofit/>
          </a:bodyPr>
          <a:lstStyle/>
          <a:p>
            <a:r>
              <a:rPr lang="en-US" sz="3400" kern="1200">
                <a:solidFill>
                  <a:schemeClr val="tx1"/>
                </a:solidFill>
                <a:latin typeface="+mj-lt"/>
                <a:ea typeface="+mj-ea"/>
                <a:cs typeface="+mj-cs"/>
              </a:rPr>
              <a:t>Bit Flip</a:t>
            </a:r>
          </a:p>
        </p:txBody>
      </p:sp>
      <p:sp>
        <p:nvSpPr>
          <p:cNvPr id="13" name="Rectangle 1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 Placeholder 3">
            <a:extLst>
              <a:ext uri="{FF2B5EF4-FFF2-40B4-BE49-F238E27FC236}">
                <a16:creationId xmlns:a16="http://schemas.microsoft.com/office/drawing/2014/main" id="{531A65DC-5E25-1D79-6666-C7C3E0CA223A}"/>
              </a:ext>
            </a:extLst>
          </p:cNvPr>
          <p:cNvSpPr>
            <a:spLocks noGrp="1"/>
          </p:cNvSpPr>
          <p:nvPr>
            <p:ph type="body" sz="half" idx="2"/>
          </p:nvPr>
        </p:nvSpPr>
        <p:spPr>
          <a:xfrm>
            <a:off x="411480" y="2430095"/>
            <a:ext cx="5168868" cy="4279058"/>
          </a:xfrm>
        </p:spPr>
        <p:txBody>
          <a:bodyPr vert="horz" lIns="91440" tIns="45720" rIns="91440" bIns="45720" rtlCol="0">
            <a:normAutofit/>
          </a:bodyPr>
          <a:lstStyle/>
          <a:p>
            <a:pPr>
              <a:lnSpc>
                <a:spcPct val="90000"/>
              </a:lnSpc>
            </a:pPr>
            <a:r>
              <a:rPr lang="en-US" sz="1200" b="1" dirty="0"/>
              <a:t>Error detection(Syndrome measurement):</a:t>
            </a:r>
            <a:endParaRPr lang="en-US" sz="1200" dirty="0"/>
          </a:p>
          <a:p>
            <a:pPr marL="228600" indent="-171450">
              <a:lnSpc>
                <a:spcPct val="90000"/>
              </a:lnSpc>
              <a:buChar char="•"/>
            </a:pPr>
            <a:r>
              <a:rPr lang="en-US" sz="1200" dirty="0"/>
              <a:t>After an error is introduced in the encoded quantum state, the next step is to detect and identify which qubit, if any, has been affected. This is done through a process called syndrome measurement, which compares qubits using ancillary measurements without directly measuring the data qubits themselves. This allows the error to be located without collapsing the encoded quantum state.</a:t>
            </a:r>
          </a:p>
          <a:p>
            <a:pPr marL="228600" indent="-171450">
              <a:lnSpc>
                <a:spcPct val="90000"/>
              </a:lnSpc>
              <a:buChar char="•"/>
            </a:pPr>
            <a:r>
              <a:rPr lang="en-US" sz="1200" dirty="0"/>
              <a:t>The syndrome values indicate which of the three data qubits (if any) has flipped:</a:t>
            </a:r>
          </a:p>
          <a:p>
            <a:pPr>
              <a:lnSpc>
                <a:spcPct val="90000"/>
              </a:lnSpc>
            </a:pPr>
            <a:r>
              <a:rPr lang="en-US" sz="1200" b="1" dirty="0"/>
              <a:t>        00</a:t>
            </a:r>
            <a:r>
              <a:rPr lang="en-US" sz="1200" dirty="0"/>
              <a:t> → No error</a:t>
            </a:r>
          </a:p>
          <a:p>
            <a:pPr>
              <a:lnSpc>
                <a:spcPct val="90000"/>
              </a:lnSpc>
            </a:pPr>
            <a:r>
              <a:rPr lang="en-US" sz="1200" b="1" dirty="0"/>
              <a:t>        01</a:t>
            </a:r>
            <a:r>
              <a:rPr lang="en-US" sz="1200" dirty="0"/>
              <a:t> → Error on qubit 3</a:t>
            </a:r>
          </a:p>
          <a:p>
            <a:pPr>
              <a:lnSpc>
                <a:spcPct val="90000"/>
              </a:lnSpc>
            </a:pPr>
            <a:r>
              <a:rPr lang="en-US" sz="1200" b="1" dirty="0"/>
              <a:t>        10</a:t>
            </a:r>
            <a:r>
              <a:rPr lang="en-US" sz="1200" dirty="0"/>
              <a:t> → Error on qubit 1</a:t>
            </a:r>
          </a:p>
          <a:p>
            <a:pPr>
              <a:lnSpc>
                <a:spcPct val="90000"/>
              </a:lnSpc>
            </a:pPr>
            <a:r>
              <a:rPr lang="en-US" sz="1200" b="1" dirty="0"/>
              <a:t>        11</a:t>
            </a:r>
            <a:r>
              <a:rPr lang="en-US" sz="1200" dirty="0"/>
              <a:t> → Error on qubit 2</a:t>
            </a:r>
          </a:p>
          <a:p>
            <a:pPr marL="228600" indent="-171450">
              <a:lnSpc>
                <a:spcPct val="90000"/>
              </a:lnSpc>
              <a:buChar char="•"/>
            </a:pPr>
            <a:r>
              <a:rPr lang="en-US" sz="1200" dirty="0"/>
              <a:t>This process lets us detect the position of a single bit-flip error without collapsing the encoded quantum information, so that a targeted correction (applying an X gate) can restore the correct logical state.</a:t>
            </a:r>
          </a:p>
          <a:p>
            <a:pPr>
              <a:lnSpc>
                <a:spcPct val="90000"/>
              </a:lnSpc>
            </a:pPr>
            <a:endParaRPr lang="en-US" sz="1200" b="1" dirty="0"/>
          </a:p>
        </p:txBody>
      </p:sp>
      <p:pic>
        <p:nvPicPr>
          <p:cNvPr id="10" name="Content Placeholder 9" descr="A diagram of a recovery&#10;&#10;AI-generated content may be incorrect.">
            <a:extLst>
              <a:ext uri="{FF2B5EF4-FFF2-40B4-BE49-F238E27FC236}">
                <a16:creationId xmlns:a16="http://schemas.microsoft.com/office/drawing/2014/main" id="{F890D5E3-7DDF-9795-B219-3CC64077B189}"/>
              </a:ext>
            </a:extLst>
          </p:cNvPr>
          <p:cNvPicPr>
            <a:picLocks noGrp="1" noChangeAspect="1"/>
          </p:cNvPicPr>
          <p:nvPr>
            <p:ph idx="1"/>
          </p:nvPr>
        </p:nvPicPr>
        <p:blipFill>
          <a:blip r:embed="rId2"/>
          <a:stretch>
            <a:fillRect/>
          </a:stretch>
        </p:blipFill>
        <p:spPr>
          <a:xfrm>
            <a:off x="6487575" y="2302083"/>
            <a:ext cx="4602666" cy="3986640"/>
          </a:xfrm>
          <a:prstGeom prst="rect">
            <a:avLst/>
          </a:prstGeom>
        </p:spPr>
      </p:pic>
      <p:sp>
        <p:nvSpPr>
          <p:cNvPr id="5" name="Date Placeholder 4">
            <a:extLst>
              <a:ext uri="{FF2B5EF4-FFF2-40B4-BE49-F238E27FC236}">
                <a16:creationId xmlns:a16="http://schemas.microsoft.com/office/drawing/2014/main" id="{9EFE3BA4-81AE-D37B-8A35-CBFFCE86C70A}"/>
              </a:ext>
            </a:extLst>
          </p:cNvPr>
          <p:cNvSpPr>
            <a:spLocks noGrp="1"/>
          </p:cNvSpPr>
          <p:nvPr>
            <p:ph type="dt" sz="half" idx="10"/>
          </p:nvPr>
        </p:nvSpPr>
        <p:spPr>
          <a:xfrm>
            <a:off x="411479" y="6356350"/>
            <a:ext cx="1417321" cy="365125"/>
          </a:xfrm>
        </p:spPr>
        <p:txBody>
          <a:bodyPr vert="horz" lIns="91440" tIns="45720" rIns="91440" bIns="45720" rtlCol="0" anchor="ctr">
            <a:normAutofit/>
          </a:bodyPr>
          <a:lstStyle/>
          <a:p>
            <a:pPr>
              <a:spcAft>
                <a:spcPts val="600"/>
              </a:spcAft>
            </a:pPr>
            <a:fld id="{2493DB19-84C1-45ED-9C5B-86D889BB5E38}" type="datetime1">
              <a:rPr lang="en-US" sz="1200">
                <a:solidFill>
                  <a:schemeClr val="tx1">
                    <a:lumMod val="50000"/>
                    <a:lumOff val="50000"/>
                  </a:schemeClr>
                </a:solidFill>
              </a:rPr>
              <a:pPr>
                <a:spcAft>
                  <a:spcPts val="600"/>
                </a:spcAft>
              </a:pPr>
              <a:t>9/24/2025</a:t>
            </a:fld>
            <a:endParaRPr lang="en-US" sz="1200">
              <a:solidFill>
                <a:schemeClr val="tx1">
                  <a:lumMod val="50000"/>
                  <a:lumOff val="50000"/>
                </a:schemeClr>
              </a:solidFill>
            </a:endParaRPr>
          </a:p>
        </p:txBody>
      </p:sp>
      <p:sp>
        <p:nvSpPr>
          <p:cNvPr id="7" name="Slide Number Placeholder 6">
            <a:extLst>
              <a:ext uri="{FF2B5EF4-FFF2-40B4-BE49-F238E27FC236}">
                <a16:creationId xmlns:a16="http://schemas.microsoft.com/office/drawing/2014/main" id="{2FBB642F-AE2E-2F6F-4ED8-5B0B7575ED31}"/>
              </a:ext>
            </a:extLst>
          </p:cNvPr>
          <p:cNvSpPr>
            <a:spLocks noGrp="1"/>
          </p:cNvSpPr>
          <p:nvPr>
            <p:ph type="sldNum" sz="quarter" idx="12"/>
          </p:nvPr>
        </p:nvSpPr>
        <p:spPr>
          <a:xfrm>
            <a:off x="9037321" y="6356350"/>
            <a:ext cx="2743200" cy="365125"/>
          </a:xfrm>
        </p:spPr>
        <p:txBody>
          <a:bodyPr vert="horz" lIns="91440" tIns="45720" rIns="91440" bIns="45720" rtlCol="0" anchor="ctr">
            <a:normAutofit/>
          </a:bodyPr>
          <a:lstStyle/>
          <a:p>
            <a:pPr>
              <a:spcAft>
                <a:spcPts val="600"/>
              </a:spcAft>
            </a:pPr>
            <a:fld id="{CC057153-B650-4DEB-B370-79DDCFDCE934}" type="slidenum">
              <a:rPr lang="en-US" sz="1200">
                <a:solidFill>
                  <a:schemeClr val="tx1">
                    <a:lumMod val="50000"/>
                    <a:lumOff val="50000"/>
                  </a:schemeClr>
                </a:solidFill>
              </a:rPr>
              <a:pPr>
                <a:spcAft>
                  <a:spcPts val="600"/>
                </a:spcAft>
              </a:pPr>
              <a:t>13</a:t>
            </a:fld>
            <a:endParaRPr lang="en-US" sz="1200">
              <a:solidFill>
                <a:schemeClr val="tx1">
                  <a:lumMod val="50000"/>
                  <a:lumOff val="50000"/>
                </a:schemeClr>
              </a:solidFill>
            </a:endParaRPr>
          </a:p>
        </p:txBody>
      </p:sp>
      <p:pic>
        <p:nvPicPr>
          <p:cNvPr id="6" name="Picture 5" descr="Blue and black text with a black background&#10;&#10;AI-generated content may be incorrect.">
            <a:extLst>
              <a:ext uri="{FF2B5EF4-FFF2-40B4-BE49-F238E27FC236}">
                <a16:creationId xmlns:a16="http://schemas.microsoft.com/office/drawing/2014/main" id="{AADDD222-B84A-7DA9-89E1-0BCCB67BFB16}"/>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6DB10D69-F0C4-64C2-0FA0-B5B90B700848}"/>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3519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7C327-4789-2653-C053-0BB643C23478}"/>
              </a:ext>
            </a:extLst>
          </p:cNvPr>
          <p:cNvSpPr>
            <a:spLocks noGrp="1"/>
          </p:cNvSpPr>
          <p:nvPr>
            <p:ph type="title"/>
          </p:nvPr>
        </p:nvSpPr>
        <p:spPr/>
        <p:txBody>
          <a:bodyPr/>
          <a:lstStyle/>
          <a:p>
            <a:r>
              <a:rPr lang="en-US" dirty="0"/>
              <a:t>Bit Flip Syndrome Table </a:t>
            </a:r>
          </a:p>
        </p:txBody>
      </p:sp>
      <p:sp>
        <p:nvSpPr>
          <p:cNvPr id="3" name="Date Placeholder 2">
            <a:extLst>
              <a:ext uri="{FF2B5EF4-FFF2-40B4-BE49-F238E27FC236}">
                <a16:creationId xmlns:a16="http://schemas.microsoft.com/office/drawing/2014/main" id="{6A20CF49-019A-2588-DE7F-5FB4A28B0F0E}"/>
              </a:ext>
            </a:extLst>
          </p:cNvPr>
          <p:cNvSpPr>
            <a:spLocks noGrp="1"/>
          </p:cNvSpPr>
          <p:nvPr>
            <p:ph type="dt" sz="half" idx="10"/>
          </p:nvPr>
        </p:nvSpPr>
        <p:spPr/>
        <p:txBody>
          <a:bodyPr/>
          <a:lstStyle/>
          <a:p>
            <a:fld id="{E344C998-69E1-4C07-A456-B5DE33923927}" type="datetime1">
              <a:rPr lang="en-US"/>
              <a:t>9/24/2025</a:t>
            </a:fld>
            <a:endParaRPr lang="en-US" dirty="0"/>
          </a:p>
        </p:txBody>
      </p:sp>
      <p:sp>
        <p:nvSpPr>
          <p:cNvPr id="4" name="Slide Number Placeholder 3">
            <a:extLst>
              <a:ext uri="{FF2B5EF4-FFF2-40B4-BE49-F238E27FC236}">
                <a16:creationId xmlns:a16="http://schemas.microsoft.com/office/drawing/2014/main" id="{C37B9191-1FD7-D0B2-1D39-4D71B20C9F0C}"/>
              </a:ext>
            </a:extLst>
          </p:cNvPr>
          <p:cNvSpPr>
            <a:spLocks noGrp="1"/>
          </p:cNvSpPr>
          <p:nvPr>
            <p:ph type="sldNum" sz="quarter" idx="12"/>
          </p:nvPr>
        </p:nvSpPr>
        <p:spPr/>
        <p:txBody>
          <a:bodyPr/>
          <a:lstStyle/>
          <a:p>
            <a:fld id="{CC057153-B650-4DEB-B370-79DDCFDCE934}" type="slidenum">
              <a:rPr lang="en-US" dirty="0"/>
              <a:t>14</a:t>
            </a:fld>
            <a:endParaRPr lang="en-US" dirty="0"/>
          </a:p>
        </p:txBody>
      </p:sp>
      <p:pic>
        <p:nvPicPr>
          <p:cNvPr id="5" name="Picture 4">
            <a:extLst>
              <a:ext uri="{FF2B5EF4-FFF2-40B4-BE49-F238E27FC236}">
                <a16:creationId xmlns:a16="http://schemas.microsoft.com/office/drawing/2014/main" id="{29ACD56C-86A7-951E-5132-122F0D43F139}"/>
              </a:ext>
            </a:extLst>
          </p:cNvPr>
          <p:cNvPicPr>
            <a:picLocks noChangeAspect="1"/>
          </p:cNvPicPr>
          <p:nvPr/>
        </p:nvPicPr>
        <p:blipFill>
          <a:blip r:embed="rId2"/>
          <a:stretch>
            <a:fillRect/>
          </a:stretch>
        </p:blipFill>
        <p:spPr>
          <a:xfrm>
            <a:off x="0" y="2073067"/>
            <a:ext cx="12192000" cy="2711865"/>
          </a:xfrm>
          <a:prstGeom prst="rect">
            <a:avLst/>
          </a:prstGeom>
          <a:ln>
            <a:solidFill>
              <a:schemeClr val="tx1"/>
            </a:solidFill>
          </a:ln>
        </p:spPr>
      </p:pic>
      <p:sp>
        <p:nvSpPr>
          <p:cNvPr id="6" name="TextBox 5">
            <a:extLst>
              <a:ext uri="{FF2B5EF4-FFF2-40B4-BE49-F238E27FC236}">
                <a16:creationId xmlns:a16="http://schemas.microsoft.com/office/drawing/2014/main" id="{D7EE1156-47CA-8FC1-65D3-2D9015193371}"/>
              </a:ext>
            </a:extLst>
          </p:cNvPr>
          <p:cNvSpPr txBox="1"/>
          <p:nvPr/>
        </p:nvSpPr>
        <p:spPr>
          <a:xfrm>
            <a:off x="276024" y="5437681"/>
            <a:ext cx="11565423"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404040"/>
                </a:solidFill>
                <a:latin typeface="Calibri"/>
                <a:ea typeface="Calibri"/>
                <a:cs typeface="Calibri"/>
              </a:rPr>
              <a:t>According to the syndrome measurement apply X gate to that particular qubit and the logical qubit will be error-free.  </a:t>
            </a:r>
            <a:endParaRPr lang="en-US" dirty="0"/>
          </a:p>
          <a:p>
            <a:pPr algn="l"/>
            <a:endParaRPr lang="en-US" dirty="0"/>
          </a:p>
        </p:txBody>
      </p:sp>
      <p:pic>
        <p:nvPicPr>
          <p:cNvPr id="8" name="Picture 7" descr="Blue and black text with a black background&#10;&#10;AI-generated content may be incorrect.">
            <a:extLst>
              <a:ext uri="{FF2B5EF4-FFF2-40B4-BE49-F238E27FC236}">
                <a16:creationId xmlns:a16="http://schemas.microsoft.com/office/drawing/2014/main" id="{052F7076-322F-553B-04A1-B64E6A55E75B}"/>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9" name="Rectangle 8">
            <a:extLst>
              <a:ext uri="{FF2B5EF4-FFF2-40B4-BE49-F238E27FC236}">
                <a16:creationId xmlns:a16="http://schemas.microsoft.com/office/drawing/2014/main" id="{6A1638B7-3EFC-A39D-6199-83A5FB61F450}"/>
              </a:ext>
            </a:extLst>
          </p:cNvPr>
          <p:cNvSpPr/>
          <p:nvPr/>
        </p:nvSpPr>
        <p:spPr>
          <a:xfrm>
            <a:off x="137975" y="640929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067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0141-430E-DF74-6D24-23F6471DC9D8}"/>
              </a:ext>
            </a:extLst>
          </p:cNvPr>
          <p:cNvSpPr>
            <a:spLocks noGrp="1"/>
          </p:cNvSpPr>
          <p:nvPr>
            <p:ph type="title"/>
          </p:nvPr>
        </p:nvSpPr>
        <p:spPr/>
        <p:txBody>
          <a:bodyPr/>
          <a:lstStyle/>
          <a:p>
            <a:r>
              <a:rPr lang="en-US" dirty="0"/>
              <a:t>Stabilizer code [n, 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6B026C-2A2B-E92C-C3E1-FFA4E8870F42}"/>
                  </a:ext>
                </a:extLst>
              </p:cNvPr>
              <p:cNvSpPr>
                <a:spLocks noGrp="1"/>
              </p:cNvSpPr>
              <p:nvPr>
                <p:ph idx="1"/>
              </p:nvPr>
            </p:nvSpPr>
            <p:spPr>
              <a:xfrm>
                <a:off x="612646" y="2080656"/>
                <a:ext cx="10653579" cy="4372345"/>
              </a:xfrm>
            </p:spPr>
            <p:txBody>
              <a:bodyPr>
                <a:normAutofit/>
              </a:bodyPr>
              <a:lstStyle/>
              <a:p>
                <a:pPr marL="0" indent="0">
                  <a:buNone/>
                </a:pPr>
                <a:r>
                  <a:rPr lang="en-US" dirty="0"/>
                  <a:t>(Gottesman and coworkers, 1997)</a:t>
                </a:r>
              </a:p>
              <a:p>
                <a:r>
                  <a:rPr lang="en-US" dirty="0"/>
                  <a:t>Consider </a:t>
                </a:r>
                <a:r>
                  <a:rPr lang="en-US" i="1" dirty="0"/>
                  <a:t>n</a:t>
                </a:r>
                <a:r>
                  <a:rPr lang="en-US" dirty="0"/>
                  <a:t> physical qubits. </a:t>
                </a:r>
              </a:p>
              <a:p>
                <a:r>
                  <a:rPr lang="en-US" dirty="0"/>
                  <a:t>Consider </a:t>
                </a:r>
                <a:r>
                  <a:rPr lang="en-US" dirty="0">
                    <a:solidFill>
                      <a:srgbClr val="0070C0"/>
                    </a:solidFill>
                  </a:rPr>
                  <a:t>S</a:t>
                </a:r>
                <a:r>
                  <a:rPr lang="en-US" dirty="0"/>
                  <a:t> a subgroup in the group of Pauli matrices generated by (n-k) commuting elements g</a:t>
                </a:r>
                <a:r>
                  <a:rPr lang="en-US" baseline="-25000" dirty="0"/>
                  <a:t>1</a:t>
                </a:r>
                <a:r>
                  <a:rPr lang="en-US" dirty="0"/>
                  <a:t> ,…,</a:t>
                </a:r>
                <a:r>
                  <a:rPr lang="en-US" dirty="0" err="1"/>
                  <a:t>g</a:t>
                </a:r>
                <a:r>
                  <a:rPr lang="en-US" baseline="-25000" dirty="0" err="1"/>
                  <a:t>n</a:t>
                </a:r>
                <a:r>
                  <a:rPr lang="en-US" baseline="-25000" dirty="0"/>
                  <a:t>-k</a:t>
                </a:r>
                <a:r>
                  <a:rPr lang="en-US" dirty="0"/>
                  <a:t> (</a:t>
                </a:r>
                <a:r>
                  <a:rPr lang="en-US" i="1" dirty="0"/>
                  <a:t>-I</a:t>
                </a:r>
                <a:r>
                  <a:rPr lang="en-US" dirty="0"/>
                  <a:t> is excluded). </a:t>
                </a:r>
              </a:p>
              <a:p>
                <a:r>
                  <a:rPr lang="en-US" dirty="0"/>
                  <a:t>Then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𝑆</m:t>
                        </m:r>
                      </m:sub>
                    </m:sSub>
                  </m:oMath>
                </a14:m>
                <a:r>
                  <a:rPr lang="en-US" dirty="0"/>
                  <a:t>, the vector space stabilized by S, is of dimension 2</a:t>
                </a:r>
                <a:r>
                  <a:rPr lang="en-US" baseline="30000" dirty="0"/>
                  <a:t>k</a:t>
                </a:r>
                <a:r>
                  <a:rPr lang="en-US" dirty="0"/>
                  <a:t> , i.e. we can encode </a:t>
                </a:r>
                <a:r>
                  <a:rPr lang="en-US" i="1" dirty="0"/>
                  <a:t>k</a:t>
                </a:r>
                <a:r>
                  <a:rPr lang="en-US" dirty="0"/>
                  <a:t> logical qubits.</a:t>
                </a:r>
              </a:p>
              <a:p>
                <a:r>
                  <a:rPr lang="en-US" dirty="0"/>
                  <a:t>The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𝑆</m:t>
                        </m:r>
                        <m:r>
                          <a:rPr lang="en-US" b="0" i="1" smtClean="0">
                            <a:latin typeface="Cambria Math" panose="02040503050406030204" pitchFamily="18" charset="0"/>
                          </a:rPr>
                          <m:t> </m:t>
                        </m:r>
                      </m:sub>
                    </m:sSub>
                  </m:oMath>
                </a14:m>
                <a:r>
                  <a:rPr lang="en-US" dirty="0"/>
                  <a:t>is the set of all states </a:t>
                </a:r>
                <a14:m>
                  <m:oMath xmlns:m="http://schemas.openxmlformats.org/officeDocument/2006/math">
                    <m:d>
                      <m:dPr>
                        <m:begChr m:val=""/>
                        <m:endChr m:val="⟩"/>
                        <m:ctrlPr>
                          <a:rPr lang="ar-AE" i="1">
                            <a:latin typeface="Cambria Math" panose="02040503050406030204" pitchFamily="18" charset="0"/>
                          </a:rPr>
                        </m:ctrlPr>
                      </m:dPr>
                      <m:e>
                        <m:r>
                          <a:rPr lang="ar-AE">
                            <a:latin typeface="Cambria Math" panose="02040503050406030204" pitchFamily="18" charset="0"/>
                          </a:rPr>
                          <m:t>∣</m:t>
                        </m:r>
                        <m:r>
                          <a:rPr lang="ar-AE" i="1">
                            <a:latin typeface="Cambria Math" panose="02040503050406030204" pitchFamily="18" charset="0"/>
                          </a:rPr>
                          <m:t>𝜓</m:t>
                        </m:r>
                      </m:e>
                    </m:d>
                  </m:oMath>
                </a14:m>
                <a:r>
                  <a:rPr lang="en-US" dirty="0"/>
                  <a:t> such that:</a:t>
                </a:r>
              </a:p>
              <a:p>
                <a:pPr marL="0" indent="0">
                  <a:buNone/>
                </a:pPr>
                <a14:m>
                  <m:oMathPara xmlns:m="http://schemas.openxmlformats.org/officeDocument/2006/math">
                    <m:oMathParaPr>
                      <m:jc m:val="centerGroup"/>
                    </m:oMathParaPr>
                    <m:oMath xmlns:m="http://schemas.openxmlformats.org/officeDocument/2006/math">
                      <m:d>
                        <m:dPr>
                          <m:begChr m:val=""/>
                          <m:endChr m:val="⟩"/>
                          <m:ctrlPr>
                            <a:rPr lang="ar-AE" i="1">
                              <a:latin typeface="Cambria Math" panose="02040503050406030204" pitchFamily="18" charset="0"/>
                            </a:rPr>
                          </m:ctrlPr>
                        </m:dPr>
                        <m:e>
                          <m:d>
                            <m:dPr>
                              <m:begChr m:val=""/>
                              <m:endChr m:val="⟩"/>
                              <m:ctrlPr>
                                <a:rPr lang="ar-AE" i="1" smtClean="0">
                                  <a:latin typeface="Cambria Math" panose="02040503050406030204" pitchFamily="18" charset="0"/>
                                </a:rPr>
                              </m:ctrlPr>
                            </m:dPr>
                            <m:e>
                              <m:r>
                                <a:rPr lang="ar-AE" i="1">
                                  <a:latin typeface="Cambria Math" panose="02040503050406030204" pitchFamily="18" charset="0"/>
                                </a:rPr>
                                <m:t>𝑔</m:t>
                              </m:r>
                              <m:r>
                                <a:rPr lang="ar-AE">
                                  <a:latin typeface="Cambria Math" panose="02040503050406030204" pitchFamily="18" charset="0"/>
                                </a:rPr>
                                <m:t>∣</m:t>
                              </m:r>
                              <m:r>
                                <a:rPr lang="ar-AE" i="1">
                                  <a:latin typeface="Cambria Math" panose="02040503050406030204" pitchFamily="18" charset="0"/>
                                </a:rPr>
                                <m:t>𝜓</m:t>
                              </m:r>
                            </m:e>
                          </m:d>
                          <m:r>
                            <a:rPr lang="ar-AE">
                              <a:latin typeface="Cambria Math" panose="02040503050406030204" pitchFamily="18" charset="0"/>
                            </a:rPr>
                            <m:t>=</m:t>
                          </m:r>
                          <m:r>
                            <a:rPr lang="en-US" b="0" i="0" smtClean="0">
                              <a:latin typeface="Cambria Math" panose="02040503050406030204" pitchFamily="18" charset="0"/>
                            </a:rPr>
                            <m:t> </m:t>
                          </m:r>
                          <m:r>
                            <a:rPr lang="ar-AE">
                              <a:latin typeface="Cambria Math" panose="02040503050406030204" pitchFamily="18" charset="0"/>
                            </a:rPr>
                            <m:t>∣</m:t>
                          </m:r>
                          <m:r>
                            <a:rPr lang="ar-AE" i="1">
                              <a:latin typeface="Cambria Math" panose="02040503050406030204" pitchFamily="18" charset="0"/>
                            </a:rPr>
                            <m:t>𝜓</m:t>
                          </m:r>
                        </m:e>
                      </m:d>
                      <m:r>
                        <a:rPr lang="ar-AE">
                          <a:latin typeface="Cambria Math" panose="02040503050406030204" pitchFamily="18" charset="0"/>
                        </a:rPr>
                        <m:t> </m:t>
                      </m:r>
                      <m:r>
                        <a:rPr lang="en-US" b="0" i="0" smtClean="0">
                          <a:latin typeface="Cambria Math" panose="02040503050406030204" pitchFamily="18" charset="0"/>
                        </a:rPr>
                        <m:t>   </m:t>
                      </m:r>
                      <m:r>
                        <a:rPr lang="ar-AE">
                          <a:latin typeface="Cambria Math" panose="02040503050406030204" pitchFamily="18" charset="0"/>
                        </a:rPr>
                        <m:t>∀</m:t>
                      </m:r>
                      <m:r>
                        <a:rPr lang="ar-AE" i="1">
                          <a:latin typeface="Cambria Math" panose="02040503050406030204" pitchFamily="18" charset="0"/>
                        </a:rPr>
                        <m:t>𝑔</m:t>
                      </m:r>
                      <m:r>
                        <a:rPr lang="ar-AE">
                          <a:latin typeface="Cambria Math" panose="02040503050406030204" pitchFamily="18" charset="0"/>
                        </a:rPr>
                        <m:t>∈</m:t>
                      </m:r>
                      <m:r>
                        <a:rPr lang="ar-AE" i="1">
                          <a:latin typeface="Cambria Math" panose="02040503050406030204" pitchFamily="18" charset="0"/>
                        </a:rPr>
                        <m:t>𝑆</m:t>
                      </m:r>
                    </m:oMath>
                  </m:oMathPara>
                </a14:m>
                <a:endParaRPr lang="en-US" dirty="0"/>
              </a:p>
              <a:p>
                <a:r>
                  <a:rPr lang="en-US" dirty="0"/>
                  <a:t>Measuring stabilizers doesn’t disturb the logical qubit, but gives us error syndromes.</a:t>
                </a:r>
                <a:endParaRPr lang="ar-AE" dirty="0"/>
              </a:p>
              <a:p>
                <a:endParaRPr lang="en-US" dirty="0"/>
              </a:p>
            </p:txBody>
          </p:sp>
        </mc:Choice>
        <mc:Fallback xmlns="">
          <p:sp>
            <p:nvSpPr>
              <p:cNvPr id="3" name="Content Placeholder 2">
                <a:extLst>
                  <a:ext uri="{FF2B5EF4-FFF2-40B4-BE49-F238E27FC236}">
                    <a16:creationId xmlns:a16="http://schemas.microsoft.com/office/drawing/2014/main" id="{C46B026C-2A2B-E92C-C3E1-FFA4E8870F42}"/>
                  </a:ext>
                </a:extLst>
              </p:cNvPr>
              <p:cNvSpPr>
                <a:spLocks noGrp="1" noRot="1" noChangeAspect="1" noMove="1" noResize="1" noEditPoints="1" noAdjustHandles="1" noChangeArrowheads="1" noChangeShapeType="1" noTextEdit="1"/>
              </p:cNvSpPr>
              <p:nvPr>
                <p:ph idx="1"/>
              </p:nvPr>
            </p:nvSpPr>
            <p:spPr>
              <a:xfrm>
                <a:off x="612646" y="2080656"/>
                <a:ext cx="10653579" cy="4372345"/>
              </a:xfrm>
              <a:blipFill>
                <a:blip r:embed="rId2"/>
                <a:stretch>
                  <a:fillRect l="-57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5BA1F373-0DA4-FAEB-6391-C2A1252C9691}"/>
              </a:ext>
            </a:extLst>
          </p:cNvPr>
          <p:cNvSpPr>
            <a:spLocks noGrp="1"/>
          </p:cNvSpPr>
          <p:nvPr>
            <p:ph type="sldNum" sz="quarter" idx="12"/>
          </p:nvPr>
        </p:nvSpPr>
        <p:spPr/>
        <p:txBody>
          <a:bodyPr/>
          <a:lstStyle/>
          <a:p>
            <a:fld id="{CC057153-B650-4DEB-B370-79DDCFDCE934}" type="slidenum">
              <a:rPr lang="en-US" smtClean="0"/>
              <a:t>15</a:t>
            </a:fld>
            <a:endParaRPr lang="en-US" dirty="0"/>
          </a:p>
        </p:txBody>
      </p:sp>
      <p:pic>
        <p:nvPicPr>
          <p:cNvPr id="6" name="Picture 5" descr="Blue and black text with a black background&#10;&#10;AI-generated content may be incorrect.">
            <a:extLst>
              <a:ext uri="{FF2B5EF4-FFF2-40B4-BE49-F238E27FC236}">
                <a16:creationId xmlns:a16="http://schemas.microsoft.com/office/drawing/2014/main" id="{F5FD828A-5C4D-B137-25FC-456609F832AD}"/>
              </a:ext>
            </a:extLst>
          </p:cNvPr>
          <p:cNvPicPr>
            <a:picLocks noChangeAspect="1"/>
          </p:cNvPicPr>
          <p:nvPr/>
        </p:nvPicPr>
        <p:blipFill>
          <a:blip r:embed="rId3"/>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2982163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D9B22-67A5-A6FB-6C4F-2B993308688D}"/>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EB184F-F1AB-06F6-449A-3DF9A52B5E75}"/>
                  </a:ext>
                </a:extLst>
              </p:cNvPr>
              <p:cNvSpPr>
                <a:spLocks noGrp="1"/>
              </p:cNvSpPr>
              <p:nvPr>
                <p:ph idx="1"/>
              </p:nvPr>
            </p:nvSpPr>
            <p:spPr/>
            <p:txBody>
              <a:bodyPr>
                <a:normAutofit fontScale="92500" lnSpcReduction="20000"/>
              </a:bodyPr>
              <a:lstStyle/>
              <a:p>
                <a:pPr marL="0" indent="0">
                  <a:buNone/>
                </a:pPr>
                <a:r>
                  <a:rPr lang="en-US" b="1" dirty="0"/>
                  <a:t>3-Qubit Bit-flip Code [3,1]</a:t>
                </a:r>
                <a:endParaRPr lang="ar-AE" b="1" dirty="0"/>
              </a:p>
              <a:p>
                <a:pPr marL="0" indent="0">
                  <a:buNone/>
                </a:pPr>
                <a:r>
                  <a:rPr lang="en-US" dirty="0"/>
                  <a:t>Physical qubits: </a:t>
                </a:r>
                <a14:m>
                  <m:oMath xmlns:m="http://schemas.openxmlformats.org/officeDocument/2006/math">
                    <m:r>
                      <a:rPr lang="en-US" i="1">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3</m:t>
                    </m:r>
                  </m:oMath>
                </a14:m>
                <a:r>
                  <a:rPr lang="en-US" dirty="0"/>
                  <a:t>.</a:t>
                </a:r>
              </a:p>
              <a:p>
                <a:pPr marL="0" indent="0">
                  <a:buNone/>
                </a:pPr>
                <a:r>
                  <a:rPr lang="en-US" dirty="0"/>
                  <a:t>Logical qubits: </a:t>
                </a:r>
                <a14:m>
                  <m:oMath xmlns:m="http://schemas.openxmlformats.org/officeDocument/2006/math">
                    <m:r>
                      <a:rPr lang="en-US" i="1">
                        <a:latin typeface="Cambria Math" panose="02040503050406030204" pitchFamily="18" charset="0"/>
                      </a:rPr>
                      <m:t>𝑘</m:t>
                    </m:r>
                    <m:r>
                      <a:rPr lang="en-US">
                        <a:latin typeface="Cambria Math" panose="02040503050406030204" pitchFamily="18" charset="0"/>
                      </a:rPr>
                      <m:t>=</m:t>
                    </m:r>
                    <m:r>
                      <a:rPr lang="en-US">
                        <a:latin typeface="Cambria Math" panose="02040503050406030204" pitchFamily="18" charset="0"/>
                      </a:rPr>
                      <m:t>1</m:t>
                    </m:r>
                  </m:oMath>
                </a14:m>
                <a:r>
                  <a:rPr lang="en-US" dirty="0"/>
                  <a:t>.</a:t>
                </a:r>
              </a:p>
              <a:p>
                <a:pPr marL="0" indent="0">
                  <a:buNone/>
                </a:pPr>
                <a:r>
                  <a:rPr lang="en-US" b="1" dirty="0"/>
                  <a:t>Stabilizers:</a:t>
                </a:r>
              </a:p>
              <a:p>
                <a:pPr marL="0" indent="0">
                  <a:buNone/>
                </a:pPr>
                <a14:m>
                  <m:oMathPara xmlns:m="http://schemas.openxmlformats.org/officeDocument/2006/math">
                    <m:oMathParaPr>
                      <m:jc m:val="centerGroup"/>
                    </m:oMathParaPr>
                    <m:oMath xmlns:m="http://schemas.openxmlformats.org/officeDocument/2006/math">
                      <m:r>
                        <m:rPr>
                          <m:nor/>
                        </m:rPr>
                        <a:rPr lang="pl-PL"/>
                        <m:t>S</m:t>
                      </m:r>
                      <m:r>
                        <m:rPr>
                          <m:nor/>
                        </m:rPr>
                        <a:rPr lang="en-US" b="0" i="0" smtClean="0"/>
                        <m:t> </m:t>
                      </m:r>
                      <m:r>
                        <m:rPr>
                          <m:nor/>
                        </m:rPr>
                        <a:rPr lang="pl-PL"/>
                        <m:t>=</m:t>
                      </m:r>
                      <m:r>
                        <m:rPr>
                          <m:nor/>
                        </m:rPr>
                        <a:rPr lang="en-US" b="0" i="0" smtClean="0"/>
                        <m:t> </m:t>
                      </m:r>
                      <m:r>
                        <m:rPr>
                          <m:nor/>
                        </m:rPr>
                        <a:rPr lang="pl-PL"/>
                        <m:t>{</m:t>
                      </m:r>
                      <m:r>
                        <m:rPr>
                          <m:nor/>
                        </m:rPr>
                        <a:rPr lang="pl-PL"/>
                        <m:t>Z</m:t>
                      </m:r>
                      <m:r>
                        <m:rPr>
                          <m:nor/>
                        </m:rPr>
                        <a:rPr lang="pl-PL" baseline="-25000"/>
                        <m:t>1</m:t>
                      </m:r>
                      <m:r>
                        <m:rPr>
                          <m:nor/>
                        </m:rPr>
                        <a:rPr lang="pl-PL"/>
                        <m:t>​</m:t>
                      </m:r>
                      <m:r>
                        <m:rPr>
                          <m:nor/>
                        </m:rPr>
                        <a:rPr lang="pl-PL"/>
                        <m:t>Z</m:t>
                      </m:r>
                      <m:r>
                        <m:rPr>
                          <m:nor/>
                        </m:rPr>
                        <a:rPr lang="pl-PL" baseline="-25000"/>
                        <m:t>2</m:t>
                      </m:r>
                      <m:r>
                        <m:rPr>
                          <m:nor/>
                        </m:rPr>
                        <a:rPr lang="pl-PL"/>
                        <m:t>​</m:t>
                      </m:r>
                      <m:r>
                        <m:rPr>
                          <m:nor/>
                        </m:rPr>
                        <a:rPr lang="pl-PL"/>
                        <m:t>,</m:t>
                      </m:r>
                      <m:r>
                        <m:rPr>
                          <m:nor/>
                        </m:rPr>
                        <a:rPr lang="en-US" b="0" i="0" smtClean="0"/>
                        <m:t> </m:t>
                      </m:r>
                      <m:r>
                        <m:rPr>
                          <m:nor/>
                        </m:rPr>
                        <a:rPr lang="pl-PL"/>
                        <m:t>Z</m:t>
                      </m:r>
                      <m:r>
                        <m:rPr>
                          <m:nor/>
                        </m:rPr>
                        <a:rPr lang="pl-PL" baseline="-25000"/>
                        <m:t>2</m:t>
                      </m:r>
                      <m:r>
                        <m:rPr>
                          <m:nor/>
                        </m:rPr>
                        <a:rPr lang="pl-PL"/>
                        <m:t>​</m:t>
                      </m:r>
                      <m:r>
                        <m:rPr>
                          <m:nor/>
                        </m:rPr>
                        <a:rPr lang="pl-PL"/>
                        <m:t>Z</m:t>
                      </m:r>
                      <m:r>
                        <m:rPr>
                          <m:nor/>
                        </m:rPr>
                        <a:rPr lang="pl-PL" baseline="-25000"/>
                        <m:t>3</m:t>
                      </m:r>
                      <m:r>
                        <m:rPr>
                          <m:nor/>
                        </m:rPr>
                        <a:rPr lang="pl-PL"/>
                        <m:t>​</m:t>
                      </m:r>
                      <m:r>
                        <m:rPr>
                          <m:nor/>
                        </m:rPr>
                        <a:rPr lang="pl-PL"/>
                        <m:t>}</m:t>
                      </m:r>
                    </m:oMath>
                  </m:oMathPara>
                </a14:m>
                <a:endParaRPr lang="ar-AE" b="0" dirty="0"/>
              </a:p>
              <a:p>
                <a:pPr marL="0" indent="0">
                  <a:buNone/>
                </a:pPr>
                <a:r>
                  <a:rPr lang="en-US" b="1" dirty="0"/>
                  <a:t>Code Space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𝑆</m:t>
                        </m:r>
                      </m:sub>
                    </m:sSub>
                  </m:oMath>
                </a14:m>
                <a:r>
                  <a:rPr lang="ar-AE" b="1" dirty="0"/>
                  <a:t>:</a:t>
                </a:r>
              </a:p>
              <a:p>
                <a:pPr marL="0" indent="0">
                  <a:buNone/>
                </a:pPr>
                <a:r>
                  <a:rPr lang="en-US" dirty="0"/>
                  <a:t>All states stabilized by both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𝑍</m:t>
                        </m:r>
                      </m:e>
                      <m:sub>
                        <m:r>
                          <a:rPr lang="ar-AE">
                            <a:latin typeface="Cambria Math" panose="02040503050406030204" pitchFamily="18" charset="0"/>
                          </a:rPr>
                          <m:t>1</m:t>
                        </m:r>
                      </m:sub>
                    </m:sSub>
                    <m:sSub>
                      <m:sSubPr>
                        <m:ctrlPr>
                          <a:rPr lang="ar-AE" i="1">
                            <a:latin typeface="Cambria Math" panose="02040503050406030204" pitchFamily="18" charset="0"/>
                          </a:rPr>
                        </m:ctrlPr>
                      </m:sSubPr>
                      <m:e>
                        <m:r>
                          <a:rPr lang="ar-AE" i="1">
                            <a:latin typeface="Cambria Math" panose="02040503050406030204" pitchFamily="18" charset="0"/>
                          </a:rPr>
                          <m:t>𝑍</m:t>
                        </m:r>
                      </m:e>
                      <m:sub>
                        <m:r>
                          <a:rPr lang="ar-AE">
                            <a:latin typeface="Cambria Math" panose="02040503050406030204" pitchFamily="18" charset="0"/>
                          </a:rPr>
                          <m:t>2</m:t>
                        </m:r>
                      </m:sub>
                    </m:sSub>
                  </m:oMath>
                </a14:m>
                <a:r>
                  <a:rPr lang="en-US" dirty="0"/>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𝑍</m:t>
                        </m:r>
                      </m:e>
                      <m:sub>
                        <m:r>
                          <a:rPr lang="ar-AE">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𝑍</m:t>
                        </m:r>
                      </m:e>
                      <m:sub>
                        <m:r>
                          <a:rPr lang="ar-AE">
                            <a:latin typeface="Cambria Math" panose="02040503050406030204" pitchFamily="18" charset="0"/>
                          </a:rPr>
                          <m:t>3</m:t>
                        </m:r>
                      </m:sub>
                    </m:sSub>
                  </m:oMath>
                </a14:m>
                <a:r>
                  <a:rPr lang="ar-AE" dirty="0"/>
                  <a:t>.</a:t>
                </a:r>
              </a:p>
              <a:p>
                <a:pPr marL="0" indent="0">
                  <a:buNone/>
                </a:pPr>
                <a:r>
                  <a:rPr lang="en-US" dirty="0"/>
                  <a:t>That space has dimension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1</m:t>
                        </m:r>
                      </m:sup>
                    </m:sSup>
                    <m:r>
                      <a:rPr lang="ar-AE">
                        <a:latin typeface="Cambria Math" panose="02040503050406030204" pitchFamily="18" charset="0"/>
                      </a:rPr>
                      <m:t>=</m:t>
                    </m:r>
                    <m:r>
                      <a:rPr lang="ar-AE">
                        <a:latin typeface="Cambria Math" panose="02040503050406030204" pitchFamily="18" charset="0"/>
                      </a:rPr>
                      <m:t>2</m:t>
                    </m:r>
                  </m:oMath>
                </a14:m>
                <a:r>
                  <a:rPr lang="ar-AE" dirty="0"/>
                  <a:t>.</a:t>
                </a:r>
              </a:p>
              <a:p>
                <a:pPr marL="0" indent="0">
                  <a:buNone/>
                </a:pPr>
                <a:r>
                  <a:rPr lang="en-US" dirty="0"/>
                  <a:t>The two basis states are:</a:t>
                </a:r>
              </a:p>
              <a:p>
                <a:pPr marL="0" indent="0">
                  <a:buNone/>
                </a:pPr>
                <a14:m>
                  <m:oMathPara xmlns:m="http://schemas.openxmlformats.org/officeDocument/2006/math">
                    <m:oMathParaPr>
                      <m:jc m:val="centerGroup"/>
                    </m:oMathParaPr>
                    <m:oMath xmlns:m="http://schemas.openxmlformats.org/officeDocument/2006/math">
                      <m:r>
                        <m:rPr>
                          <m:nor/>
                        </m:rPr>
                        <a:rPr lang="en-US"/>
                        <m:t>∣</m:t>
                      </m:r>
                      <m:r>
                        <m:rPr>
                          <m:nor/>
                        </m:rPr>
                        <a:rPr lang="en-US"/>
                        <m:t>0</m:t>
                      </m:r>
                      <m:r>
                        <m:rPr>
                          <m:nor/>
                        </m:rPr>
                        <a:rPr lang="en-US" baseline="-25000"/>
                        <m:t>L</m:t>
                      </m:r>
                      <m:r>
                        <m:rPr>
                          <m:nor/>
                        </m:rPr>
                        <a:rPr lang="en-US"/>
                        <m:t>​</m:t>
                      </m:r>
                      <m:r>
                        <m:rPr>
                          <m:nor/>
                        </m:rPr>
                        <a:rPr lang="en-US"/>
                        <m:t>⟩</m:t>
                      </m:r>
                      <m:r>
                        <m:rPr>
                          <m:nor/>
                        </m:rPr>
                        <a:rPr lang="en-US"/>
                        <m:t>=</m:t>
                      </m:r>
                      <m:r>
                        <m:rPr>
                          <m:nor/>
                        </m:rPr>
                        <a:rPr lang="en-US"/>
                        <m:t>∣</m:t>
                      </m:r>
                      <m:r>
                        <m:rPr>
                          <m:nor/>
                        </m:rPr>
                        <a:rPr lang="en-US"/>
                        <m:t>000</m:t>
                      </m:r>
                      <m:r>
                        <m:rPr>
                          <m:nor/>
                        </m:rPr>
                        <a:rPr lang="en-US"/>
                        <m:t>⟩</m:t>
                      </m:r>
                      <m:r>
                        <m:rPr>
                          <m:nor/>
                        </m:rPr>
                        <a:rPr lang="en-US"/>
                        <m:t>,      </m:t>
                      </m:r>
                      <m:r>
                        <m:rPr>
                          <m:nor/>
                        </m:rPr>
                        <a:rPr lang="en-US"/>
                        <m:t>∣</m:t>
                      </m:r>
                      <m:r>
                        <m:rPr>
                          <m:nor/>
                        </m:rPr>
                        <a:rPr lang="en-US"/>
                        <m:t>1</m:t>
                      </m:r>
                      <m:r>
                        <m:rPr>
                          <m:nor/>
                        </m:rPr>
                        <a:rPr lang="en-US" baseline="-25000"/>
                        <m:t>L</m:t>
                      </m:r>
                      <m:r>
                        <m:rPr>
                          <m:nor/>
                        </m:rPr>
                        <a:rPr lang="en-US"/>
                        <m:t>​</m:t>
                      </m:r>
                      <m:r>
                        <m:rPr>
                          <m:nor/>
                        </m:rPr>
                        <a:rPr lang="en-US"/>
                        <m:t>⟩</m:t>
                      </m:r>
                      <m:r>
                        <m:rPr>
                          <m:nor/>
                        </m:rPr>
                        <a:rPr lang="en-US"/>
                        <m:t>=</m:t>
                      </m:r>
                      <m:r>
                        <m:rPr>
                          <m:nor/>
                        </m:rPr>
                        <a:rPr lang="en-US"/>
                        <m:t>∣</m:t>
                      </m:r>
                      <m:r>
                        <m:rPr>
                          <m:nor/>
                        </m:rPr>
                        <a:rPr lang="en-US"/>
                        <m:t>111</m:t>
                      </m:r>
                      <m:r>
                        <m:rPr>
                          <m:nor/>
                        </m:rPr>
                        <a:rPr lang="en-US"/>
                        <m:t>⟩</m:t>
                      </m:r>
                    </m:oMath>
                  </m:oMathPara>
                </a14:m>
                <a:endParaRPr lang="ar-AE" dirty="0"/>
              </a:p>
              <a:p>
                <a:pPr marL="0" indent="0">
                  <a:buNone/>
                </a:pPr>
                <a:r>
                  <a:rPr lang="en-US" dirty="0"/>
                  <a:t>So, the vector space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𝑆</m:t>
                        </m:r>
                        <m:r>
                          <a:rPr lang="en-US" b="0" i="1" smtClean="0">
                            <a:latin typeface="Cambria Math" panose="02040503050406030204" pitchFamily="18" charset="0"/>
                          </a:rPr>
                          <m:t> </m:t>
                        </m:r>
                      </m:sub>
                    </m:sSub>
                  </m:oMath>
                </a14:m>
                <a:r>
                  <a:rPr lang="en-US" b="1" dirty="0"/>
                  <a:t>contains all encoded logical qubit states</a:t>
                </a:r>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52EB184F-F1AB-06F6-449A-3DF9A52B5E75}"/>
                  </a:ext>
                </a:extLst>
              </p:cNvPr>
              <p:cNvSpPr>
                <a:spLocks noGrp="1" noRot="1" noChangeAspect="1" noMove="1" noResize="1" noEditPoints="1" noAdjustHandles="1" noChangeArrowheads="1" noChangeShapeType="1" noTextEdit="1"/>
              </p:cNvSpPr>
              <p:nvPr>
                <p:ph idx="1"/>
              </p:nvPr>
            </p:nvSpPr>
            <p:spPr>
              <a:blipFill>
                <a:blip r:embed="rId2"/>
                <a:stretch>
                  <a:fillRect l="-515" t="-66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9069683-A01B-3AB4-E60C-7F6CF4472660}"/>
              </a:ext>
            </a:extLst>
          </p:cNvPr>
          <p:cNvSpPr>
            <a:spLocks noGrp="1"/>
          </p:cNvSpPr>
          <p:nvPr>
            <p:ph type="sldNum" sz="quarter" idx="12"/>
          </p:nvPr>
        </p:nvSpPr>
        <p:spPr/>
        <p:txBody>
          <a:bodyPr/>
          <a:lstStyle/>
          <a:p>
            <a:fld id="{CC057153-B650-4DEB-B370-79DDCFDCE934}" type="slidenum">
              <a:rPr lang="en-US" smtClean="0"/>
              <a:t>16</a:t>
            </a:fld>
            <a:endParaRPr lang="en-US" dirty="0"/>
          </a:p>
        </p:txBody>
      </p:sp>
      <p:pic>
        <p:nvPicPr>
          <p:cNvPr id="6" name="Picture 5" descr="Blue and black text with a black background&#10;&#10;AI-generated content may be incorrect.">
            <a:extLst>
              <a:ext uri="{FF2B5EF4-FFF2-40B4-BE49-F238E27FC236}">
                <a16:creationId xmlns:a16="http://schemas.microsoft.com/office/drawing/2014/main" id="{B7AB08D3-C3B3-7461-0E45-0423F803326C}"/>
              </a:ext>
            </a:extLst>
          </p:cNvPr>
          <p:cNvPicPr>
            <a:picLocks noChangeAspect="1"/>
          </p:cNvPicPr>
          <p:nvPr/>
        </p:nvPicPr>
        <p:blipFill>
          <a:blip r:embed="rId3"/>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2633237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18">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20">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4EC85BC-B46B-91F4-0FFA-315EF6C5C8D0}"/>
              </a:ext>
            </a:extLst>
          </p:cNvPr>
          <p:cNvSpPr>
            <a:spLocks noGrp="1"/>
          </p:cNvSpPr>
          <p:nvPr>
            <p:ph type="title"/>
          </p:nvPr>
        </p:nvSpPr>
        <p:spPr>
          <a:xfrm>
            <a:off x="371094" y="1161288"/>
            <a:ext cx="3438144" cy="1239012"/>
          </a:xfrm>
        </p:spPr>
        <p:txBody>
          <a:bodyPr vert="horz" lIns="91440" tIns="45720" rIns="91440" bIns="45720" rtlCol="0" anchor="ctr">
            <a:normAutofit/>
          </a:bodyPr>
          <a:lstStyle/>
          <a:p>
            <a:r>
              <a:rPr lang="en-US" sz="2800" kern="1200" dirty="0">
                <a:solidFill>
                  <a:schemeClr val="tx1"/>
                </a:solidFill>
                <a:latin typeface="+mj-lt"/>
                <a:ea typeface="+mj-ea"/>
                <a:cs typeface="+mj-cs"/>
              </a:rPr>
              <a:t>Stabilizers for Bit Flip </a:t>
            </a:r>
          </a:p>
        </p:txBody>
      </p:sp>
      <p:sp>
        <p:nvSpPr>
          <p:cNvPr id="23" name="Rectangle 22">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4CA53A8-9756-1827-31B7-B01C9A39C650}"/>
              </a:ext>
            </a:extLst>
          </p:cNvPr>
          <p:cNvSpPr txBox="1"/>
          <p:nvPr/>
        </p:nvSpPr>
        <p:spPr>
          <a:xfrm>
            <a:off x="393180" y="2718054"/>
            <a:ext cx="3394734" cy="221334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1700" dirty="0"/>
              <a:t>           </a:t>
            </a:r>
            <a:endParaRPr lang="en-US" dirty="0"/>
          </a:p>
          <a:p>
            <a:pPr>
              <a:lnSpc>
                <a:spcPct val="90000"/>
              </a:lnSpc>
              <a:spcAft>
                <a:spcPts val="600"/>
              </a:spcAft>
            </a:pPr>
            <a:endParaRPr lang="en-US" sz="1700" dirty="0"/>
          </a:p>
          <a:p>
            <a:pPr>
              <a:lnSpc>
                <a:spcPct val="90000"/>
              </a:lnSpc>
              <a:spcAft>
                <a:spcPts val="600"/>
              </a:spcAft>
            </a:pPr>
            <a:r>
              <a:rPr lang="en-US" sz="1700" dirty="0"/>
              <a:t>            Z⊗Z⊗I</a:t>
            </a:r>
            <a:endParaRPr lang="en-US" dirty="0"/>
          </a:p>
          <a:p>
            <a:pPr>
              <a:lnSpc>
                <a:spcPct val="90000"/>
              </a:lnSpc>
              <a:spcAft>
                <a:spcPts val="600"/>
              </a:spcAft>
            </a:pPr>
            <a:r>
              <a:rPr lang="en-US" sz="1700" dirty="0"/>
              <a:t>            I⊗Z⊗Z</a:t>
            </a:r>
          </a:p>
          <a:p>
            <a:pPr>
              <a:lnSpc>
                <a:spcPct val="90000"/>
              </a:lnSpc>
              <a:spcAft>
                <a:spcPts val="600"/>
              </a:spcAft>
            </a:pPr>
            <a:endParaRPr lang="en-US" sz="1700" dirty="0"/>
          </a:p>
          <a:p>
            <a:pPr>
              <a:lnSpc>
                <a:spcPct val="90000"/>
              </a:lnSpc>
              <a:spcAft>
                <a:spcPts val="600"/>
              </a:spcAft>
            </a:pPr>
            <a:r>
              <a:rPr lang="en-US" sz="1700" dirty="0"/>
              <a:t>So, here Z⊗Z checks the parity between two qubits.</a:t>
            </a:r>
          </a:p>
          <a:p>
            <a:pPr>
              <a:lnSpc>
                <a:spcPct val="90000"/>
              </a:lnSpc>
              <a:spcAft>
                <a:spcPts val="600"/>
              </a:spcAft>
            </a:pPr>
            <a:endParaRPr lang="en-US" sz="1700" dirty="0"/>
          </a:p>
          <a:p>
            <a:pPr>
              <a:lnSpc>
                <a:spcPct val="90000"/>
              </a:lnSpc>
              <a:spcAft>
                <a:spcPts val="600"/>
              </a:spcAft>
            </a:pPr>
            <a:endParaRPr lang="en-US" sz="1700" dirty="0"/>
          </a:p>
        </p:txBody>
      </p:sp>
      <p:pic>
        <p:nvPicPr>
          <p:cNvPr id="10" name="Content Placeholder 9" descr="A graph with blue and red squares and dots&#10;&#10;AI-generated content may be incorrect.">
            <a:extLst>
              <a:ext uri="{FF2B5EF4-FFF2-40B4-BE49-F238E27FC236}">
                <a16:creationId xmlns:a16="http://schemas.microsoft.com/office/drawing/2014/main" id="{1182B44B-30EC-0F0B-2EE1-D00CA27CF0F5}"/>
              </a:ext>
            </a:extLst>
          </p:cNvPr>
          <p:cNvPicPr>
            <a:picLocks noGrp="1" noChangeAspect="1"/>
          </p:cNvPicPr>
          <p:nvPr>
            <p:ph idx="1"/>
          </p:nvPr>
        </p:nvPicPr>
        <p:blipFill>
          <a:blip r:embed="rId2"/>
          <a:srcRect r="713"/>
          <a:stretch>
            <a:fillRect/>
          </a:stretch>
        </p:blipFill>
        <p:spPr>
          <a:xfrm>
            <a:off x="4901184" y="2006517"/>
            <a:ext cx="6922008" cy="2945550"/>
          </a:xfrm>
          <a:prstGeom prst="rect">
            <a:avLst/>
          </a:prstGeom>
        </p:spPr>
      </p:pic>
      <p:sp>
        <p:nvSpPr>
          <p:cNvPr id="5" name="Slide Number Placeholder 4">
            <a:extLst>
              <a:ext uri="{FF2B5EF4-FFF2-40B4-BE49-F238E27FC236}">
                <a16:creationId xmlns:a16="http://schemas.microsoft.com/office/drawing/2014/main" id="{C6E09F34-0F97-E924-C91E-5D1FF99551D2}"/>
              </a:ext>
            </a:extLst>
          </p:cNvPr>
          <p:cNvSpPr>
            <a:spLocks noGrp="1"/>
          </p:cNvSpPr>
          <p:nvPr>
            <p:ph type="sldNum" sz="quarter" idx="12"/>
          </p:nvPr>
        </p:nvSpPr>
        <p:spPr>
          <a:xfrm>
            <a:off x="9695688" y="6356350"/>
            <a:ext cx="2121408" cy="365125"/>
          </a:xfrm>
        </p:spPr>
        <p:txBody>
          <a:bodyPr vert="horz" lIns="91440" tIns="45720" rIns="91440" bIns="45720" rtlCol="0" anchor="ctr">
            <a:normAutofit/>
          </a:bodyPr>
          <a:lstStyle/>
          <a:p>
            <a:pPr>
              <a:spcAft>
                <a:spcPts val="600"/>
              </a:spcAft>
            </a:pPr>
            <a:fld id="{CC057153-B650-4DEB-B370-79DDCFDCE934}" type="slidenum">
              <a:rPr lang="en-US" sz="1200">
                <a:solidFill>
                  <a:schemeClr val="tx1">
                    <a:lumMod val="50000"/>
                    <a:lumOff val="50000"/>
                  </a:schemeClr>
                </a:solidFill>
              </a:rPr>
              <a:pPr>
                <a:spcAft>
                  <a:spcPts val="600"/>
                </a:spcAft>
              </a:pPr>
              <a:t>17</a:t>
            </a:fld>
            <a:endParaRPr lang="en-US" sz="1200">
              <a:solidFill>
                <a:schemeClr val="tx1">
                  <a:lumMod val="50000"/>
                  <a:lumOff val="50000"/>
                </a:schemeClr>
              </a:solidFill>
            </a:endParaRPr>
          </a:p>
        </p:txBody>
      </p:sp>
      <p:pic>
        <p:nvPicPr>
          <p:cNvPr id="12" name="Picture 11" descr="Blue and black text with a black background&#10;&#10;AI-generated content may be incorrect.">
            <a:extLst>
              <a:ext uri="{FF2B5EF4-FFF2-40B4-BE49-F238E27FC236}">
                <a16:creationId xmlns:a16="http://schemas.microsoft.com/office/drawing/2014/main" id="{95C1E474-86BA-2F9A-89F7-01D86AFF8EB1}"/>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6" name="Rectangle 5">
            <a:extLst>
              <a:ext uri="{FF2B5EF4-FFF2-40B4-BE49-F238E27FC236}">
                <a16:creationId xmlns:a16="http://schemas.microsoft.com/office/drawing/2014/main" id="{E89F188E-4FCB-D57B-987E-3EF0E2D76A06}"/>
              </a:ext>
            </a:extLst>
          </p:cNvPr>
          <p:cNvSpPr/>
          <p:nvPr/>
        </p:nvSpPr>
        <p:spPr>
          <a:xfrm>
            <a:off x="524446" y="5694582"/>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BB43B61-AF17-C40F-3488-71A394A65F9B}"/>
              </a:ext>
            </a:extLst>
          </p:cNvPr>
          <p:cNvSpPr txBox="1"/>
          <p:nvPr/>
        </p:nvSpPr>
        <p:spPr>
          <a:xfrm>
            <a:off x="455440" y="5203060"/>
            <a:ext cx="2649834"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t>Syndrome = 11</a:t>
            </a:r>
            <a:endParaRPr lang="en-US" dirty="0"/>
          </a:p>
          <a:p>
            <a:endParaRPr lang="en-US" sz="1700" dirty="0"/>
          </a:p>
          <a:p>
            <a:r>
              <a:rPr lang="en-US" sz="1700" dirty="0"/>
              <a:t>     I ⊗</a:t>
            </a:r>
            <a:r>
              <a:rPr lang="en-US" sz="1700" dirty="0">
                <a:solidFill>
                  <a:srgbClr val="000000"/>
                </a:solidFill>
              </a:rPr>
              <a:t> </a:t>
            </a:r>
            <a:r>
              <a:rPr lang="en-US" sz="1700" dirty="0">
                <a:solidFill>
                  <a:srgbClr val="FF0000"/>
                </a:solidFill>
              </a:rPr>
              <a:t>X </a:t>
            </a:r>
            <a:r>
              <a:rPr lang="en-US" sz="1700" dirty="0"/>
              <a:t>⊗ I</a:t>
            </a:r>
          </a:p>
          <a:p>
            <a:r>
              <a:rPr lang="en-US" sz="1700" dirty="0"/>
              <a:t>    Z ⊗ Z ⊗ I</a:t>
            </a:r>
          </a:p>
          <a:p>
            <a:pPr algn="l"/>
            <a:endParaRPr lang="en-US" dirty="0"/>
          </a:p>
        </p:txBody>
      </p:sp>
      <p:pic>
        <p:nvPicPr>
          <p:cNvPr id="11" name="Graphic 10" descr="Close with solid fill">
            <a:extLst>
              <a:ext uri="{FF2B5EF4-FFF2-40B4-BE49-F238E27FC236}">
                <a16:creationId xmlns:a16="http://schemas.microsoft.com/office/drawing/2014/main" id="{84A9B364-B917-4A3B-683F-2806C9B1F54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9496" y="5533887"/>
            <a:ext cx="583096" cy="837097"/>
          </a:xfrm>
          <a:prstGeom prst="rect">
            <a:avLst/>
          </a:prstGeom>
        </p:spPr>
      </p:pic>
    </p:spTree>
    <p:extLst>
      <p:ext uri="{BB962C8B-B14F-4D97-AF65-F5344CB8AC3E}">
        <p14:creationId xmlns:p14="http://schemas.microsoft.com/office/powerpoint/2010/main" val="71512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106C25-4A75-004C-BA48-E3926AB7FAA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2FBD38-DB84-9D5B-EDE6-79092213F7C6}"/>
              </a:ext>
            </a:extLst>
          </p:cNvPr>
          <p:cNvSpPr>
            <a:spLocks noGrp="1"/>
          </p:cNvSpPr>
          <p:nvPr>
            <p:ph type="title"/>
          </p:nvPr>
        </p:nvSpPr>
        <p:spPr>
          <a:xfrm>
            <a:off x="1115568" y="548640"/>
            <a:ext cx="10168128" cy="1179576"/>
          </a:xfrm>
        </p:spPr>
        <p:txBody>
          <a:bodyPr>
            <a:normAutofit/>
          </a:bodyPr>
          <a:lstStyle/>
          <a:p>
            <a:r>
              <a:rPr lang="en-US" sz="4000" dirty="0"/>
              <a:t>Outline :</a:t>
            </a:r>
          </a:p>
        </p:txBody>
      </p:sp>
      <p:sp>
        <p:nvSpPr>
          <p:cNvPr id="18" name="Rectangle 1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A30F5CA-8F24-8F61-BDD4-2396782F468A}"/>
              </a:ext>
            </a:extLst>
          </p:cNvPr>
          <p:cNvSpPr>
            <a:spLocks noGrp="1"/>
          </p:cNvSpPr>
          <p:nvPr>
            <p:ph idx="1"/>
          </p:nvPr>
        </p:nvSpPr>
        <p:spPr>
          <a:xfrm>
            <a:off x="1115568" y="2481943"/>
            <a:ext cx="10168128" cy="3695020"/>
          </a:xfrm>
        </p:spPr>
        <p:txBody>
          <a:bodyPr vert="horz" lIns="91440" tIns="45720" rIns="91440" bIns="45720" rtlCol="0" anchor="t">
            <a:normAutofit/>
          </a:bodyPr>
          <a:lstStyle/>
          <a:p>
            <a:pPr marL="0" indent="0">
              <a:buNone/>
            </a:pPr>
            <a:r>
              <a:rPr lang="en-US" sz="2200" dirty="0">
                <a:solidFill>
                  <a:schemeClr val="bg1">
                    <a:lumMod val="85000"/>
                  </a:schemeClr>
                </a:solidFill>
              </a:rPr>
              <a:t>Classical Error Correction</a:t>
            </a:r>
          </a:p>
          <a:p>
            <a:pPr marL="0" indent="0">
              <a:buNone/>
            </a:pPr>
            <a:r>
              <a:rPr lang="en-US" sz="2200" dirty="0">
                <a:solidFill>
                  <a:schemeClr val="bg1">
                    <a:lumMod val="85000"/>
                  </a:schemeClr>
                </a:solidFill>
              </a:rPr>
              <a:t>Quantum Error Correction</a:t>
            </a:r>
          </a:p>
          <a:p>
            <a:pPr marL="342900" indent="-342900"/>
            <a:r>
              <a:rPr lang="en-US" sz="2200" dirty="0">
                <a:solidFill>
                  <a:schemeClr val="bg1">
                    <a:lumMod val="85000"/>
                  </a:schemeClr>
                </a:solidFill>
              </a:rPr>
              <a:t>Bit Flip Error</a:t>
            </a:r>
          </a:p>
          <a:p>
            <a:pPr marL="342900" indent="-342900"/>
            <a:r>
              <a:rPr lang="en-US" sz="2200" dirty="0"/>
              <a:t>Phase Flip Error </a:t>
            </a:r>
          </a:p>
          <a:p>
            <a:pPr marL="342900" indent="-342900"/>
            <a:r>
              <a:rPr lang="en-US" sz="2200" dirty="0">
                <a:solidFill>
                  <a:schemeClr val="bg1">
                    <a:lumMod val="85000"/>
                  </a:schemeClr>
                </a:solidFill>
              </a:rPr>
              <a:t>Shor's Code</a:t>
            </a:r>
            <a:r>
              <a:rPr lang="en-US" sz="2200" dirty="0"/>
              <a:t>  </a:t>
            </a:r>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p:txBody>
      </p:sp>
      <p:sp>
        <p:nvSpPr>
          <p:cNvPr id="4" name="Date Placeholder 3">
            <a:extLst>
              <a:ext uri="{FF2B5EF4-FFF2-40B4-BE49-F238E27FC236}">
                <a16:creationId xmlns:a16="http://schemas.microsoft.com/office/drawing/2014/main" id="{E7D2FDBB-E960-276C-647F-6F5C5CC75785}"/>
              </a:ext>
            </a:extLst>
          </p:cNvPr>
          <p:cNvSpPr>
            <a:spLocks noGrp="1"/>
          </p:cNvSpPr>
          <p:nvPr>
            <p:ph type="dt" sz="half" idx="10"/>
          </p:nvPr>
        </p:nvSpPr>
        <p:spPr>
          <a:xfrm>
            <a:off x="1115568" y="6356350"/>
            <a:ext cx="2743200" cy="365125"/>
          </a:xfrm>
        </p:spPr>
        <p:txBody>
          <a:bodyPr>
            <a:normAutofit/>
          </a:bodyPr>
          <a:lstStyle/>
          <a:p>
            <a:pPr>
              <a:spcAft>
                <a:spcPts val="600"/>
              </a:spcAft>
            </a:pPr>
            <a:fld id="{D0BC23F9-6708-4041-A8D9-0D8ED8937193}"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6FFA84F9-05CB-2C34-0EF9-2DD94CA521DF}"/>
              </a:ext>
            </a:extLst>
          </p:cNvPr>
          <p:cNvSpPr>
            <a:spLocks noGrp="1"/>
          </p:cNvSpPr>
          <p:nvPr>
            <p:ph type="sldNum" sz="quarter" idx="12"/>
          </p:nvPr>
        </p:nvSpPr>
        <p:spPr>
          <a:xfrm>
            <a:off x="8540496"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47EAA1E1-588A-F871-985E-7213942D4D5F}"/>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4B15F501-8BD4-816D-DB68-21AF41E6AAA8}"/>
              </a:ext>
            </a:extLst>
          </p:cNvPr>
          <p:cNvSpPr/>
          <p:nvPr/>
        </p:nvSpPr>
        <p:spPr>
          <a:xfrm>
            <a:off x="502410" y="6354077"/>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8225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7A4077-A528-A112-D80E-E75C642232F8}"/>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472153-EBCA-DBC1-FC99-3103B4DD3319}"/>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Phase Flip</a:t>
            </a:r>
          </a:p>
        </p:txBody>
      </p:sp>
      <p:sp>
        <p:nvSpPr>
          <p:cNvPr id="3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F19A69B3-5E16-F23F-C82F-CA6F50C4A332}"/>
              </a:ext>
            </a:extLst>
          </p:cNvPr>
          <p:cNvSpPr>
            <a:spLocks noGrp="1"/>
          </p:cNvSpPr>
          <p:nvPr>
            <p:ph type="body" sz="half" idx="2"/>
          </p:nvPr>
        </p:nvSpPr>
        <p:spPr>
          <a:xfrm>
            <a:off x="643031" y="2660904"/>
            <a:ext cx="5109173" cy="4043776"/>
          </a:xfrm>
        </p:spPr>
        <p:txBody>
          <a:bodyPr vert="horz" lIns="91440" tIns="45720" rIns="91440" bIns="45720" rtlCol="0" anchor="t">
            <a:normAutofit/>
          </a:bodyPr>
          <a:lstStyle/>
          <a:p>
            <a:pPr>
              <a:lnSpc>
                <a:spcPct val="90000"/>
              </a:lnSpc>
            </a:pPr>
            <a:r>
              <a:rPr lang="en-US" sz="1300" b="1" dirty="0"/>
              <a:t>Encoding :</a:t>
            </a:r>
            <a:endParaRPr lang="en-US" sz="1300" dirty="0"/>
          </a:p>
          <a:p>
            <a:pPr marL="228600" indent="-171450">
              <a:lnSpc>
                <a:spcPct val="90000"/>
              </a:lnSpc>
              <a:buChar char="•"/>
            </a:pPr>
            <a:r>
              <a:rPr lang="en-US" sz="1300" dirty="0"/>
              <a:t>Similar to the encoding process for bit-flip error correction, the phase-flip code protects a logical qubit from phase errors by distributing its information across three physical qubits.</a:t>
            </a:r>
          </a:p>
          <a:p>
            <a:pPr marL="228600" indent="-171450">
              <a:lnSpc>
                <a:spcPct val="90000"/>
              </a:lnSpc>
              <a:buChar char="•"/>
            </a:pPr>
            <a:r>
              <a:rPr lang="en-US" sz="1300" dirty="0"/>
              <a:t>The encoding begins by applying CNOT gates from the logical qubit to two ancilla qubits, creating entanglement in the computational basis. Then, Hadamard gates are applied to all three qubits to transform the state into the Z-basis.</a:t>
            </a:r>
          </a:p>
          <a:p>
            <a:pPr>
              <a:lnSpc>
                <a:spcPct val="90000"/>
              </a:lnSpc>
            </a:pPr>
            <a:br>
              <a:rPr lang="en-US" sz="1300" dirty="0"/>
            </a:br>
            <a:r>
              <a:rPr lang="en-US" sz="1300" dirty="0"/>
              <a:t> </a:t>
            </a:r>
          </a:p>
          <a:p>
            <a:pPr marL="57150">
              <a:lnSpc>
                <a:spcPct val="90000"/>
              </a:lnSpc>
            </a:pPr>
            <a:endParaRPr lang="en-US" sz="1300" dirty="0"/>
          </a:p>
          <a:p>
            <a:pPr marL="228600" indent="-171450">
              <a:lnSpc>
                <a:spcPct val="90000"/>
              </a:lnSpc>
              <a:buChar char="•"/>
            </a:pPr>
            <a:r>
              <a:rPr lang="en-US" sz="1300" dirty="0"/>
              <a:t> In this encoded form, the logical qubit’s information is spread across a superposition of basis states. If a phase-flip error (Z) occurs on any one of the physical qubits, it can be detected and corrected by using majority voting.</a:t>
            </a:r>
          </a:p>
          <a:p>
            <a:pPr>
              <a:lnSpc>
                <a:spcPct val="90000"/>
              </a:lnSpc>
            </a:pPr>
            <a:endParaRPr lang="en-US" sz="1300" b="1" dirty="0"/>
          </a:p>
        </p:txBody>
      </p:sp>
      <p:pic>
        <p:nvPicPr>
          <p:cNvPr id="9" name="Content Placeholder 8" descr="A diagram of a machine&#10;&#10;AI-generated content may be incorrect.">
            <a:extLst>
              <a:ext uri="{FF2B5EF4-FFF2-40B4-BE49-F238E27FC236}">
                <a16:creationId xmlns:a16="http://schemas.microsoft.com/office/drawing/2014/main" id="{FC24828C-7E3C-4857-79E4-057FC946320F}"/>
              </a:ext>
            </a:extLst>
          </p:cNvPr>
          <p:cNvPicPr>
            <a:picLocks noGrp="1" noChangeAspect="1"/>
          </p:cNvPicPr>
          <p:nvPr>
            <p:ph idx="1"/>
          </p:nvPr>
        </p:nvPicPr>
        <p:blipFill>
          <a:blip r:embed="rId2"/>
          <a:srcRect r="-1" b="34684"/>
          <a:stretch>
            <a:fillRect/>
          </a:stretch>
        </p:blipFill>
        <p:spPr>
          <a:xfrm>
            <a:off x="6099048" y="2663254"/>
            <a:ext cx="5458968" cy="3055492"/>
          </a:xfrm>
          <a:prstGeom prst="rect">
            <a:avLst/>
          </a:prstGeom>
        </p:spPr>
      </p:pic>
      <p:sp>
        <p:nvSpPr>
          <p:cNvPr id="5" name="Date Placeholder 4">
            <a:extLst>
              <a:ext uri="{FF2B5EF4-FFF2-40B4-BE49-F238E27FC236}">
                <a16:creationId xmlns:a16="http://schemas.microsoft.com/office/drawing/2014/main" id="{71E918D8-6173-8E48-21A5-46F505887438}"/>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2493DB19-84C1-45ED-9C5B-86D889BB5E38}" type="datetime1">
              <a:rPr lang="en-US" sz="1200">
                <a:solidFill>
                  <a:schemeClr val="tx1">
                    <a:tint val="75000"/>
                  </a:schemeClr>
                </a:solidFill>
              </a:rPr>
              <a:pPr>
                <a:spcAft>
                  <a:spcPts val="600"/>
                </a:spcAft>
              </a:pPr>
              <a:t>9/24/2025</a:t>
            </a:fld>
            <a:endParaRPr lang="en-US" sz="1200">
              <a:solidFill>
                <a:schemeClr val="tx1">
                  <a:tint val="75000"/>
                </a:schemeClr>
              </a:solidFill>
            </a:endParaRPr>
          </a:p>
        </p:txBody>
      </p:sp>
      <p:sp>
        <p:nvSpPr>
          <p:cNvPr id="7" name="Slide Number Placeholder 6">
            <a:extLst>
              <a:ext uri="{FF2B5EF4-FFF2-40B4-BE49-F238E27FC236}">
                <a16:creationId xmlns:a16="http://schemas.microsoft.com/office/drawing/2014/main" id="{B1E8FDD4-5A70-2CA3-CAFD-C681C028C81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C057153-B650-4DEB-B370-79DDCFDCE934}" type="slidenum">
              <a:rPr lang="en-US" sz="1200">
                <a:solidFill>
                  <a:schemeClr val="tx1">
                    <a:tint val="75000"/>
                  </a:schemeClr>
                </a:solidFill>
              </a:rPr>
              <a:pPr>
                <a:spcAft>
                  <a:spcPts val="600"/>
                </a:spcAft>
              </a:pPr>
              <a:t>19</a:t>
            </a:fld>
            <a:endParaRPr lang="en-US" sz="1200">
              <a:solidFill>
                <a:schemeClr val="tx1">
                  <a:tint val="75000"/>
                </a:schemeClr>
              </a:solidFill>
            </a:endParaRPr>
          </a:p>
        </p:txBody>
      </p:sp>
      <p:pic>
        <p:nvPicPr>
          <p:cNvPr id="8" name="Picture 7" descr="Blue and black text with a black background&#10;&#10;AI-generated content may be incorrect.">
            <a:extLst>
              <a:ext uri="{FF2B5EF4-FFF2-40B4-BE49-F238E27FC236}">
                <a16:creationId xmlns:a16="http://schemas.microsoft.com/office/drawing/2014/main" id="{C4D20B6F-816F-6948-700F-3040C2A579C3}"/>
              </a:ext>
            </a:extLst>
          </p:cNvPr>
          <p:cNvPicPr>
            <a:picLocks noChangeAspect="1"/>
          </p:cNvPicPr>
          <p:nvPr/>
        </p:nvPicPr>
        <p:blipFill>
          <a:blip r:embed="rId3"/>
          <a:stretch>
            <a:fillRect/>
          </a:stretch>
        </p:blipFill>
        <p:spPr>
          <a:xfrm>
            <a:off x="10745146" y="132080"/>
            <a:ext cx="1268108" cy="762000"/>
          </a:xfrm>
          <a:prstGeom prst="rect">
            <a:avLst/>
          </a:prstGeom>
        </p:spPr>
      </p:pic>
      <p:pic>
        <p:nvPicPr>
          <p:cNvPr id="6" name="Picture 5" descr="A black text with a line&#10;&#10;AI-generated content may be incorrect.">
            <a:extLst>
              <a:ext uri="{FF2B5EF4-FFF2-40B4-BE49-F238E27FC236}">
                <a16:creationId xmlns:a16="http://schemas.microsoft.com/office/drawing/2014/main" id="{DD0E3BC4-7135-CCC3-19D6-C67943FE4C2F}"/>
              </a:ext>
            </a:extLst>
          </p:cNvPr>
          <p:cNvPicPr>
            <a:picLocks noChangeAspect="1"/>
          </p:cNvPicPr>
          <p:nvPr/>
        </p:nvPicPr>
        <p:blipFill>
          <a:blip r:embed="rId4"/>
          <a:stretch>
            <a:fillRect/>
          </a:stretch>
        </p:blipFill>
        <p:spPr>
          <a:xfrm>
            <a:off x="1163452" y="4782312"/>
            <a:ext cx="3571875" cy="485775"/>
          </a:xfrm>
          <a:prstGeom prst="rect">
            <a:avLst/>
          </a:prstGeom>
        </p:spPr>
      </p:pic>
      <p:sp>
        <p:nvSpPr>
          <p:cNvPr id="10" name="Rectangle 9">
            <a:extLst>
              <a:ext uri="{FF2B5EF4-FFF2-40B4-BE49-F238E27FC236}">
                <a16:creationId xmlns:a16="http://schemas.microsoft.com/office/drawing/2014/main" id="{34458E5D-C174-EBA5-4336-9DBC8151F3BB}"/>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659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1611E5-FBFC-A34C-1042-0DA56CE50E65}"/>
              </a:ext>
            </a:extLst>
          </p:cNvPr>
          <p:cNvSpPr>
            <a:spLocks noGrp="1"/>
          </p:cNvSpPr>
          <p:nvPr>
            <p:ph type="title"/>
          </p:nvPr>
        </p:nvSpPr>
        <p:spPr>
          <a:xfrm>
            <a:off x="621792" y="1161288"/>
            <a:ext cx="3602736" cy="4526280"/>
          </a:xfrm>
        </p:spPr>
        <p:txBody>
          <a:bodyPr>
            <a:normAutofit/>
          </a:bodyPr>
          <a:lstStyle/>
          <a:p>
            <a:br>
              <a:rPr lang="en-US" sz="4000" dirty="0"/>
            </a:br>
            <a:br>
              <a:rPr lang="en-US" sz="4000" dirty="0"/>
            </a:br>
            <a:br>
              <a:rPr lang="en-US" sz="4000" dirty="0"/>
            </a:br>
            <a:r>
              <a:rPr lang="en-US" sz="4000" dirty="0"/>
              <a:t>Phase Flip</a:t>
            </a:r>
          </a:p>
        </p:txBody>
      </p:sp>
      <p:sp>
        <p:nvSpPr>
          <p:cNvPr id="18" name="Rectangle 17">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0ACFFDC-C797-A8C7-037A-9BF04D5CD4DC}"/>
              </a:ext>
            </a:extLst>
          </p:cNvPr>
          <p:cNvSpPr>
            <a:spLocks noGrp="1"/>
          </p:cNvSpPr>
          <p:nvPr>
            <p:ph idx="1"/>
          </p:nvPr>
        </p:nvSpPr>
        <p:spPr>
          <a:xfrm>
            <a:off x="5446244" y="1162498"/>
            <a:ext cx="6110126" cy="5198243"/>
          </a:xfrm>
        </p:spPr>
        <p:txBody>
          <a:bodyPr vert="horz" lIns="91440" tIns="45720" rIns="91440" bIns="45720" rtlCol="0" anchor="ctr">
            <a:normAutofit/>
          </a:bodyPr>
          <a:lstStyle/>
          <a:p>
            <a:pPr>
              <a:lnSpc>
                <a:spcPct val="110000"/>
              </a:lnSpc>
            </a:pPr>
            <a:r>
              <a:rPr lang="en-US" sz="1600" b="1" dirty="0">
                <a:latin typeface="Calibri"/>
                <a:ea typeface="Calibri"/>
                <a:cs typeface="Calibri"/>
              </a:rPr>
              <a:t>Error Simulation : </a:t>
            </a:r>
            <a:r>
              <a:rPr lang="en-US" sz="1600" dirty="0">
                <a:latin typeface="Calibri"/>
                <a:ea typeface="Calibri"/>
                <a:cs typeface="Calibri"/>
              </a:rPr>
              <a:t>Similar to the bit-flip error simulation, after encoding the logical qubit into three physical qubits, we simulate the effect of noise in a quantum system by introducing a controlled error.</a:t>
            </a:r>
            <a:br>
              <a:rPr lang="en-US" sz="1600" dirty="0">
                <a:latin typeface="Calibri"/>
                <a:ea typeface="Calibri"/>
                <a:cs typeface="Calibri"/>
              </a:rPr>
            </a:br>
            <a:r>
              <a:rPr lang="en-US" sz="1600" dirty="0">
                <a:latin typeface="Calibri"/>
                <a:ea typeface="Calibri"/>
                <a:cs typeface="Calibri"/>
              </a:rPr>
              <a:t> To simulate a phase-flip error, a Z gate is manually applied to one of the three qubits. This models dephasing noise, which alters the phase of the quantum state without flipping the bit.</a:t>
            </a:r>
            <a:endParaRPr lang="en-US" sz="1600" dirty="0"/>
          </a:p>
          <a:p>
            <a:pPr>
              <a:lnSpc>
                <a:spcPct val="110000"/>
              </a:lnSpc>
            </a:pPr>
            <a:r>
              <a:rPr lang="en-US" sz="1600" dirty="0">
                <a:latin typeface="Calibri"/>
                <a:ea typeface="Calibri"/>
                <a:cs typeface="Calibri"/>
              </a:rPr>
              <a:t>For example, applying a Z gate to the first qubit of the encoded state transforms the logical qubit as:</a:t>
            </a:r>
            <a:endParaRPr lang="en-US" sz="1600" dirty="0"/>
          </a:p>
          <a:p>
            <a:pPr marL="0" indent="0">
              <a:lnSpc>
                <a:spcPct val="110000"/>
              </a:lnSpc>
              <a:buNone/>
            </a:pPr>
            <a:r>
              <a:rPr lang="en-US" sz="1600" dirty="0">
                <a:latin typeface="Calibri"/>
                <a:ea typeface="Calibri"/>
                <a:cs typeface="Calibri"/>
              </a:rPr>
              <a:t>                                              Z</a:t>
            </a:r>
            <a:r>
              <a:rPr lang="en-US" sz="1600" baseline="-25000" dirty="0">
                <a:latin typeface="Calibri"/>
                <a:ea typeface="Calibri"/>
                <a:cs typeface="Calibri"/>
              </a:rPr>
              <a:t>0</a:t>
            </a:r>
            <a:r>
              <a:rPr lang="en-US" sz="1600" dirty="0">
                <a:latin typeface="Calibri"/>
                <a:ea typeface="Calibri"/>
                <a:cs typeface="Calibri"/>
              </a:rPr>
              <a:t>∣ψ</a:t>
            </a:r>
            <a:r>
              <a:rPr lang="en-US" sz="1600" baseline="-25000" dirty="0">
                <a:latin typeface="Calibri"/>
                <a:ea typeface="Calibri"/>
                <a:cs typeface="Calibri"/>
              </a:rPr>
              <a:t>L</a:t>
            </a:r>
            <a:r>
              <a:rPr lang="en-US" sz="1600" dirty="0">
                <a:latin typeface="Calibri"/>
                <a:ea typeface="Calibri"/>
                <a:cs typeface="Calibri"/>
              </a:rPr>
              <a:t>⟩ = α∣</a:t>
            </a:r>
            <a:r>
              <a:rPr lang="en-US" sz="1600" dirty="0">
                <a:solidFill>
                  <a:srgbClr val="FF0000"/>
                </a:solidFill>
                <a:latin typeface="Calibri"/>
                <a:ea typeface="Calibri"/>
                <a:cs typeface="Calibri"/>
              </a:rPr>
              <a:t>− </a:t>
            </a:r>
            <a:r>
              <a:rPr lang="en-US" sz="1600" dirty="0">
                <a:latin typeface="Calibri"/>
                <a:ea typeface="Calibri"/>
                <a:cs typeface="Calibri"/>
              </a:rPr>
              <a:t>+ +⟩ + β∣</a:t>
            </a:r>
            <a:r>
              <a:rPr lang="en-US" sz="1600" dirty="0">
                <a:solidFill>
                  <a:srgbClr val="FF0000"/>
                </a:solidFill>
                <a:latin typeface="Calibri"/>
                <a:ea typeface="Calibri"/>
                <a:cs typeface="Calibri"/>
              </a:rPr>
              <a:t>+</a:t>
            </a:r>
            <a:r>
              <a:rPr lang="en-US" sz="1600" dirty="0">
                <a:latin typeface="Calibri"/>
                <a:ea typeface="Calibri"/>
                <a:cs typeface="Calibri"/>
              </a:rPr>
              <a:t> − −⟩</a:t>
            </a:r>
            <a:endParaRPr lang="en-US" sz="1600" dirty="0"/>
          </a:p>
        </p:txBody>
      </p:sp>
      <p:sp>
        <p:nvSpPr>
          <p:cNvPr id="4" name="Date Placeholder 3">
            <a:extLst>
              <a:ext uri="{FF2B5EF4-FFF2-40B4-BE49-F238E27FC236}">
                <a16:creationId xmlns:a16="http://schemas.microsoft.com/office/drawing/2014/main" id="{013F0238-BACB-E4C2-F08A-F17BBEC61C71}"/>
              </a:ext>
            </a:extLst>
          </p:cNvPr>
          <p:cNvSpPr>
            <a:spLocks noGrp="1"/>
          </p:cNvSpPr>
          <p:nvPr>
            <p:ph type="dt" sz="half" idx="10"/>
          </p:nvPr>
        </p:nvSpPr>
        <p:spPr>
          <a:xfrm>
            <a:off x="621792" y="6356350"/>
            <a:ext cx="2743200" cy="365125"/>
          </a:xfrm>
        </p:spPr>
        <p:txBody>
          <a:bodyPr>
            <a:normAutofit/>
          </a:bodyPr>
          <a:lstStyle/>
          <a:p>
            <a:pPr>
              <a:spcAft>
                <a:spcPts val="600"/>
              </a:spcAft>
            </a:pPr>
            <a:fld id="{C4B7B623-1192-4887-8897-1EF7D50D6259}"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A7FA0DAA-3B4B-9A1B-5440-68798D6F09D0}"/>
              </a:ext>
            </a:extLst>
          </p:cNvPr>
          <p:cNvSpPr>
            <a:spLocks noGrp="1"/>
          </p:cNvSpPr>
          <p:nvPr>
            <p:ph type="sldNum" sz="quarter" idx="12"/>
          </p:nvPr>
        </p:nvSpPr>
        <p:spPr>
          <a:xfrm>
            <a:off x="10351362" y="6356350"/>
            <a:ext cx="1002437"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20</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7399FB12-3140-6860-91C7-1328AD01A5B3}"/>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00EDFBC2-B6E1-BD8E-959F-AF104811E361}"/>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8512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09E0D4-4159-A1E2-E1AC-8288EA057A7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3EB208-4CF5-4343-2E7A-6DFE04556751}"/>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400" kern="1200">
                <a:solidFill>
                  <a:schemeClr val="tx1"/>
                </a:solidFill>
                <a:latin typeface="+mj-lt"/>
                <a:ea typeface="+mj-ea"/>
                <a:cs typeface="+mj-cs"/>
              </a:rPr>
              <a:t>Phase Flip</a:t>
            </a:r>
          </a:p>
        </p:txBody>
      </p:sp>
      <p:pic>
        <p:nvPicPr>
          <p:cNvPr id="8" name="Content Placeholder 7" descr="A diagram of a recovery&#10;&#10;AI-generated content may be incorrect.">
            <a:extLst>
              <a:ext uri="{FF2B5EF4-FFF2-40B4-BE49-F238E27FC236}">
                <a16:creationId xmlns:a16="http://schemas.microsoft.com/office/drawing/2014/main" id="{A5964539-BB53-F347-3A11-FF9C114F594B}"/>
              </a:ext>
            </a:extLst>
          </p:cNvPr>
          <p:cNvPicPr>
            <a:picLocks noGrp="1" noChangeAspect="1"/>
          </p:cNvPicPr>
          <p:nvPr>
            <p:ph idx="1"/>
          </p:nvPr>
        </p:nvPicPr>
        <p:blipFill>
          <a:blip r:embed="rId2"/>
          <a:srcRect l="5116" r="1" b="1"/>
          <a:stretch>
            <a:fillRect/>
          </a:stretch>
        </p:blipFill>
        <p:spPr>
          <a:xfrm>
            <a:off x="316460" y="1317366"/>
            <a:ext cx="5458968" cy="5408602"/>
          </a:xfrm>
          <a:prstGeom prst="rect">
            <a:avLst/>
          </a:prstGeom>
        </p:spPr>
      </p:pic>
      <p:sp>
        <p:nvSpPr>
          <p:cNvPr id="20"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4CBFD697-0988-2A5D-B576-780243992B3A}"/>
              </a:ext>
            </a:extLst>
          </p:cNvPr>
          <p:cNvSpPr>
            <a:spLocks noGrp="1"/>
          </p:cNvSpPr>
          <p:nvPr>
            <p:ph type="body" sz="half" idx="2"/>
          </p:nvPr>
        </p:nvSpPr>
        <p:spPr>
          <a:xfrm>
            <a:off x="6739128" y="2664886"/>
            <a:ext cx="5000316" cy="4046693"/>
          </a:xfrm>
        </p:spPr>
        <p:txBody>
          <a:bodyPr vert="horz" lIns="91440" tIns="45720" rIns="91440" bIns="45720" rtlCol="0" anchor="t">
            <a:normAutofit/>
          </a:bodyPr>
          <a:lstStyle/>
          <a:p>
            <a:pPr>
              <a:lnSpc>
                <a:spcPct val="90000"/>
              </a:lnSpc>
            </a:pPr>
            <a:r>
              <a:rPr lang="en-US" sz="1400" b="1" dirty="0"/>
              <a:t>Error detection(Syndrome measurement):</a:t>
            </a:r>
            <a:endParaRPr lang="en-US" sz="1400" dirty="0"/>
          </a:p>
          <a:p>
            <a:pPr marL="342900" indent="-285750">
              <a:lnSpc>
                <a:spcPct val="90000"/>
              </a:lnSpc>
              <a:buChar char="•"/>
            </a:pPr>
            <a:r>
              <a:rPr lang="en-US" sz="1400" dirty="0"/>
              <a:t>Since Z errors are not directly observable in the computational basis, we apply Hadamard gates (H) to all three data qubits before the syndrome measurement. </a:t>
            </a:r>
          </a:p>
          <a:p>
            <a:pPr marL="342900" indent="-285750">
              <a:lnSpc>
                <a:spcPct val="90000"/>
              </a:lnSpc>
              <a:buChar char="•"/>
            </a:pPr>
            <a:r>
              <a:rPr lang="en-US" sz="1400" dirty="0"/>
              <a:t>The syndrome values remain the same:</a:t>
            </a:r>
          </a:p>
          <a:p>
            <a:pPr>
              <a:lnSpc>
                <a:spcPct val="90000"/>
              </a:lnSpc>
            </a:pPr>
            <a:r>
              <a:rPr lang="en-US" sz="1400" dirty="0"/>
              <a:t>                    </a:t>
            </a:r>
            <a:r>
              <a:rPr lang="en-US" sz="1400" b="1" dirty="0"/>
              <a:t>00</a:t>
            </a:r>
            <a:r>
              <a:rPr lang="en-US" sz="1400" dirty="0"/>
              <a:t> → No error</a:t>
            </a:r>
          </a:p>
          <a:p>
            <a:pPr>
              <a:lnSpc>
                <a:spcPct val="90000"/>
              </a:lnSpc>
            </a:pPr>
            <a:r>
              <a:rPr lang="en-US" sz="1400" dirty="0"/>
              <a:t>                    </a:t>
            </a:r>
            <a:r>
              <a:rPr lang="en-US" sz="1400" b="1" dirty="0"/>
              <a:t>01</a:t>
            </a:r>
            <a:r>
              <a:rPr lang="en-US" sz="1400" dirty="0"/>
              <a:t> → Error on qubit 3</a:t>
            </a:r>
          </a:p>
          <a:p>
            <a:pPr>
              <a:lnSpc>
                <a:spcPct val="90000"/>
              </a:lnSpc>
            </a:pPr>
            <a:r>
              <a:rPr lang="en-US" sz="1400" dirty="0"/>
              <a:t>                    </a:t>
            </a:r>
            <a:r>
              <a:rPr lang="en-US" sz="1400" b="1" dirty="0"/>
              <a:t>10</a:t>
            </a:r>
            <a:r>
              <a:rPr lang="en-US" sz="1400" dirty="0"/>
              <a:t> → Error on qubit 1</a:t>
            </a:r>
          </a:p>
          <a:p>
            <a:pPr>
              <a:lnSpc>
                <a:spcPct val="90000"/>
              </a:lnSpc>
            </a:pPr>
            <a:r>
              <a:rPr lang="en-US" sz="1400" dirty="0"/>
              <a:t>                    </a:t>
            </a:r>
            <a:r>
              <a:rPr lang="en-US" sz="1400" b="1" dirty="0"/>
              <a:t>11</a:t>
            </a:r>
            <a:r>
              <a:rPr lang="en-US" sz="1400" dirty="0"/>
              <a:t> → Error on qubit 2</a:t>
            </a:r>
          </a:p>
          <a:p>
            <a:pPr marL="342900" indent="-285750">
              <a:lnSpc>
                <a:spcPct val="90000"/>
              </a:lnSpc>
              <a:buChar char="•"/>
            </a:pPr>
            <a:r>
              <a:rPr lang="en-US" sz="1400" dirty="0"/>
              <a:t>Once the error location is identified, Hadamard gates are applied again to return to the Z-basis, and then a Z gate is applied to the affected qubit to reverse the phase-flip and recover the correct logical state.</a:t>
            </a:r>
          </a:p>
          <a:p>
            <a:pPr marL="285750" indent="-285750">
              <a:lnSpc>
                <a:spcPct val="90000"/>
              </a:lnSpc>
              <a:buChar char="•"/>
            </a:pPr>
            <a:endParaRPr lang="en-US" sz="1400" b="1" dirty="0"/>
          </a:p>
        </p:txBody>
      </p:sp>
      <p:sp>
        <p:nvSpPr>
          <p:cNvPr id="5" name="Date Placeholder 4">
            <a:extLst>
              <a:ext uri="{FF2B5EF4-FFF2-40B4-BE49-F238E27FC236}">
                <a16:creationId xmlns:a16="http://schemas.microsoft.com/office/drawing/2014/main" id="{21909DA9-81E0-B678-30DA-5AFA9E320EE9}"/>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2493DB19-84C1-45ED-9C5B-86D889BB5E38}" type="datetime1">
              <a:rPr lang="en-US" sz="1200">
                <a:solidFill>
                  <a:schemeClr val="tx1">
                    <a:tint val="75000"/>
                  </a:schemeClr>
                </a:solidFill>
              </a:rPr>
              <a:pPr>
                <a:spcAft>
                  <a:spcPts val="600"/>
                </a:spcAft>
                <a:defRPr/>
              </a:pPr>
              <a:t>9/24/2025</a:t>
            </a:fld>
            <a:endParaRPr lang="en-US" sz="1200">
              <a:solidFill>
                <a:schemeClr val="tx1">
                  <a:tint val="75000"/>
                </a:schemeClr>
              </a:solidFill>
            </a:endParaRPr>
          </a:p>
        </p:txBody>
      </p:sp>
      <p:sp>
        <p:nvSpPr>
          <p:cNvPr id="7" name="Slide Number Placeholder 6">
            <a:extLst>
              <a:ext uri="{FF2B5EF4-FFF2-40B4-BE49-F238E27FC236}">
                <a16:creationId xmlns:a16="http://schemas.microsoft.com/office/drawing/2014/main" id="{407B71B1-347E-CE85-72C8-0AD67A32728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CC057153-B650-4DEB-B370-79DDCFDCE934}" type="slidenum">
              <a:rPr lang="en-US" sz="1200">
                <a:solidFill>
                  <a:schemeClr val="tx1">
                    <a:tint val="75000"/>
                  </a:schemeClr>
                </a:solidFill>
              </a:rPr>
              <a:pPr>
                <a:spcAft>
                  <a:spcPts val="600"/>
                </a:spcAft>
                <a:defRPr/>
              </a:pPr>
              <a:t>21</a:t>
            </a:fld>
            <a:endParaRPr lang="en-US" sz="1200">
              <a:solidFill>
                <a:schemeClr val="tx1">
                  <a:tint val="75000"/>
                </a:schemeClr>
              </a:solidFill>
            </a:endParaRPr>
          </a:p>
        </p:txBody>
      </p:sp>
      <p:pic>
        <p:nvPicPr>
          <p:cNvPr id="6" name="Picture 5" descr="Blue and black text with a black background&#10;&#10;AI-generated content may be incorrect.">
            <a:extLst>
              <a:ext uri="{FF2B5EF4-FFF2-40B4-BE49-F238E27FC236}">
                <a16:creationId xmlns:a16="http://schemas.microsoft.com/office/drawing/2014/main" id="{16B18BFD-7A89-EABD-FC4A-FB01D8732036}"/>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9" name="Rectangle 8">
            <a:extLst>
              <a:ext uri="{FF2B5EF4-FFF2-40B4-BE49-F238E27FC236}">
                <a16:creationId xmlns:a16="http://schemas.microsoft.com/office/drawing/2014/main" id="{70993966-A2E6-B739-4DEB-36772E7B2BC7}"/>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8924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BC5AE-4735-7361-D1F1-90ED9CD72F8E}"/>
              </a:ext>
            </a:extLst>
          </p:cNvPr>
          <p:cNvSpPr>
            <a:spLocks noGrp="1"/>
          </p:cNvSpPr>
          <p:nvPr>
            <p:ph type="title"/>
          </p:nvPr>
        </p:nvSpPr>
        <p:spPr/>
        <p:txBody>
          <a:bodyPr/>
          <a:lstStyle/>
          <a:p>
            <a:r>
              <a:rPr lang="en-US" dirty="0"/>
              <a:t>Phase Flip Syndrome Table</a:t>
            </a:r>
          </a:p>
        </p:txBody>
      </p:sp>
      <p:sp>
        <p:nvSpPr>
          <p:cNvPr id="3" name="Date Placeholder 2">
            <a:extLst>
              <a:ext uri="{FF2B5EF4-FFF2-40B4-BE49-F238E27FC236}">
                <a16:creationId xmlns:a16="http://schemas.microsoft.com/office/drawing/2014/main" id="{702A1755-B4B6-AA4D-C603-9A8DB3068058}"/>
              </a:ext>
            </a:extLst>
          </p:cNvPr>
          <p:cNvSpPr>
            <a:spLocks noGrp="1"/>
          </p:cNvSpPr>
          <p:nvPr>
            <p:ph type="dt" sz="half" idx="10"/>
          </p:nvPr>
        </p:nvSpPr>
        <p:spPr/>
        <p:txBody>
          <a:bodyPr/>
          <a:lstStyle/>
          <a:p>
            <a:fld id="{C4B964CD-A386-4623-BF16-7CF3A8C8AFA6}" type="datetime1">
              <a:rPr lang="en-US"/>
              <a:t>9/24/2025</a:t>
            </a:fld>
            <a:endParaRPr lang="en-US" dirty="0"/>
          </a:p>
        </p:txBody>
      </p:sp>
      <p:sp>
        <p:nvSpPr>
          <p:cNvPr id="4" name="Slide Number Placeholder 3">
            <a:extLst>
              <a:ext uri="{FF2B5EF4-FFF2-40B4-BE49-F238E27FC236}">
                <a16:creationId xmlns:a16="http://schemas.microsoft.com/office/drawing/2014/main" id="{D418A335-83E9-F379-79EB-0722D6B87FDD}"/>
              </a:ext>
            </a:extLst>
          </p:cNvPr>
          <p:cNvSpPr>
            <a:spLocks noGrp="1"/>
          </p:cNvSpPr>
          <p:nvPr>
            <p:ph type="sldNum" sz="quarter" idx="12"/>
          </p:nvPr>
        </p:nvSpPr>
        <p:spPr/>
        <p:txBody>
          <a:bodyPr/>
          <a:lstStyle/>
          <a:p>
            <a:fld id="{CC057153-B650-4DEB-B370-79DDCFDCE934}" type="slidenum">
              <a:rPr lang="en-US" dirty="0"/>
              <a:t>22</a:t>
            </a:fld>
            <a:endParaRPr lang="en-US" dirty="0"/>
          </a:p>
        </p:txBody>
      </p:sp>
      <p:pic>
        <p:nvPicPr>
          <p:cNvPr id="5" name="Picture 4">
            <a:extLst>
              <a:ext uri="{FF2B5EF4-FFF2-40B4-BE49-F238E27FC236}">
                <a16:creationId xmlns:a16="http://schemas.microsoft.com/office/drawing/2014/main" id="{06C2F16E-039E-8C74-9AF3-0A289A68BE56}"/>
              </a:ext>
            </a:extLst>
          </p:cNvPr>
          <p:cNvPicPr>
            <a:picLocks noChangeAspect="1"/>
          </p:cNvPicPr>
          <p:nvPr/>
        </p:nvPicPr>
        <p:blipFill>
          <a:blip r:embed="rId2"/>
          <a:stretch>
            <a:fillRect/>
          </a:stretch>
        </p:blipFill>
        <p:spPr>
          <a:xfrm>
            <a:off x="0" y="2051394"/>
            <a:ext cx="12192000" cy="2755212"/>
          </a:xfrm>
          <a:prstGeom prst="rect">
            <a:avLst/>
          </a:prstGeom>
        </p:spPr>
      </p:pic>
      <p:sp>
        <p:nvSpPr>
          <p:cNvPr id="6" name="TextBox 5">
            <a:extLst>
              <a:ext uri="{FF2B5EF4-FFF2-40B4-BE49-F238E27FC236}">
                <a16:creationId xmlns:a16="http://schemas.microsoft.com/office/drawing/2014/main" id="{4C5F6181-2C26-1D8A-2F15-A0DAD7A8C28C}"/>
              </a:ext>
            </a:extLst>
          </p:cNvPr>
          <p:cNvSpPr txBox="1"/>
          <p:nvPr/>
        </p:nvSpPr>
        <p:spPr>
          <a:xfrm>
            <a:off x="220819" y="5410079"/>
            <a:ext cx="11720048"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Calibri"/>
                <a:ea typeface="Calibri"/>
                <a:cs typeface="Calibri"/>
              </a:rPr>
              <a:t>According to the syndrome measurement apply Z gate to that particular qubit and the logical qubit will be error-free.  </a:t>
            </a:r>
            <a:endParaRPr lang="en-US"/>
          </a:p>
          <a:p>
            <a:pPr algn="l"/>
            <a:endParaRPr lang="en-US" dirty="0"/>
          </a:p>
        </p:txBody>
      </p:sp>
      <p:pic>
        <p:nvPicPr>
          <p:cNvPr id="8" name="Picture 7" descr="Blue and black text with a black background&#10;&#10;AI-generated content may be incorrect.">
            <a:extLst>
              <a:ext uri="{FF2B5EF4-FFF2-40B4-BE49-F238E27FC236}">
                <a16:creationId xmlns:a16="http://schemas.microsoft.com/office/drawing/2014/main" id="{6E4821B5-694A-E851-BC5B-1742C8C3F4EF}"/>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9" name="Rectangle 8">
            <a:extLst>
              <a:ext uri="{FF2B5EF4-FFF2-40B4-BE49-F238E27FC236}">
                <a16:creationId xmlns:a16="http://schemas.microsoft.com/office/drawing/2014/main" id="{96B91A00-4F38-3A7A-ABD6-5CB2D339B9F7}"/>
              </a:ext>
            </a:extLst>
          </p:cNvPr>
          <p:cNvSpPr/>
          <p:nvPr/>
        </p:nvSpPr>
        <p:spPr>
          <a:xfrm>
            <a:off x="226323" y="6398251"/>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8737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FDA948-5CF6-608A-B044-A75B01F888C7}"/>
              </a:ext>
            </a:extLst>
          </p:cNvPr>
          <p:cNvSpPr>
            <a:spLocks noGrp="1"/>
          </p:cNvSpPr>
          <p:nvPr>
            <p:ph type="title"/>
          </p:nvPr>
        </p:nvSpPr>
        <p:spPr>
          <a:xfrm>
            <a:off x="371094" y="1161288"/>
            <a:ext cx="3438144" cy="1239012"/>
          </a:xfrm>
        </p:spPr>
        <p:txBody>
          <a:bodyPr vert="horz" lIns="91440" tIns="45720" rIns="91440" bIns="45720" rtlCol="0" anchor="ctr">
            <a:normAutofit/>
          </a:bodyPr>
          <a:lstStyle/>
          <a:p>
            <a:r>
              <a:rPr lang="en-US" sz="2800" kern="1200">
                <a:solidFill>
                  <a:schemeClr val="tx1"/>
                </a:solidFill>
                <a:latin typeface="+mj-lt"/>
                <a:ea typeface="+mj-ea"/>
                <a:cs typeface="+mj-cs"/>
              </a:rPr>
              <a:t>Stabilizers for Phase Flip</a:t>
            </a:r>
          </a:p>
        </p:txBody>
      </p:sp>
      <p:sp>
        <p:nvSpPr>
          <p:cNvPr id="20" name="Rectangle 19">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65AF3A6E-1EBC-F276-12F6-373A6229E1A5}"/>
              </a:ext>
            </a:extLst>
          </p:cNvPr>
          <p:cNvSpPr txBox="1"/>
          <p:nvPr/>
        </p:nvSpPr>
        <p:spPr>
          <a:xfrm>
            <a:off x="371094" y="2718054"/>
            <a:ext cx="3416820" cy="216917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1700" dirty="0"/>
          </a:p>
          <a:p>
            <a:pPr>
              <a:lnSpc>
                <a:spcPct val="90000"/>
              </a:lnSpc>
              <a:spcAft>
                <a:spcPts val="600"/>
              </a:spcAft>
            </a:pPr>
            <a:r>
              <a:rPr lang="en-US" sz="1700" dirty="0"/>
              <a:t>            X⊗X⊗I</a:t>
            </a:r>
            <a:endParaRPr lang="en-US" dirty="0"/>
          </a:p>
          <a:p>
            <a:pPr>
              <a:lnSpc>
                <a:spcPct val="90000"/>
              </a:lnSpc>
              <a:spcAft>
                <a:spcPts val="600"/>
              </a:spcAft>
            </a:pPr>
            <a:r>
              <a:rPr lang="en-US" sz="1700" dirty="0"/>
              <a:t>            I⊗X⊗X</a:t>
            </a:r>
          </a:p>
          <a:p>
            <a:pPr>
              <a:lnSpc>
                <a:spcPct val="90000"/>
              </a:lnSpc>
              <a:spcAft>
                <a:spcPts val="600"/>
              </a:spcAft>
            </a:pPr>
            <a:endParaRPr lang="en-US" sz="1700"/>
          </a:p>
          <a:p>
            <a:pPr>
              <a:lnSpc>
                <a:spcPct val="90000"/>
              </a:lnSpc>
              <a:spcAft>
                <a:spcPts val="600"/>
              </a:spcAft>
            </a:pPr>
            <a:r>
              <a:rPr lang="en-US" sz="1700" dirty="0"/>
              <a:t>So, here X⊗X checks the parity between two qubits</a:t>
            </a:r>
          </a:p>
        </p:txBody>
      </p:sp>
      <p:pic>
        <p:nvPicPr>
          <p:cNvPr id="6" name="Content Placeholder 5" descr="A graph with blue circles and red squares&#10;&#10;AI-generated content may be incorrect.">
            <a:extLst>
              <a:ext uri="{FF2B5EF4-FFF2-40B4-BE49-F238E27FC236}">
                <a16:creationId xmlns:a16="http://schemas.microsoft.com/office/drawing/2014/main" id="{D6727999-C0E8-02C1-08BD-CBD36C207E80}"/>
              </a:ext>
            </a:extLst>
          </p:cNvPr>
          <p:cNvPicPr>
            <a:picLocks noGrp="1" noChangeAspect="1"/>
          </p:cNvPicPr>
          <p:nvPr>
            <p:ph idx="1"/>
          </p:nvPr>
        </p:nvPicPr>
        <p:blipFill>
          <a:blip r:embed="rId2"/>
          <a:stretch>
            <a:fillRect/>
          </a:stretch>
        </p:blipFill>
        <p:spPr>
          <a:xfrm>
            <a:off x="4901184" y="2051628"/>
            <a:ext cx="6922008" cy="2855328"/>
          </a:xfrm>
          <a:prstGeom prst="rect">
            <a:avLst/>
          </a:prstGeom>
        </p:spPr>
      </p:pic>
      <p:sp>
        <p:nvSpPr>
          <p:cNvPr id="4" name="Date Placeholder 3">
            <a:extLst>
              <a:ext uri="{FF2B5EF4-FFF2-40B4-BE49-F238E27FC236}">
                <a16:creationId xmlns:a16="http://schemas.microsoft.com/office/drawing/2014/main" id="{9462BCF3-0EE1-2053-5464-53DA7FF5D140}"/>
              </a:ext>
            </a:extLst>
          </p:cNvPr>
          <p:cNvSpPr>
            <a:spLocks noGrp="1"/>
          </p:cNvSpPr>
          <p:nvPr>
            <p:ph type="dt" sz="half" idx="10"/>
          </p:nvPr>
        </p:nvSpPr>
        <p:spPr>
          <a:xfrm>
            <a:off x="374904" y="6356350"/>
            <a:ext cx="2743200" cy="365125"/>
          </a:xfrm>
        </p:spPr>
        <p:txBody>
          <a:bodyPr vert="horz" lIns="91440" tIns="45720" rIns="91440" bIns="45720" rtlCol="0" anchor="ctr">
            <a:normAutofit/>
          </a:bodyPr>
          <a:lstStyle/>
          <a:p>
            <a:pPr>
              <a:spcAft>
                <a:spcPts val="600"/>
              </a:spcAft>
            </a:pPr>
            <a:fld id="{8F69BCC9-70B5-4D8E-B5FB-50017DFD980F}" type="datetime1">
              <a:rPr lang="en-US" sz="1200">
                <a:solidFill>
                  <a:schemeClr val="tx1">
                    <a:lumMod val="50000"/>
                    <a:lumOff val="50000"/>
                  </a:schemeClr>
                </a:solidFill>
              </a:rPr>
              <a:pPr>
                <a:spcAft>
                  <a:spcPts val="600"/>
                </a:spcAft>
              </a:pPr>
              <a:t>9/24/2025</a:t>
            </a:fld>
            <a:endParaRPr lang="en-US" sz="12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5683E800-EA59-88F8-C8F3-B3F644041F12}"/>
              </a:ext>
            </a:extLst>
          </p:cNvPr>
          <p:cNvSpPr>
            <a:spLocks noGrp="1"/>
          </p:cNvSpPr>
          <p:nvPr>
            <p:ph type="sldNum" sz="quarter" idx="12"/>
          </p:nvPr>
        </p:nvSpPr>
        <p:spPr>
          <a:xfrm>
            <a:off x="9695688" y="6356350"/>
            <a:ext cx="2121408" cy="365125"/>
          </a:xfrm>
        </p:spPr>
        <p:txBody>
          <a:bodyPr vert="horz" lIns="91440" tIns="45720" rIns="91440" bIns="45720" rtlCol="0" anchor="ctr">
            <a:normAutofit/>
          </a:bodyPr>
          <a:lstStyle/>
          <a:p>
            <a:pPr>
              <a:spcAft>
                <a:spcPts val="600"/>
              </a:spcAft>
            </a:pPr>
            <a:fld id="{CC057153-B650-4DEB-B370-79DDCFDCE934}" type="slidenum">
              <a:rPr lang="en-US" sz="1200">
                <a:solidFill>
                  <a:schemeClr val="tx1">
                    <a:lumMod val="50000"/>
                    <a:lumOff val="50000"/>
                  </a:schemeClr>
                </a:solidFill>
              </a:rPr>
              <a:pPr>
                <a:spcAft>
                  <a:spcPts val="600"/>
                </a:spcAft>
              </a:pPr>
              <a:t>23</a:t>
            </a:fld>
            <a:endParaRPr lang="en-US" sz="1200">
              <a:solidFill>
                <a:schemeClr val="tx1">
                  <a:lumMod val="50000"/>
                  <a:lumOff val="50000"/>
                </a:schemeClr>
              </a:solidFill>
            </a:endParaRPr>
          </a:p>
        </p:txBody>
      </p:sp>
      <p:pic>
        <p:nvPicPr>
          <p:cNvPr id="9" name="Picture 8" descr="Blue and black text with a black background&#10;&#10;AI-generated content may be incorrect.">
            <a:extLst>
              <a:ext uri="{FF2B5EF4-FFF2-40B4-BE49-F238E27FC236}">
                <a16:creationId xmlns:a16="http://schemas.microsoft.com/office/drawing/2014/main" id="{05052E61-671D-FD60-3DC9-27165C5B3638}"/>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F77CEA0D-CB14-31D9-7F76-9FF7579800CA}"/>
              </a:ext>
            </a:extLst>
          </p:cNvPr>
          <p:cNvSpPr/>
          <p:nvPr/>
        </p:nvSpPr>
        <p:spPr>
          <a:xfrm>
            <a:off x="5453" y="6365120"/>
            <a:ext cx="1904431" cy="3339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07B404D-9E96-4D7E-8DE5-D6EC9024A445}"/>
              </a:ext>
            </a:extLst>
          </p:cNvPr>
          <p:cNvSpPr txBox="1"/>
          <p:nvPr/>
        </p:nvSpPr>
        <p:spPr>
          <a:xfrm>
            <a:off x="704573" y="4680226"/>
            <a:ext cx="2743200"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cs typeface="Segoe UI"/>
              </a:rPr>
              <a:t>Syndrome = 10​</a:t>
            </a:r>
          </a:p>
          <a:p>
            <a:r>
              <a:rPr lang="en-US" sz="1700" dirty="0">
                <a:cs typeface="Segoe UI"/>
              </a:rPr>
              <a:t>​</a:t>
            </a:r>
          </a:p>
          <a:p>
            <a:r>
              <a:rPr lang="en-US" sz="1700" dirty="0">
                <a:cs typeface="Segoe UI"/>
              </a:rPr>
              <a:t>     </a:t>
            </a:r>
            <a:r>
              <a:rPr lang="en-US" sz="1700" dirty="0">
                <a:solidFill>
                  <a:srgbClr val="FF0000"/>
                </a:solidFill>
                <a:cs typeface="Segoe UI"/>
              </a:rPr>
              <a:t>Z </a:t>
            </a:r>
            <a:r>
              <a:rPr lang="en-US" sz="1700" dirty="0">
                <a:cs typeface="Segoe UI"/>
              </a:rPr>
              <a:t>⊗ </a:t>
            </a:r>
            <a:r>
              <a:rPr lang="en-US" sz="1700" dirty="0">
                <a:solidFill>
                  <a:srgbClr val="000000"/>
                </a:solidFill>
                <a:cs typeface="Segoe UI"/>
              </a:rPr>
              <a:t>I</a:t>
            </a:r>
            <a:r>
              <a:rPr lang="en-US" sz="1700" dirty="0">
                <a:solidFill>
                  <a:srgbClr val="FF0000"/>
                </a:solidFill>
                <a:cs typeface="Segoe UI"/>
              </a:rPr>
              <a:t> </a:t>
            </a:r>
            <a:r>
              <a:rPr lang="en-US" sz="1700" dirty="0">
                <a:cs typeface="Segoe UI"/>
              </a:rPr>
              <a:t>⊗ I​</a:t>
            </a:r>
          </a:p>
          <a:p>
            <a:r>
              <a:rPr lang="en-US" sz="1700" dirty="0">
                <a:cs typeface="Segoe UI"/>
              </a:rPr>
              <a:t>    I ⊗ X ⊗ X​</a:t>
            </a:r>
          </a:p>
          <a:p>
            <a:r>
              <a:rPr lang="en-US" dirty="0">
                <a:cs typeface="Segoe UI"/>
              </a:rPr>
              <a:t>​</a:t>
            </a:r>
          </a:p>
        </p:txBody>
      </p:sp>
      <p:pic>
        <p:nvPicPr>
          <p:cNvPr id="10" name="Graphic 9" descr="Line arrow: Rotate left with solid fill">
            <a:extLst>
              <a:ext uri="{FF2B5EF4-FFF2-40B4-BE49-F238E27FC236}">
                <a16:creationId xmlns:a16="http://schemas.microsoft.com/office/drawing/2014/main" id="{A855B81A-5595-74B3-E6B9-187980F04F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8300000">
            <a:off x="514627" y="5235713"/>
            <a:ext cx="538922" cy="561009"/>
          </a:xfrm>
          <a:prstGeom prst="rect">
            <a:avLst/>
          </a:prstGeom>
        </p:spPr>
      </p:pic>
      <p:sp>
        <p:nvSpPr>
          <p:cNvPr id="11" name="TextBox 10">
            <a:extLst>
              <a:ext uri="{FF2B5EF4-FFF2-40B4-BE49-F238E27FC236}">
                <a16:creationId xmlns:a16="http://schemas.microsoft.com/office/drawing/2014/main" id="{1B060ED0-31F8-1BF0-E68A-1B2EFDFFB2D4}"/>
              </a:ext>
            </a:extLst>
          </p:cNvPr>
          <p:cNvSpPr txBox="1"/>
          <p:nvPr/>
        </p:nvSpPr>
        <p:spPr>
          <a:xfrm>
            <a:off x="585215" y="5757716"/>
            <a:ext cx="164234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dirty="0"/>
              <a:t>Commute</a:t>
            </a:r>
          </a:p>
        </p:txBody>
      </p:sp>
      <p:sp>
        <p:nvSpPr>
          <p:cNvPr id="12" name="Rectangle 11">
            <a:extLst>
              <a:ext uri="{FF2B5EF4-FFF2-40B4-BE49-F238E27FC236}">
                <a16:creationId xmlns:a16="http://schemas.microsoft.com/office/drawing/2014/main" id="{79CC50FE-D371-531C-A3FA-211CFC0CB044}"/>
              </a:ext>
            </a:extLst>
          </p:cNvPr>
          <p:cNvSpPr/>
          <p:nvPr/>
        </p:nvSpPr>
        <p:spPr>
          <a:xfrm>
            <a:off x="259061" y="4680226"/>
            <a:ext cx="2544531" cy="15395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Syndrome = 10</a:t>
            </a:r>
          </a:p>
          <a:p>
            <a:pPr algn="ctr"/>
            <a:endParaRPr lang="en-US" dirty="0">
              <a:solidFill>
                <a:schemeClr val="tx1"/>
              </a:solidFill>
            </a:endParaRPr>
          </a:p>
          <a:p>
            <a:pPr algn="ctr"/>
            <a:r>
              <a:rPr lang="en-US" dirty="0">
                <a:solidFill>
                  <a:schemeClr val="tx1"/>
                </a:solidFill>
              </a:rPr>
              <a:t>     </a:t>
            </a:r>
            <a:r>
              <a:rPr lang="en-US" dirty="0">
                <a:solidFill>
                  <a:srgbClr val="FF0000"/>
                </a:solidFill>
              </a:rPr>
              <a:t>Z</a:t>
            </a:r>
            <a:r>
              <a:rPr lang="en-US" dirty="0">
                <a:solidFill>
                  <a:schemeClr val="tx1"/>
                </a:solidFill>
              </a:rPr>
              <a:t> ⊗ I ⊗ I</a:t>
            </a:r>
          </a:p>
          <a:p>
            <a:pPr algn="ctr"/>
            <a:r>
              <a:rPr lang="en-US" dirty="0">
                <a:solidFill>
                  <a:schemeClr val="tx1"/>
                </a:solidFill>
              </a:rPr>
              <a:t>    X ⊗ X ⊗ I</a:t>
            </a:r>
          </a:p>
          <a:p>
            <a:pPr algn="ctr"/>
            <a:endParaRPr lang="en-US" dirty="0">
              <a:solidFill>
                <a:schemeClr val="tx1"/>
              </a:solidFill>
            </a:endParaRPr>
          </a:p>
        </p:txBody>
      </p:sp>
      <p:pic>
        <p:nvPicPr>
          <p:cNvPr id="13" name="Graphic 12" descr="Close with solid fill">
            <a:extLst>
              <a:ext uri="{FF2B5EF4-FFF2-40B4-BE49-F238E27FC236}">
                <a16:creationId xmlns:a16="http://schemas.microsoft.com/office/drawing/2014/main" id="{414E7E6B-8E0F-4A24-E8A4-B26F28306F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2817" y="5160071"/>
            <a:ext cx="490422" cy="837097"/>
          </a:xfrm>
          <a:prstGeom prst="rect">
            <a:avLst/>
          </a:prstGeom>
        </p:spPr>
      </p:pic>
    </p:spTree>
    <p:extLst>
      <p:ext uri="{BB962C8B-B14F-4D97-AF65-F5344CB8AC3E}">
        <p14:creationId xmlns:p14="http://schemas.microsoft.com/office/powerpoint/2010/main" val="191962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11" grpId="0"/>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C886B6-D59E-9174-12FE-B9BC1B71616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BEC682-18FC-4E9B-4F83-D45423D73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42F7997-1AB3-F05D-95E4-828A7AD39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666D30CA-FED0-8D11-D825-378D23FF25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035733-3F5C-FFBC-0E5A-6B78223DC211}"/>
              </a:ext>
            </a:extLst>
          </p:cNvPr>
          <p:cNvSpPr>
            <a:spLocks noGrp="1"/>
          </p:cNvSpPr>
          <p:nvPr>
            <p:ph type="title"/>
          </p:nvPr>
        </p:nvSpPr>
        <p:spPr>
          <a:xfrm>
            <a:off x="1115568" y="548640"/>
            <a:ext cx="10168128" cy="1179576"/>
          </a:xfrm>
        </p:spPr>
        <p:txBody>
          <a:bodyPr>
            <a:normAutofit/>
          </a:bodyPr>
          <a:lstStyle/>
          <a:p>
            <a:r>
              <a:rPr lang="en-US" sz="4000"/>
              <a:t>Outline :</a:t>
            </a:r>
          </a:p>
        </p:txBody>
      </p:sp>
      <p:sp>
        <p:nvSpPr>
          <p:cNvPr id="18" name="Rectangle 17">
            <a:extLst>
              <a:ext uri="{FF2B5EF4-FFF2-40B4-BE49-F238E27FC236}">
                <a16:creationId xmlns:a16="http://schemas.microsoft.com/office/drawing/2014/main" id="{7882284F-594B-5ED9-A037-E237253C3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2794ABE-11B9-D3D4-A30C-995D32467CC7}"/>
              </a:ext>
            </a:extLst>
          </p:cNvPr>
          <p:cNvSpPr>
            <a:spLocks noGrp="1"/>
          </p:cNvSpPr>
          <p:nvPr>
            <p:ph idx="1"/>
          </p:nvPr>
        </p:nvSpPr>
        <p:spPr>
          <a:xfrm>
            <a:off x="1115568" y="2481943"/>
            <a:ext cx="10168128" cy="3695020"/>
          </a:xfrm>
        </p:spPr>
        <p:txBody>
          <a:bodyPr vert="horz" lIns="91440" tIns="45720" rIns="91440" bIns="45720" rtlCol="0" anchor="t">
            <a:normAutofit/>
          </a:bodyPr>
          <a:lstStyle/>
          <a:p>
            <a:pPr marL="0" indent="0">
              <a:buNone/>
            </a:pPr>
            <a:r>
              <a:rPr lang="en-US" sz="2200" dirty="0">
                <a:solidFill>
                  <a:schemeClr val="bg1">
                    <a:lumMod val="85000"/>
                  </a:schemeClr>
                </a:solidFill>
              </a:rPr>
              <a:t>Classical Error Correction</a:t>
            </a:r>
          </a:p>
          <a:p>
            <a:pPr marL="0" indent="0">
              <a:buNone/>
            </a:pPr>
            <a:r>
              <a:rPr lang="en-US" sz="2200" dirty="0">
                <a:solidFill>
                  <a:schemeClr val="bg1">
                    <a:lumMod val="85000"/>
                  </a:schemeClr>
                </a:solidFill>
              </a:rPr>
              <a:t>Quantum Error Correction</a:t>
            </a:r>
          </a:p>
          <a:p>
            <a:pPr marL="342900" indent="-342900"/>
            <a:r>
              <a:rPr lang="en-US" sz="2200" dirty="0">
                <a:solidFill>
                  <a:schemeClr val="bg1">
                    <a:lumMod val="85000"/>
                  </a:schemeClr>
                </a:solidFill>
              </a:rPr>
              <a:t>Bit Flip Error</a:t>
            </a:r>
          </a:p>
          <a:p>
            <a:pPr marL="342900" indent="-342900"/>
            <a:r>
              <a:rPr lang="en-US" sz="2200" dirty="0">
                <a:solidFill>
                  <a:schemeClr val="bg1">
                    <a:lumMod val="85000"/>
                  </a:schemeClr>
                </a:solidFill>
              </a:rPr>
              <a:t>Phase Flip Error </a:t>
            </a:r>
          </a:p>
          <a:p>
            <a:pPr marL="342900" indent="-342900"/>
            <a:r>
              <a:rPr lang="en-US" sz="2200" dirty="0"/>
              <a:t>Shor's Code  </a:t>
            </a:r>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a:p>
            <a:pPr marL="0" indent="0">
              <a:buNone/>
            </a:pPr>
            <a:endParaRPr lang="en-US" sz="2200"/>
          </a:p>
        </p:txBody>
      </p:sp>
      <p:sp>
        <p:nvSpPr>
          <p:cNvPr id="4" name="Date Placeholder 3">
            <a:extLst>
              <a:ext uri="{FF2B5EF4-FFF2-40B4-BE49-F238E27FC236}">
                <a16:creationId xmlns:a16="http://schemas.microsoft.com/office/drawing/2014/main" id="{6EB91941-A6BC-EECD-F034-E7D73DF3DD23}"/>
              </a:ext>
            </a:extLst>
          </p:cNvPr>
          <p:cNvSpPr>
            <a:spLocks noGrp="1"/>
          </p:cNvSpPr>
          <p:nvPr>
            <p:ph type="dt" sz="half" idx="10"/>
          </p:nvPr>
        </p:nvSpPr>
        <p:spPr>
          <a:xfrm>
            <a:off x="1115568" y="6356350"/>
            <a:ext cx="2743200" cy="365125"/>
          </a:xfrm>
        </p:spPr>
        <p:txBody>
          <a:bodyPr>
            <a:normAutofit/>
          </a:bodyPr>
          <a:lstStyle/>
          <a:p>
            <a:pPr>
              <a:spcAft>
                <a:spcPts val="600"/>
              </a:spcAft>
            </a:pPr>
            <a:fld id="{D0BC23F9-6708-4041-A8D9-0D8ED8937193}"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6CF249E5-C226-F99B-76FA-FE025F3637B7}"/>
              </a:ext>
            </a:extLst>
          </p:cNvPr>
          <p:cNvSpPr>
            <a:spLocks noGrp="1"/>
          </p:cNvSpPr>
          <p:nvPr>
            <p:ph type="sldNum" sz="quarter" idx="12"/>
          </p:nvPr>
        </p:nvSpPr>
        <p:spPr>
          <a:xfrm>
            <a:off x="8540496" y="6356350"/>
            <a:ext cx="2743200"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24</a:t>
            </a:fld>
            <a:endParaRPr lang="en-US">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39D6B772-3D10-0260-CD69-00AE3C5D6EC1}"/>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8" name="Rectangle 7">
            <a:extLst>
              <a:ext uri="{FF2B5EF4-FFF2-40B4-BE49-F238E27FC236}">
                <a16:creationId xmlns:a16="http://schemas.microsoft.com/office/drawing/2014/main" id="{10FAA515-E795-53F3-8D69-9AE6E548073F}"/>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0070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1D9A5-1898-895B-E9AD-0C83F5751FA0}"/>
              </a:ext>
            </a:extLst>
          </p:cNvPr>
          <p:cNvSpPr>
            <a:spLocks noGrp="1"/>
          </p:cNvSpPr>
          <p:nvPr>
            <p:ph type="title"/>
          </p:nvPr>
        </p:nvSpPr>
        <p:spPr/>
        <p:txBody>
          <a:bodyPr/>
          <a:lstStyle/>
          <a:p>
            <a:r>
              <a:rPr lang="en-US" dirty="0"/>
              <a:t>Shor's Code [[9,1,3]]</a:t>
            </a:r>
          </a:p>
        </p:txBody>
      </p:sp>
      <p:pic>
        <p:nvPicPr>
          <p:cNvPr id="7" name="Content Placeholder 6" descr="A group of dots with different colors&#10;&#10;AI-generated content may be incorrect.">
            <a:extLst>
              <a:ext uri="{FF2B5EF4-FFF2-40B4-BE49-F238E27FC236}">
                <a16:creationId xmlns:a16="http://schemas.microsoft.com/office/drawing/2014/main" id="{3CE7236F-9FA2-C5DB-8D71-98FA5676F99F}"/>
              </a:ext>
            </a:extLst>
          </p:cNvPr>
          <p:cNvPicPr>
            <a:picLocks noGrp="1" noChangeAspect="1"/>
          </p:cNvPicPr>
          <p:nvPr>
            <p:ph sz="half" idx="1"/>
          </p:nvPr>
        </p:nvPicPr>
        <p:blipFill>
          <a:blip r:embed="rId2"/>
          <a:stretch>
            <a:fillRect/>
          </a:stretch>
        </p:blipFill>
        <p:spPr>
          <a:xfrm>
            <a:off x="612648" y="2077007"/>
            <a:ext cx="5181600" cy="3848574"/>
          </a:xfrm>
          <a:prstGeom prst="rect">
            <a:avLst/>
          </a:prstGeom>
        </p:spPr>
      </p:pic>
      <p:sp>
        <p:nvSpPr>
          <p:cNvPr id="5" name="Date Placeholder 4">
            <a:extLst>
              <a:ext uri="{FF2B5EF4-FFF2-40B4-BE49-F238E27FC236}">
                <a16:creationId xmlns:a16="http://schemas.microsoft.com/office/drawing/2014/main" id="{9A8A673F-3ACA-7757-DA5D-FC3548284D80}"/>
              </a:ext>
            </a:extLst>
          </p:cNvPr>
          <p:cNvSpPr>
            <a:spLocks noGrp="1"/>
          </p:cNvSpPr>
          <p:nvPr>
            <p:ph type="dt" sz="half" idx="10"/>
          </p:nvPr>
        </p:nvSpPr>
        <p:spPr/>
        <p:txBody>
          <a:bodyPr/>
          <a:lstStyle/>
          <a:p>
            <a:fld id="{01FF8167-1A44-435A-AD97-EB99F9892959}" type="datetime1">
              <a:rPr lang="en-US"/>
              <a:t>9/24/2025</a:t>
            </a:fld>
            <a:endParaRPr lang="en-US" dirty="0"/>
          </a:p>
        </p:txBody>
      </p:sp>
      <p:sp>
        <p:nvSpPr>
          <p:cNvPr id="6" name="Slide Number Placeholder 5">
            <a:extLst>
              <a:ext uri="{FF2B5EF4-FFF2-40B4-BE49-F238E27FC236}">
                <a16:creationId xmlns:a16="http://schemas.microsoft.com/office/drawing/2014/main" id="{40199169-AC6E-A771-FA09-5CC20FAA52FB}"/>
              </a:ext>
            </a:extLst>
          </p:cNvPr>
          <p:cNvSpPr>
            <a:spLocks noGrp="1"/>
          </p:cNvSpPr>
          <p:nvPr>
            <p:ph type="sldNum" sz="quarter" idx="12"/>
          </p:nvPr>
        </p:nvSpPr>
        <p:spPr/>
        <p:txBody>
          <a:bodyPr/>
          <a:lstStyle/>
          <a:p>
            <a:fld id="{CC057153-B650-4DEB-B370-79DDCFDCE934}" type="slidenum">
              <a:rPr lang="en-US" dirty="0"/>
              <a:t>25</a:t>
            </a:fld>
            <a:endParaRPr lang="en-US" dirty="0"/>
          </a:p>
        </p:txBody>
      </p:sp>
      <p:pic>
        <p:nvPicPr>
          <p:cNvPr id="13" name="Picture 12" descr="Blue and black text with a black background&#10;&#10;AI-generated content may be incorrect.">
            <a:extLst>
              <a:ext uri="{FF2B5EF4-FFF2-40B4-BE49-F238E27FC236}">
                <a16:creationId xmlns:a16="http://schemas.microsoft.com/office/drawing/2014/main" id="{C67F4A9D-0D2B-E0D4-9818-2655306378D6}"/>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4" name="Rectangle 3">
            <a:extLst>
              <a:ext uri="{FF2B5EF4-FFF2-40B4-BE49-F238E27FC236}">
                <a16:creationId xmlns:a16="http://schemas.microsoft.com/office/drawing/2014/main" id="{2B521583-41F3-F73D-DBC0-A2224441DCFC}"/>
              </a:ext>
            </a:extLst>
          </p:cNvPr>
          <p:cNvSpPr/>
          <p:nvPr/>
        </p:nvSpPr>
        <p:spPr>
          <a:xfrm>
            <a:off x="149018" y="640929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24526D10-39EF-217F-E179-6FE9C240DB2E}"/>
              </a:ext>
            </a:extLst>
          </p:cNvPr>
          <p:cNvPicPr>
            <a:picLocks noGrp="1" noChangeAspect="1"/>
          </p:cNvPicPr>
          <p:nvPr>
            <p:ph sz="half" idx="2"/>
          </p:nvPr>
        </p:nvPicPr>
        <p:blipFill>
          <a:blip r:embed="rId4"/>
          <a:stretch>
            <a:fillRect/>
          </a:stretch>
        </p:blipFill>
        <p:spPr>
          <a:xfrm>
            <a:off x="6549174" y="2833653"/>
            <a:ext cx="5181600" cy="2120130"/>
          </a:xfrm>
          <a:prstGeom prst="rect">
            <a:avLst/>
          </a:prstGeom>
        </p:spPr>
      </p:pic>
    </p:spTree>
    <p:extLst>
      <p:ext uri="{BB962C8B-B14F-4D97-AF65-F5344CB8AC3E}">
        <p14:creationId xmlns:p14="http://schemas.microsoft.com/office/powerpoint/2010/main" val="3145067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A2F3A-20C4-5CE4-6914-3009C89C1EA1}"/>
              </a:ext>
            </a:extLst>
          </p:cNvPr>
          <p:cNvSpPr>
            <a:spLocks noGrp="1"/>
          </p:cNvSpPr>
          <p:nvPr>
            <p:ph type="title"/>
          </p:nvPr>
        </p:nvSpPr>
        <p:spPr/>
        <p:txBody>
          <a:bodyPr/>
          <a:lstStyle/>
          <a:p>
            <a:r>
              <a:rPr lang="en-US" dirty="0"/>
              <a:t>Encoding </a:t>
            </a:r>
          </a:p>
        </p:txBody>
      </p:sp>
      <p:pic>
        <p:nvPicPr>
          <p:cNvPr id="7" name="Content Placeholder 6" descr="A diagram of a circuit&#10;&#10;AI-generated content may be incorrect.">
            <a:extLst>
              <a:ext uri="{FF2B5EF4-FFF2-40B4-BE49-F238E27FC236}">
                <a16:creationId xmlns:a16="http://schemas.microsoft.com/office/drawing/2014/main" id="{F71C32FE-C63D-A9C7-4C9A-4F67089B62CC}"/>
              </a:ext>
            </a:extLst>
          </p:cNvPr>
          <p:cNvPicPr>
            <a:picLocks noGrp="1" noChangeAspect="1"/>
          </p:cNvPicPr>
          <p:nvPr>
            <p:ph sz="half" idx="1"/>
          </p:nvPr>
        </p:nvPicPr>
        <p:blipFill>
          <a:blip r:embed="rId2"/>
          <a:stretch>
            <a:fillRect/>
          </a:stretch>
        </p:blipFill>
        <p:spPr>
          <a:xfrm>
            <a:off x="397495" y="2062544"/>
            <a:ext cx="5181600" cy="3965571"/>
          </a:xfrm>
          <a:prstGeom prst="rect">
            <a:avLst/>
          </a:prstGeom>
        </p:spPr>
      </p:pic>
      <p:sp>
        <p:nvSpPr>
          <p:cNvPr id="5" name="Date Placeholder 4">
            <a:extLst>
              <a:ext uri="{FF2B5EF4-FFF2-40B4-BE49-F238E27FC236}">
                <a16:creationId xmlns:a16="http://schemas.microsoft.com/office/drawing/2014/main" id="{5653ABE7-5E35-97CA-AFBF-A75991794BDB}"/>
              </a:ext>
            </a:extLst>
          </p:cNvPr>
          <p:cNvSpPr>
            <a:spLocks noGrp="1"/>
          </p:cNvSpPr>
          <p:nvPr>
            <p:ph type="dt" sz="half" idx="10"/>
          </p:nvPr>
        </p:nvSpPr>
        <p:spPr/>
        <p:txBody>
          <a:bodyPr/>
          <a:lstStyle/>
          <a:p>
            <a:fld id="{6BD5DA25-BA5D-4294-892D-0DFC8902AAE4}" type="datetime1">
              <a:rPr lang="en-US"/>
              <a:t>9/24/2025</a:t>
            </a:fld>
            <a:endParaRPr lang="en-US" dirty="0"/>
          </a:p>
        </p:txBody>
      </p:sp>
      <p:sp>
        <p:nvSpPr>
          <p:cNvPr id="6" name="Slide Number Placeholder 5">
            <a:extLst>
              <a:ext uri="{FF2B5EF4-FFF2-40B4-BE49-F238E27FC236}">
                <a16:creationId xmlns:a16="http://schemas.microsoft.com/office/drawing/2014/main" id="{15FD9BD1-8BE9-3BDB-000F-118EF1606CEC}"/>
              </a:ext>
            </a:extLst>
          </p:cNvPr>
          <p:cNvSpPr>
            <a:spLocks noGrp="1"/>
          </p:cNvSpPr>
          <p:nvPr>
            <p:ph type="sldNum" sz="quarter" idx="12"/>
          </p:nvPr>
        </p:nvSpPr>
        <p:spPr/>
        <p:txBody>
          <a:bodyPr/>
          <a:lstStyle/>
          <a:p>
            <a:fld id="{CC057153-B650-4DEB-B370-79DDCFDCE934}" type="slidenum">
              <a:rPr lang="en-US" dirty="0"/>
              <a:t>26</a:t>
            </a:fld>
            <a:endParaRPr lang="en-US" dirty="0"/>
          </a:p>
        </p:txBody>
      </p:sp>
      <p:pic>
        <p:nvPicPr>
          <p:cNvPr id="8" name="Picture 7" descr="Blue and black text with a black background&#10;&#10;AI-generated content may be incorrect.">
            <a:extLst>
              <a:ext uri="{FF2B5EF4-FFF2-40B4-BE49-F238E27FC236}">
                <a16:creationId xmlns:a16="http://schemas.microsoft.com/office/drawing/2014/main" id="{43B29959-D7BA-F65D-5704-1101F706732A}"/>
              </a:ext>
            </a:extLst>
          </p:cNvPr>
          <p:cNvPicPr>
            <a:picLocks noChangeAspect="1"/>
          </p:cNvPicPr>
          <p:nvPr/>
        </p:nvPicPr>
        <p:blipFill>
          <a:blip r:embed="rId3"/>
          <a:stretch>
            <a:fillRect/>
          </a:stretch>
        </p:blipFill>
        <p:spPr>
          <a:xfrm>
            <a:off x="10745146" y="132080"/>
            <a:ext cx="1268108" cy="762000"/>
          </a:xfrm>
          <a:prstGeom prst="rect">
            <a:avLst/>
          </a:prstGeom>
        </p:spPr>
      </p:pic>
      <p:sp>
        <p:nvSpPr>
          <p:cNvPr id="9" name="Rectangle 8">
            <a:extLst>
              <a:ext uri="{FF2B5EF4-FFF2-40B4-BE49-F238E27FC236}">
                <a16:creationId xmlns:a16="http://schemas.microsoft.com/office/drawing/2014/main" id="{BFFFCF07-7612-D54F-0124-8B3BCBF047E1}"/>
              </a:ext>
            </a:extLst>
          </p:cNvPr>
          <p:cNvSpPr/>
          <p:nvPr/>
        </p:nvSpPr>
        <p:spPr>
          <a:xfrm>
            <a:off x="137975" y="6431381"/>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3017BED1-53F0-A343-7368-D25EBA962E2D}"/>
                  </a:ext>
                </a:extLst>
              </p:cNvPr>
              <p:cNvSpPr>
                <a:spLocks noGrp="1"/>
              </p:cNvSpPr>
              <p:nvPr>
                <p:ph sz="half" idx="2"/>
              </p:nvPr>
            </p:nvSpPr>
            <p:spPr>
              <a:xfrm>
                <a:off x="6096000" y="1958022"/>
                <a:ext cx="5965369" cy="4351338"/>
              </a:xfrm>
            </p:spPr>
            <p:txBody>
              <a:bodyPr>
                <a:noAutofit/>
              </a:bodyPr>
              <a:lstStyle/>
              <a:p>
                <a:pPr marL="0" indent="0">
                  <a:buNone/>
                </a:pPr>
                <a:r>
                  <a:rPr lang="en-US" sz="1400" dirty="0"/>
                  <a:t>Arbitrary state : </a:t>
                </a:r>
                <a:r>
                  <a:rPr lang="el-GR" sz="1400" dirty="0"/>
                  <a:t>∣ψ⟩</a:t>
                </a:r>
                <a:r>
                  <a:rPr lang="en-US" sz="1400" dirty="0"/>
                  <a:t> </a:t>
                </a:r>
                <a:r>
                  <a:rPr lang="el-GR" sz="1400" dirty="0"/>
                  <a:t>=</a:t>
                </a:r>
                <a:r>
                  <a:rPr lang="en-US" sz="1400" dirty="0"/>
                  <a:t> </a:t>
                </a:r>
                <a:r>
                  <a:rPr lang="el-GR" sz="1400" dirty="0"/>
                  <a:t>α∣0⟩</a:t>
                </a:r>
                <a:r>
                  <a:rPr lang="en-US" sz="1400" dirty="0"/>
                  <a:t> </a:t>
                </a:r>
                <a:r>
                  <a:rPr lang="el-GR" sz="1400" dirty="0"/>
                  <a:t>+</a:t>
                </a:r>
                <a:r>
                  <a:rPr lang="en-US" sz="1400" dirty="0"/>
                  <a:t> </a:t>
                </a:r>
                <a:r>
                  <a:rPr lang="el-GR" sz="1400" dirty="0"/>
                  <a:t>β∣1⟩</a:t>
                </a:r>
                <a:endParaRPr lang="en-US" sz="1400" dirty="0"/>
              </a:p>
              <a:p>
                <a:pPr marL="0" indent="0">
                  <a:buNone/>
                </a:pPr>
                <a:r>
                  <a:rPr lang="en-US" sz="1400" dirty="0"/>
                  <a:t>Entanglement : </a:t>
                </a:r>
                <a:r>
                  <a:rPr lang="el-GR" sz="1400" dirty="0"/>
                  <a:t>α∣</a:t>
                </a:r>
                <a:r>
                  <a:rPr lang="en-US" sz="1400" dirty="0"/>
                  <a:t>00</a:t>
                </a:r>
                <a:r>
                  <a:rPr lang="el-GR" sz="1400" dirty="0"/>
                  <a:t>0⟩</a:t>
                </a:r>
                <a:r>
                  <a:rPr lang="en-US" sz="1400" dirty="0"/>
                  <a:t> </a:t>
                </a:r>
                <a:r>
                  <a:rPr lang="el-GR" sz="1400" dirty="0"/>
                  <a:t>+</a:t>
                </a:r>
                <a:r>
                  <a:rPr lang="en-US" sz="1400" dirty="0"/>
                  <a:t> </a:t>
                </a:r>
                <a:r>
                  <a:rPr lang="el-GR" sz="1400" dirty="0"/>
                  <a:t>β∣</a:t>
                </a:r>
                <a:r>
                  <a:rPr lang="en-US" sz="1400" dirty="0"/>
                  <a:t>11</a:t>
                </a:r>
                <a:r>
                  <a:rPr lang="el-GR" sz="1400" dirty="0"/>
                  <a:t>1⟩</a:t>
                </a:r>
                <a:endParaRPr lang="en-US" sz="1400" dirty="0"/>
              </a:p>
              <a:p>
                <a:pPr marL="0" indent="0">
                  <a:buNone/>
                </a:pPr>
                <a:r>
                  <a:rPr lang="en-US" sz="1400" dirty="0"/>
                  <a:t>Mapping |0⟩ → |+⟩, |1⟩ → |−⟩ : </a:t>
                </a:r>
              </a:p>
              <a:p>
                <a:pPr marL="0" indent="0">
                  <a:buNone/>
                </a:pPr>
                <a:r>
                  <a:rPr lang="en-US" sz="1400" dirty="0"/>
                  <a:t>               </a:t>
                </a:r>
                <a:r>
                  <a:rPr lang="en-IN" altLang="en-US" sz="1400" dirty="0">
                    <a:latin typeface="Calibri" panose="020F0502020204030204" pitchFamily="34" charset="0"/>
                    <a:ea typeface="Calibri" panose="020F0502020204030204" pitchFamily="34" charset="0"/>
                    <a:cs typeface="Calibri" panose="020F0502020204030204" pitchFamily="34" charset="0"/>
                  </a:rPr>
                  <a:t>|+⟩ </a:t>
                </a:r>
                <a:r>
                  <a:rPr lang="en-US" sz="1400" dirty="0"/>
                  <a:t>→</a:t>
                </a:r>
                <a:r>
                  <a:rPr lang="en-IN" altLang="en-US"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US"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  , |-⟩ </a:t>
                </a:r>
                <a:r>
                  <a:rPr lang="en-US" sz="1400" dirty="0"/>
                  <a:t>→</a:t>
                </a:r>
                <a:r>
                  <a:rPr lang="en-IN" altLang="en-US"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US"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sz="1400" dirty="0"/>
                  <a:t>                             </a:t>
                </a:r>
                <a:r>
                  <a:rPr lang="el-GR" sz="1400" dirty="0"/>
                  <a:t>∣ψ⟩</a:t>
                </a:r>
                <a:r>
                  <a:rPr lang="en-US" sz="1400" dirty="0"/>
                  <a:t> </a:t>
                </a:r>
                <a:r>
                  <a:rPr lang="el-GR" sz="1400" dirty="0"/>
                  <a:t>→</a:t>
                </a:r>
                <a:r>
                  <a:rPr lang="en-US" sz="1400" dirty="0"/>
                  <a:t> </a:t>
                </a:r>
                <a:r>
                  <a:rPr lang="el-GR" sz="1400" dirty="0"/>
                  <a:t>α∣+</a:t>
                </a:r>
                <a:r>
                  <a:rPr lang="en-US" sz="1400" dirty="0"/>
                  <a:t>++</a:t>
                </a:r>
                <a:r>
                  <a:rPr lang="el-GR" sz="1400" dirty="0"/>
                  <a:t>⟩</a:t>
                </a:r>
                <a:r>
                  <a:rPr lang="en-US" sz="1400" dirty="0"/>
                  <a:t> </a:t>
                </a:r>
                <a:r>
                  <a:rPr lang="el-GR" sz="1400" dirty="0"/>
                  <a:t>+</a:t>
                </a:r>
                <a:r>
                  <a:rPr lang="en-US" sz="1400" dirty="0"/>
                  <a:t> </a:t>
                </a:r>
                <a:r>
                  <a:rPr lang="el-GR" sz="1400" dirty="0"/>
                  <a:t>β∣</a:t>
                </a:r>
                <a:r>
                  <a:rPr lang="en-US" sz="1400" dirty="0"/>
                  <a:t>- - -</a:t>
                </a:r>
                <a:r>
                  <a:rPr lang="el-GR" sz="1400" dirty="0"/>
                  <a:t>⟩</a:t>
                </a:r>
                <a:endParaRPr lang="en-IN" altLang="en-US" sz="1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400" dirty="0"/>
                  <a:t>Convert ± to 0/1 basis for bit-flip encoding : </a:t>
                </a:r>
                <a:endParaRPr lang="en-IN" altLang="en-US" sz="1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altLang="en-US" sz="1400" dirty="0">
                    <a:latin typeface="Calibri" panose="020F0502020204030204" pitchFamily="34" charset="0"/>
                    <a:ea typeface="Calibri" panose="020F0502020204030204" pitchFamily="34" charset="0"/>
                    <a:cs typeface="Calibri" panose="020F0502020204030204" pitchFamily="34" charset="0"/>
                  </a:rPr>
                  <a:t>|+⟩ </a:t>
                </a:r>
                <a:r>
                  <a:rPr lang="en-US" sz="1400" dirty="0"/>
                  <a:t>→</a:t>
                </a:r>
                <a:r>
                  <a:rPr lang="en-IN" altLang="en-US"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US"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 </a:t>
                </a:r>
                <a:r>
                  <a:rPr lang="en-US" sz="1400" dirty="0"/>
                  <a:t>→ </a:t>
                </a:r>
                <a:r>
                  <a:rPr lang="en-IN" altLang="en-US"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US"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 , |-⟩ </a:t>
                </a:r>
                <a:r>
                  <a:rPr lang="en-US" sz="1400" dirty="0"/>
                  <a:t>→</a:t>
                </a:r>
                <a:r>
                  <a:rPr lang="en-IN" altLang="en-US"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US"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 </a:t>
                </a:r>
                <a:r>
                  <a:rPr lang="en-US" sz="1400" dirty="0"/>
                  <a:t>→ </a:t>
                </a:r>
                <a:r>
                  <a:rPr lang="en-IN" altLang="en-US"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US"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sz="1400" dirty="0"/>
                  <a:t>So now each ± qubit is </a:t>
                </a:r>
                <a:r>
                  <a:rPr lang="en-US" sz="1400" b="1" dirty="0"/>
                  <a:t>3 physical qubits</a:t>
                </a:r>
                <a:r>
                  <a:rPr lang="en-US" sz="1400" dirty="0"/>
                  <a:t>, giving </a:t>
                </a:r>
                <a:r>
                  <a:rPr lang="en-US" sz="1400" b="1" dirty="0"/>
                  <a:t>9 qubits total</a:t>
                </a:r>
              </a:p>
              <a:p>
                <a:pPr marL="0" indent="0">
                  <a:buNone/>
                </a:pPr>
                <a:r>
                  <a:rPr lang="en-IN" altLang="en-US" sz="1400" dirty="0">
                    <a:latin typeface="Calibri" panose="020F0502020204030204" pitchFamily="34" charset="0"/>
                    <a:ea typeface="Calibri" panose="020F0502020204030204" pitchFamily="34" charset="0"/>
                    <a:cs typeface="Calibri" panose="020F0502020204030204" pitchFamily="34" charset="0"/>
                  </a:rPr>
                  <a:t>|0</a:t>
                </a:r>
                <a:r>
                  <a:rPr lang="en-US" altLang="en-US" sz="1400" baseline="-25000" dirty="0">
                    <a:latin typeface="Calibri" panose="020F0502020204030204" pitchFamily="34" charset="0"/>
                    <a:ea typeface="Calibri" panose="020F0502020204030204" pitchFamily="34" charset="0"/>
                    <a:cs typeface="Calibri" panose="020F0502020204030204" pitchFamily="34" charset="0"/>
                  </a:rPr>
                  <a:t>L</a:t>
                </a:r>
                <a:r>
                  <a:rPr lang="en-IN" altLang="en-US" sz="14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altLang="en-US" sz="1400" dirty="0">
                    <a:latin typeface="Calibri" panose="020F0502020204030204" pitchFamily="34" charset="0"/>
                    <a:ea typeface="Calibri" panose="020F0502020204030204" pitchFamily="34" charset="0"/>
                    <a:cs typeface="Calibri" panose="020F0502020204030204" pitchFamily="34" charset="0"/>
                  </a:rPr>
                  <a:t>|1</a:t>
                </a:r>
                <a:r>
                  <a:rPr lang="en-US" altLang="en-US" sz="1400" baseline="-25000" dirty="0">
                    <a:latin typeface="Calibri" panose="020F0502020204030204" pitchFamily="34" charset="0"/>
                    <a:ea typeface="Calibri" panose="020F0502020204030204" pitchFamily="34" charset="0"/>
                    <a:cs typeface="Calibri" panose="020F0502020204030204" pitchFamily="34" charset="0"/>
                  </a:rPr>
                  <a:t>L</a:t>
                </a:r>
                <a:r>
                  <a:rPr lang="en-US" altLang="en-US" sz="1400" dirty="0">
                    <a:latin typeface="Calibri" panose="020F0502020204030204" pitchFamily="34" charset="0"/>
                    <a:ea typeface="Calibri" panose="020F0502020204030204" pitchFamily="34" charset="0"/>
                    <a:cs typeface="Calibri" panose="020F0502020204030204" pitchFamily="34" charset="0"/>
                  </a:rPr>
                  <a:t> </a:t>
                </a:r>
                <a:r>
                  <a:rPr lang="en-IN" altLang="en-US" sz="14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IN" altLang="en-US" sz="1400" i="1">
                            <a:latin typeface="Cambria Math" panose="02040503050406030204" pitchFamily="18" charset="0"/>
                            <a:ea typeface="Microsoft YaHei" panose="020B0503020204020204" pitchFamily="34" charset="-122"/>
                            <a:cs typeface="Arial" panose="020B0604020202020204" pitchFamily="34" charset="0"/>
                          </a:rPr>
                        </m:ctrlPr>
                      </m:fPr>
                      <m:num>
                        <m:r>
                          <m:rPr>
                            <m:nor/>
                          </m:rPr>
                          <a:rPr lang="en-IN" altLang="en-US" sz="1400" dirty="0">
                            <a:latin typeface="Calibri" panose="020F0502020204030204" pitchFamily="34" charset="0"/>
                            <a:ea typeface="Calibri" panose="020F0502020204030204" pitchFamily="34" charset="0"/>
                            <a:cs typeface="Calibri" panose="020F0502020204030204" pitchFamily="34" charset="0"/>
                          </a:rPr>
                          <m:t>1</m:t>
                        </m:r>
                      </m:num>
                      <m:den>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m:t>
                        </m:r>
                        <m:r>
                          <m:rPr>
                            <m:nor/>
                          </m:rPr>
                          <a:rPr lang="en-US" altLang="en-US" sz="1400" dirty="0">
                            <a:latin typeface="Calibri" panose="020F0502020204030204" pitchFamily="34" charset="0"/>
                            <a:ea typeface="Calibri" panose="020F0502020204030204" pitchFamily="34" charset="0"/>
                            <a:cs typeface="Calibri" panose="020F0502020204030204" pitchFamily="34" charset="0"/>
                          </a:rPr>
                          <m:t>2</m:t>
                        </m:r>
                      </m:den>
                    </m:f>
                  </m:oMath>
                </a14:m>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000</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111</a:t>
                </a:r>
                <a:r>
                  <a:rPr lang="en-IN" altLang="en-US" sz="14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IN" altLang="en-US" sz="1400" dirty="0">
                    <a:latin typeface="Calibri" panose="020F0502020204030204" pitchFamily="34" charset="0"/>
                    <a:ea typeface="Calibri" panose="020F0502020204030204" pitchFamily="34" charset="0"/>
                    <a:cs typeface="Calibri" panose="020F0502020204030204" pitchFamily="34" charset="0"/>
                  </a:rPr>
                  <a:t>)</a:t>
                </a:r>
                <a:endParaRPr lang="en-US" sz="1400" dirty="0"/>
              </a:p>
              <a:p>
                <a:pPr marL="0" indent="0">
                  <a:buNone/>
                </a:pPr>
                <a:endParaRPr lang="en-US" sz="1400" dirty="0"/>
              </a:p>
            </p:txBody>
          </p:sp>
        </mc:Choice>
        <mc:Fallback xmlns="">
          <p:sp>
            <p:nvSpPr>
              <p:cNvPr id="10" name="Content Placeholder 9">
                <a:extLst>
                  <a:ext uri="{FF2B5EF4-FFF2-40B4-BE49-F238E27FC236}">
                    <a16:creationId xmlns:a16="http://schemas.microsoft.com/office/drawing/2014/main" id="{3017BED1-53F0-A343-7368-D25EBA962E2D}"/>
                  </a:ext>
                </a:extLst>
              </p:cNvPr>
              <p:cNvSpPr>
                <a:spLocks noGrp="1" noRot="1" noChangeAspect="1" noMove="1" noResize="1" noEditPoints="1" noAdjustHandles="1" noChangeArrowheads="1" noChangeShapeType="1" noTextEdit="1"/>
              </p:cNvSpPr>
              <p:nvPr>
                <p:ph sz="half" idx="2"/>
              </p:nvPr>
            </p:nvSpPr>
            <p:spPr>
              <a:xfrm>
                <a:off x="6096000" y="1958022"/>
                <a:ext cx="5965369" cy="4351338"/>
              </a:xfrm>
              <a:blipFill>
                <a:blip r:embed="rId4"/>
                <a:stretch>
                  <a:fillRect l="-306" b="-700"/>
                </a:stretch>
              </a:blipFill>
            </p:spPr>
            <p:txBody>
              <a:bodyPr/>
              <a:lstStyle/>
              <a:p>
                <a:r>
                  <a:rPr lang="en-US">
                    <a:noFill/>
                  </a:rPr>
                  <a:t> </a:t>
                </a:r>
              </a:p>
            </p:txBody>
          </p:sp>
        </mc:Fallback>
      </mc:AlternateContent>
    </p:spTree>
    <p:extLst>
      <p:ext uri="{BB962C8B-B14F-4D97-AF65-F5344CB8AC3E}">
        <p14:creationId xmlns:p14="http://schemas.microsoft.com/office/powerpoint/2010/main" val="378382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D60B19-305E-05BD-8208-7BBB0D78D63D}"/>
              </a:ext>
            </a:extLst>
          </p:cNvPr>
          <p:cNvSpPr>
            <a:spLocks noGrp="1"/>
          </p:cNvSpPr>
          <p:nvPr>
            <p:ph type="title"/>
          </p:nvPr>
        </p:nvSpPr>
        <p:spPr>
          <a:xfrm>
            <a:off x="841248" y="426720"/>
            <a:ext cx="10506456" cy="1919141"/>
          </a:xfrm>
        </p:spPr>
        <p:txBody>
          <a:bodyPr anchor="b">
            <a:normAutofit/>
          </a:bodyPr>
          <a:lstStyle/>
          <a:p>
            <a:r>
              <a:rPr lang="en-US" sz="6000" dirty="0"/>
              <a:t>Stabilizers for Shor's Code</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DC561DDB-CB81-A510-050E-739F3635A9E0}"/>
              </a:ext>
            </a:extLst>
          </p:cNvPr>
          <p:cNvSpPr>
            <a:spLocks noGrp="1"/>
          </p:cNvSpPr>
          <p:nvPr>
            <p:ph idx="1"/>
          </p:nvPr>
        </p:nvSpPr>
        <p:spPr>
          <a:xfrm>
            <a:off x="3781673" y="3184438"/>
            <a:ext cx="3766609" cy="3171911"/>
          </a:xfrm>
        </p:spPr>
        <p:txBody>
          <a:bodyPr vert="horz" lIns="91440" tIns="45720" rIns="91440" bIns="45720" rtlCol="0" anchor="t">
            <a:normAutofit/>
          </a:bodyPr>
          <a:lstStyle/>
          <a:p>
            <a:pPr marL="0" indent="0" algn="ctr">
              <a:lnSpc>
                <a:spcPct val="110000"/>
              </a:lnSpc>
              <a:buNone/>
            </a:pPr>
            <a:r>
              <a:rPr lang="en-US" dirty="0">
                <a:latin typeface="Neue Haas Grotesk Text Pro"/>
              </a:rPr>
              <a:t>Z</a:t>
            </a:r>
            <a:r>
              <a:rPr lang="en-US" dirty="0">
                <a:latin typeface="Neue Haas Grotesk Text Pro"/>
                <a:cs typeface="Times New Roman"/>
              </a:rPr>
              <a:t>₁</a:t>
            </a:r>
            <a:r>
              <a:rPr lang="en-US" dirty="0">
                <a:latin typeface="Neue Haas Grotesk Text Pro"/>
              </a:rPr>
              <a:t>Z</a:t>
            </a:r>
            <a:r>
              <a:rPr lang="en-US" dirty="0">
                <a:latin typeface="Neue Haas Grotesk Text Pro"/>
                <a:cs typeface="Times New Roman"/>
              </a:rPr>
              <a:t>₂</a:t>
            </a:r>
            <a:r>
              <a:rPr lang="en-US" dirty="0">
                <a:latin typeface="Neue Haas Grotesk Text Pro"/>
              </a:rPr>
              <a:t>, Z</a:t>
            </a:r>
            <a:r>
              <a:rPr lang="en-US" dirty="0">
                <a:latin typeface="Neue Haas Grotesk Text Pro"/>
                <a:cs typeface="Times New Roman"/>
              </a:rPr>
              <a:t>₂</a:t>
            </a:r>
            <a:r>
              <a:rPr lang="en-US" dirty="0">
                <a:latin typeface="Neue Haas Grotesk Text Pro"/>
              </a:rPr>
              <a:t>Z</a:t>
            </a:r>
            <a:r>
              <a:rPr lang="en-US" dirty="0">
                <a:latin typeface="Neue Haas Grotesk Text Pro"/>
                <a:cs typeface="Times New Roman"/>
              </a:rPr>
              <a:t>₃</a:t>
            </a:r>
            <a:endParaRPr lang="en-US" dirty="0">
              <a:latin typeface="Neue Haas Grotesk Text Pro"/>
            </a:endParaRPr>
          </a:p>
          <a:p>
            <a:pPr marL="0" indent="0" algn="ctr">
              <a:lnSpc>
                <a:spcPct val="110000"/>
              </a:lnSpc>
              <a:buNone/>
            </a:pPr>
            <a:r>
              <a:rPr lang="en-US" dirty="0">
                <a:latin typeface="Neue Haas Grotesk Text Pro"/>
              </a:rPr>
              <a:t>Z</a:t>
            </a:r>
            <a:r>
              <a:rPr lang="en-US" dirty="0">
                <a:latin typeface="Neue Haas Grotesk Text Pro"/>
                <a:cs typeface="Times New Roman"/>
              </a:rPr>
              <a:t>₄</a:t>
            </a:r>
            <a:r>
              <a:rPr lang="en-US" dirty="0">
                <a:latin typeface="Neue Haas Grotesk Text Pro"/>
              </a:rPr>
              <a:t>Z</a:t>
            </a:r>
            <a:r>
              <a:rPr lang="en-US" dirty="0">
                <a:latin typeface="Neue Haas Grotesk Text Pro"/>
                <a:cs typeface="Times New Roman"/>
              </a:rPr>
              <a:t>₅</a:t>
            </a:r>
            <a:r>
              <a:rPr lang="en-US" dirty="0">
                <a:latin typeface="Neue Haas Grotesk Text Pro"/>
              </a:rPr>
              <a:t>, Z</a:t>
            </a:r>
            <a:r>
              <a:rPr lang="en-US" dirty="0">
                <a:latin typeface="Neue Haas Grotesk Text Pro"/>
                <a:cs typeface="Times New Roman"/>
              </a:rPr>
              <a:t>₅</a:t>
            </a:r>
            <a:r>
              <a:rPr lang="en-US" dirty="0">
                <a:latin typeface="Neue Haas Grotesk Text Pro"/>
              </a:rPr>
              <a:t>Z</a:t>
            </a:r>
            <a:r>
              <a:rPr lang="en-US" dirty="0">
                <a:latin typeface="Neue Haas Grotesk Text Pro"/>
                <a:cs typeface="Times New Roman"/>
              </a:rPr>
              <a:t>₆</a:t>
            </a:r>
            <a:endParaRPr lang="en-US" dirty="0">
              <a:latin typeface="Neue Haas Grotesk Text Pro"/>
            </a:endParaRPr>
          </a:p>
          <a:p>
            <a:pPr marL="0" indent="0" algn="ctr">
              <a:lnSpc>
                <a:spcPct val="110000"/>
              </a:lnSpc>
              <a:buNone/>
            </a:pPr>
            <a:r>
              <a:rPr lang="en-US" dirty="0">
                <a:latin typeface="Neue Haas Grotesk Text Pro"/>
              </a:rPr>
              <a:t>Z</a:t>
            </a:r>
            <a:r>
              <a:rPr lang="en-US" dirty="0">
                <a:latin typeface="Neue Haas Grotesk Text Pro"/>
                <a:cs typeface="Times New Roman"/>
              </a:rPr>
              <a:t>₇</a:t>
            </a:r>
            <a:r>
              <a:rPr lang="en-US" dirty="0">
                <a:latin typeface="Neue Haas Grotesk Text Pro"/>
              </a:rPr>
              <a:t>Z</a:t>
            </a:r>
            <a:r>
              <a:rPr lang="en-US" dirty="0">
                <a:latin typeface="Neue Haas Grotesk Text Pro"/>
                <a:cs typeface="Times New Roman"/>
              </a:rPr>
              <a:t>₈</a:t>
            </a:r>
            <a:r>
              <a:rPr lang="en-US" dirty="0">
                <a:latin typeface="Neue Haas Grotesk Text Pro"/>
              </a:rPr>
              <a:t>,</a:t>
            </a:r>
            <a:r>
              <a:rPr lang="en-US" dirty="0">
                <a:latin typeface="Neue Haas Grotesk Text Pro"/>
                <a:cs typeface="Times New Roman"/>
              </a:rPr>
              <a:t> </a:t>
            </a:r>
            <a:r>
              <a:rPr lang="en-US" dirty="0">
                <a:latin typeface="Neue Haas Grotesk Text Pro"/>
              </a:rPr>
              <a:t>Z</a:t>
            </a:r>
            <a:r>
              <a:rPr lang="en-US" dirty="0">
                <a:latin typeface="Neue Haas Grotesk Text Pro"/>
                <a:cs typeface="Times New Roman"/>
              </a:rPr>
              <a:t>₈</a:t>
            </a:r>
            <a:r>
              <a:rPr lang="en-US" dirty="0">
                <a:latin typeface="Neue Haas Grotesk Text Pro"/>
              </a:rPr>
              <a:t>Z</a:t>
            </a:r>
            <a:r>
              <a:rPr lang="en-US" dirty="0">
                <a:latin typeface="Neue Haas Grotesk Text Pro"/>
                <a:cs typeface="Times New Roman"/>
              </a:rPr>
              <a:t>₉</a:t>
            </a:r>
            <a:endParaRPr lang="en-US" dirty="0">
              <a:latin typeface="Neue Haas Grotesk Text Pro"/>
            </a:endParaRPr>
          </a:p>
          <a:p>
            <a:pPr marL="0" indent="0" algn="ctr">
              <a:lnSpc>
                <a:spcPct val="110000"/>
              </a:lnSpc>
              <a:buNone/>
            </a:pPr>
            <a:endParaRPr lang="en-US" dirty="0">
              <a:latin typeface="Neue Haas Grotesk Text Pro"/>
              <a:cs typeface="Times New Roman"/>
            </a:endParaRPr>
          </a:p>
          <a:p>
            <a:pPr marL="0" indent="0" algn="ctr">
              <a:lnSpc>
                <a:spcPct val="110000"/>
              </a:lnSpc>
              <a:buNone/>
            </a:pPr>
            <a:r>
              <a:rPr lang="en-US" dirty="0">
                <a:latin typeface="Neue Haas Grotesk Text Pro"/>
              </a:rPr>
              <a:t>X</a:t>
            </a:r>
            <a:r>
              <a:rPr lang="en-US" dirty="0">
                <a:latin typeface="Neue Haas Grotesk Text Pro"/>
                <a:cs typeface="Times New Roman"/>
              </a:rPr>
              <a:t>₁</a:t>
            </a:r>
            <a:r>
              <a:rPr lang="en-US" dirty="0">
                <a:latin typeface="Neue Haas Grotesk Text Pro"/>
              </a:rPr>
              <a:t>X</a:t>
            </a:r>
            <a:r>
              <a:rPr lang="en-US" dirty="0">
                <a:latin typeface="Neue Haas Grotesk Text Pro"/>
                <a:cs typeface="Times New Roman"/>
              </a:rPr>
              <a:t>₂</a:t>
            </a:r>
            <a:r>
              <a:rPr lang="en-US" dirty="0">
                <a:latin typeface="Neue Haas Grotesk Text Pro"/>
              </a:rPr>
              <a:t>X</a:t>
            </a:r>
            <a:r>
              <a:rPr lang="en-US" dirty="0">
                <a:latin typeface="Neue Haas Grotesk Text Pro"/>
                <a:cs typeface="Times New Roman"/>
              </a:rPr>
              <a:t>₃</a:t>
            </a:r>
            <a:r>
              <a:rPr lang="en-US" dirty="0">
                <a:latin typeface="Neue Haas Grotesk Text Pro"/>
              </a:rPr>
              <a:t>X</a:t>
            </a:r>
            <a:r>
              <a:rPr lang="en-US" dirty="0">
                <a:latin typeface="Neue Haas Grotesk Text Pro"/>
                <a:cs typeface="Times New Roman"/>
              </a:rPr>
              <a:t>₄</a:t>
            </a:r>
            <a:r>
              <a:rPr lang="en-US" dirty="0">
                <a:latin typeface="Neue Haas Grotesk Text Pro"/>
              </a:rPr>
              <a:t>X</a:t>
            </a:r>
            <a:r>
              <a:rPr lang="en-US" dirty="0">
                <a:latin typeface="Neue Haas Grotesk Text Pro"/>
                <a:cs typeface="Times New Roman"/>
              </a:rPr>
              <a:t>₅</a:t>
            </a:r>
            <a:r>
              <a:rPr lang="en-US" dirty="0">
                <a:latin typeface="Neue Haas Grotesk Text Pro"/>
              </a:rPr>
              <a:t>X</a:t>
            </a:r>
            <a:r>
              <a:rPr lang="en-US" dirty="0">
                <a:latin typeface="Neue Haas Grotesk Text Pro"/>
                <a:cs typeface="Times New Roman"/>
              </a:rPr>
              <a:t>₆</a:t>
            </a:r>
            <a:endParaRPr lang="en-US" dirty="0">
              <a:latin typeface="Neue Haas Grotesk Text Pro"/>
            </a:endParaRPr>
          </a:p>
          <a:p>
            <a:pPr marL="0" indent="0" algn="ctr">
              <a:lnSpc>
                <a:spcPct val="110000"/>
              </a:lnSpc>
              <a:buNone/>
            </a:pPr>
            <a:r>
              <a:rPr lang="en-US" dirty="0">
                <a:latin typeface="Neue Haas Grotesk Text Pro"/>
                <a:cs typeface="Times New Roman"/>
              </a:rPr>
              <a:t> </a:t>
            </a:r>
            <a:r>
              <a:rPr lang="en-US" dirty="0">
                <a:latin typeface="Neue Haas Grotesk Text Pro"/>
              </a:rPr>
              <a:t>X</a:t>
            </a:r>
            <a:r>
              <a:rPr lang="en-US" dirty="0">
                <a:latin typeface="Neue Haas Grotesk Text Pro"/>
                <a:cs typeface="Times New Roman"/>
              </a:rPr>
              <a:t>₄</a:t>
            </a:r>
            <a:r>
              <a:rPr lang="en-US" dirty="0">
                <a:latin typeface="Neue Haas Grotesk Text Pro"/>
              </a:rPr>
              <a:t>X</a:t>
            </a:r>
            <a:r>
              <a:rPr lang="en-US" dirty="0">
                <a:latin typeface="Neue Haas Grotesk Text Pro"/>
                <a:cs typeface="Times New Roman"/>
              </a:rPr>
              <a:t>₅</a:t>
            </a:r>
            <a:r>
              <a:rPr lang="en-US" dirty="0">
                <a:latin typeface="Neue Haas Grotesk Text Pro"/>
              </a:rPr>
              <a:t>X</a:t>
            </a:r>
            <a:r>
              <a:rPr lang="en-US" dirty="0">
                <a:latin typeface="Neue Haas Grotesk Text Pro"/>
                <a:cs typeface="Times New Roman"/>
              </a:rPr>
              <a:t>₆</a:t>
            </a:r>
            <a:r>
              <a:rPr lang="en-US" dirty="0">
                <a:latin typeface="Neue Haas Grotesk Text Pro"/>
              </a:rPr>
              <a:t>X</a:t>
            </a:r>
            <a:r>
              <a:rPr lang="en-US" dirty="0">
                <a:latin typeface="Neue Haas Grotesk Text Pro"/>
                <a:cs typeface="Times New Roman"/>
              </a:rPr>
              <a:t>₇</a:t>
            </a:r>
            <a:r>
              <a:rPr lang="en-US" dirty="0">
                <a:latin typeface="Neue Haas Grotesk Text Pro"/>
              </a:rPr>
              <a:t>X</a:t>
            </a:r>
            <a:r>
              <a:rPr lang="en-US" dirty="0">
                <a:latin typeface="Neue Haas Grotesk Text Pro"/>
                <a:cs typeface="Times New Roman"/>
              </a:rPr>
              <a:t>₈</a:t>
            </a:r>
            <a:r>
              <a:rPr lang="en-US" dirty="0">
                <a:latin typeface="Neue Haas Grotesk Text Pro"/>
              </a:rPr>
              <a:t>X</a:t>
            </a:r>
            <a:r>
              <a:rPr lang="en-US" dirty="0">
                <a:latin typeface="Neue Haas Grotesk Text Pro"/>
                <a:cs typeface="Times New Roman"/>
              </a:rPr>
              <a:t>₉</a:t>
            </a:r>
            <a:endParaRPr lang="en-US" dirty="0">
              <a:latin typeface="Neue Haas Grotesk Text Pro"/>
            </a:endParaRPr>
          </a:p>
          <a:p>
            <a:pPr algn="ctr">
              <a:lnSpc>
                <a:spcPct val="110000"/>
              </a:lnSpc>
            </a:pPr>
            <a:endParaRPr lang="en-US" dirty="0"/>
          </a:p>
        </p:txBody>
      </p:sp>
      <p:sp>
        <p:nvSpPr>
          <p:cNvPr id="4" name="Date Placeholder 3">
            <a:extLst>
              <a:ext uri="{FF2B5EF4-FFF2-40B4-BE49-F238E27FC236}">
                <a16:creationId xmlns:a16="http://schemas.microsoft.com/office/drawing/2014/main" id="{E867F979-BB29-70AF-502C-9156720E3A18}"/>
              </a:ext>
            </a:extLst>
          </p:cNvPr>
          <p:cNvSpPr>
            <a:spLocks noGrp="1"/>
          </p:cNvSpPr>
          <p:nvPr>
            <p:ph type="dt" sz="half" idx="10"/>
          </p:nvPr>
        </p:nvSpPr>
        <p:spPr>
          <a:xfrm>
            <a:off x="841248" y="6356350"/>
            <a:ext cx="2577503" cy="365125"/>
          </a:xfrm>
        </p:spPr>
        <p:txBody>
          <a:bodyPr>
            <a:normAutofit/>
          </a:bodyPr>
          <a:lstStyle/>
          <a:p>
            <a:pPr>
              <a:spcAft>
                <a:spcPts val="600"/>
              </a:spcAft>
            </a:pPr>
            <a:fld id="{ECB74B39-D587-4B0D-A6D3-9923592A43A6}" type="datetime1">
              <a:rPr lang="en-US">
                <a:solidFill>
                  <a:schemeClr val="tx1">
                    <a:lumMod val="50000"/>
                    <a:lumOff val="50000"/>
                  </a:schemeClr>
                </a:solidFill>
              </a:rPr>
              <a:pPr>
                <a:spcAft>
                  <a:spcPts val="600"/>
                </a:spcAft>
              </a:pPr>
              <a:t>9/24/2025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DE78E29F-26CE-1B2C-0A18-56FC56D21EF0}"/>
              </a:ext>
            </a:extLst>
          </p:cNvPr>
          <p:cNvSpPr>
            <a:spLocks noGrp="1"/>
          </p:cNvSpPr>
          <p:nvPr>
            <p:ph type="sldNum" sz="quarter" idx="12"/>
          </p:nvPr>
        </p:nvSpPr>
        <p:spPr>
          <a:xfrm>
            <a:off x="8873254" y="6356350"/>
            <a:ext cx="2477498" cy="365125"/>
          </a:xfrm>
        </p:spPr>
        <p:txBody>
          <a:bodyPr>
            <a:normAutofit/>
          </a:bodyPr>
          <a:lstStyle/>
          <a:p>
            <a:pPr>
              <a:spcAft>
                <a:spcPts val="600"/>
              </a:spcAft>
            </a:pPr>
            <a:fld id="{CC057153-B650-4DEB-B370-79DDCFDCE934}" type="slidenum">
              <a:rPr lang="en-US">
                <a:solidFill>
                  <a:schemeClr val="tx1">
                    <a:lumMod val="50000"/>
                    <a:lumOff val="50000"/>
                  </a:schemeClr>
                </a:solidFill>
              </a:rPr>
              <a:pPr>
                <a:spcAft>
                  <a:spcPts val="600"/>
                </a:spcAft>
              </a:pPr>
              <a:t>27</a:t>
            </a:fld>
            <a:endParaRPr lang="en-US">
              <a:solidFill>
                <a:schemeClr val="tx1">
                  <a:lumMod val="50000"/>
                  <a:lumOff val="50000"/>
                </a:schemeClr>
              </a:solidFill>
            </a:endParaRPr>
          </a:p>
        </p:txBody>
      </p:sp>
      <p:pic>
        <p:nvPicPr>
          <p:cNvPr id="10" name="Picture 9" descr="Blue and black text with a black background&#10;&#10;AI-generated content may be incorrect.">
            <a:extLst>
              <a:ext uri="{FF2B5EF4-FFF2-40B4-BE49-F238E27FC236}">
                <a16:creationId xmlns:a16="http://schemas.microsoft.com/office/drawing/2014/main" id="{4EDF5C75-5FAE-7239-567A-BC57F0D8D74C}"/>
              </a:ext>
            </a:extLst>
          </p:cNvPr>
          <p:cNvPicPr>
            <a:picLocks noChangeAspect="1"/>
          </p:cNvPicPr>
          <p:nvPr/>
        </p:nvPicPr>
        <p:blipFill>
          <a:blip r:embed="rId2"/>
          <a:stretch>
            <a:fillRect/>
          </a:stretch>
        </p:blipFill>
        <p:spPr>
          <a:xfrm>
            <a:off x="10745146" y="132080"/>
            <a:ext cx="1268108" cy="762000"/>
          </a:xfrm>
          <a:prstGeom prst="rect">
            <a:avLst/>
          </a:prstGeom>
        </p:spPr>
      </p:pic>
      <p:sp>
        <p:nvSpPr>
          <p:cNvPr id="6" name="Rectangle 5">
            <a:extLst>
              <a:ext uri="{FF2B5EF4-FFF2-40B4-BE49-F238E27FC236}">
                <a16:creationId xmlns:a16="http://schemas.microsoft.com/office/drawing/2014/main" id="{B921CCC4-8F93-50D3-CDA7-61B1FB44D645}"/>
              </a:ext>
            </a:extLst>
          </p:cNvPr>
          <p:cNvSpPr/>
          <p:nvPr/>
        </p:nvSpPr>
        <p:spPr>
          <a:xfrm>
            <a:off x="303627" y="6376164"/>
            <a:ext cx="2511822" cy="4002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9640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AB02-B6E5-3E85-5E74-403E377B5522}"/>
              </a:ext>
            </a:extLst>
          </p:cNvPr>
          <p:cNvSpPr>
            <a:spLocks noGrp="1"/>
          </p:cNvSpPr>
          <p:nvPr>
            <p:ph type="title"/>
          </p:nvPr>
        </p:nvSpPr>
        <p:spPr/>
        <p:txBody>
          <a:bodyPr/>
          <a:lstStyle/>
          <a:p>
            <a:r>
              <a:rPr lang="en-US" dirty="0"/>
              <a:t>Syndrome Table </a:t>
            </a:r>
          </a:p>
        </p:txBody>
      </p:sp>
      <p:sp>
        <p:nvSpPr>
          <p:cNvPr id="4" name="Slide Number Placeholder 3">
            <a:extLst>
              <a:ext uri="{FF2B5EF4-FFF2-40B4-BE49-F238E27FC236}">
                <a16:creationId xmlns:a16="http://schemas.microsoft.com/office/drawing/2014/main" id="{C75B1D40-8C7D-DA0E-2C80-604BF280FA15}"/>
              </a:ext>
            </a:extLst>
          </p:cNvPr>
          <p:cNvSpPr>
            <a:spLocks noGrp="1"/>
          </p:cNvSpPr>
          <p:nvPr>
            <p:ph type="sldNum" sz="quarter" idx="12"/>
          </p:nvPr>
        </p:nvSpPr>
        <p:spPr/>
        <p:txBody>
          <a:bodyPr/>
          <a:lstStyle/>
          <a:p>
            <a:fld id="{CC057153-B650-4DEB-B370-79DDCFDCE934}" type="slidenum">
              <a:rPr lang="en-US" smtClean="0"/>
              <a:t>28</a:t>
            </a:fld>
            <a:endParaRPr lang="en-US" dirty="0"/>
          </a:p>
        </p:txBody>
      </p:sp>
      <p:pic>
        <p:nvPicPr>
          <p:cNvPr id="7" name="Picture 6">
            <a:extLst>
              <a:ext uri="{FF2B5EF4-FFF2-40B4-BE49-F238E27FC236}">
                <a16:creationId xmlns:a16="http://schemas.microsoft.com/office/drawing/2014/main" id="{FDC1DD02-B53E-9B8C-58A9-3A43E138A3C5}"/>
              </a:ext>
            </a:extLst>
          </p:cNvPr>
          <p:cNvPicPr>
            <a:picLocks noChangeAspect="1"/>
          </p:cNvPicPr>
          <p:nvPr/>
        </p:nvPicPr>
        <p:blipFill>
          <a:blip r:embed="rId2"/>
          <a:srcRect l="1490" t="1722" r="805" b="1722"/>
          <a:stretch>
            <a:fillRect/>
          </a:stretch>
        </p:blipFill>
        <p:spPr>
          <a:xfrm>
            <a:off x="135386" y="2277034"/>
            <a:ext cx="5710092" cy="3155577"/>
          </a:xfrm>
          <a:prstGeom prst="rect">
            <a:avLst/>
          </a:prstGeom>
        </p:spPr>
      </p:pic>
      <p:pic>
        <p:nvPicPr>
          <p:cNvPr id="6" name="Picture 5">
            <a:extLst>
              <a:ext uri="{FF2B5EF4-FFF2-40B4-BE49-F238E27FC236}">
                <a16:creationId xmlns:a16="http://schemas.microsoft.com/office/drawing/2014/main" id="{376D1ABD-BBB2-25A0-6E15-D5CE6FBCA16A}"/>
              </a:ext>
            </a:extLst>
          </p:cNvPr>
          <p:cNvPicPr>
            <a:picLocks noChangeAspect="1"/>
          </p:cNvPicPr>
          <p:nvPr/>
        </p:nvPicPr>
        <p:blipFill>
          <a:blip r:embed="rId3"/>
          <a:srcRect l="4707" t="5360" r="2411" b="10669"/>
          <a:stretch>
            <a:fillRect/>
          </a:stretch>
        </p:blipFill>
        <p:spPr>
          <a:xfrm>
            <a:off x="5939437" y="2974039"/>
            <a:ext cx="6145229" cy="1761565"/>
          </a:xfrm>
          <a:prstGeom prst="rect">
            <a:avLst/>
          </a:prstGeom>
        </p:spPr>
      </p:pic>
      <p:pic>
        <p:nvPicPr>
          <p:cNvPr id="8" name="Picture 7" descr="Blue and black text with a black background&#10;&#10;AI-generated content may be incorrect.">
            <a:extLst>
              <a:ext uri="{FF2B5EF4-FFF2-40B4-BE49-F238E27FC236}">
                <a16:creationId xmlns:a16="http://schemas.microsoft.com/office/drawing/2014/main" id="{0CA5CC7E-E863-6EA9-8BA3-E6BCCE6D0817}"/>
              </a:ext>
            </a:extLst>
          </p:cNvPr>
          <p:cNvPicPr>
            <a:picLocks noChangeAspect="1"/>
          </p:cNvPicPr>
          <p:nvPr/>
        </p:nvPicPr>
        <p:blipFill>
          <a:blip r:embed="rId4"/>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3312835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F15CA5-CF9A-C533-7994-527C9F33A3F7}"/>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4000" kern="1200">
                <a:solidFill>
                  <a:schemeClr val="tx1"/>
                </a:solidFill>
                <a:latin typeface="+mj-lt"/>
                <a:ea typeface="+mj-ea"/>
                <a:cs typeface="+mj-cs"/>
              </a:rPr>
              <a:t>Circuit for Shor's Code</a:t>
            </a:r>
          </a:p>
        </p:txBody>
      </p:sp>
      <p:sp>
        <p:nvSpPr>
          <p:cNvPr id="16" name="Rectangle 1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6067732E-06B8-97DF-CA1A-9FA04D1AC79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C057153-B650-4DEB-B370-79DDCFDCE934}" type="slidenum">
              <a:rPr lang="en-US" sz="1200">
                <a:solidFill>
                  <a:schemeClr val="tx1">
                    <a:lumMod val="50000"/>
                    <a:lumOff val="50000"/>
                  </a:schemeClr>
                </a:solidFill>
              </a:rPr>
              <a:pPr>
                <a:spcAft>
                  <a:spcPts val="600"/>
                </a:spcAft>
              </a:pPr>
              <a:t>29</a:t>
            </a:fld>
            <a:endParaRPr lang="en-US" sz="1200">
              <a:solidFill>
                <a:schemeClr val="tx1">
                  <a:lumMod val="50000"/>
                  <a:lumOff val="50000"/>
                </a:schemeClr>
              </a:solidFill>
            </a:endParaRPr>
          </a:p>
        </p:txBody>
      </p:sp>
      <p:pic>
        <p:nvPicPr>
          <p:cNvPr id="7" name="Picture 6" descr="Blue and black text with a black background&#10;&#10;AI-generated content may be incorrect.">
            <a:extLst>
              <a:ext uri="{FF2B5EF4-FFF2-40B4-BE49-F238E27FC236}">
                <a16:creationId xmlns:a16="http://schemas.microsoft.com/office/drawing/2014/main" id="{E42FB927-8DC6-8824-0403-92E23568F2F9}"/>
              </a:ext>
            </a:extLst>
          </p:cNvPr>
          <p:cNvPicPr>
            <a:picLocks noChangeAspect="1"/>
          </p:cNvPicPr>
          <p:nvPr/>
        </p:nvPicPr>
        <p:blipFill>
          <a:blip r:embed="rId2"/>
          <a:stretch>
            <a:fillRect/>
          </a:stretch>
        </p:blipFill>
        <p:spPr>
          <a:xfrm>
            <a:off x="10745146" y="132080"/>
            <a:ext cx="1268108" cy="762000"/>
          </a:xfrm>
          <a:prstGeom prst="rect">
            <a:avLst/>
          </a:prstGeom>
        </p:spPr>
      </p:pic>
      <p:pic>
        <p:nvPicPr>
          <p:cNvPr id="6" name="Picture 5">
            <a:extLst>
              <a:ext uri="{FF2B5EF4-FFF2-40B4-BE49-F238E27FC236}">
                <a16:creationId xmlns:a16="http://schemas.microsoft.com/office/drawing/2014/main" id="{425431D3-C356-9A4A-E053-6DD96A598054}"/>
              </a:ext>
            </a:extLst>
          </p:cNvPr>
          <p:cNvPicPr>
            <a:picLocks noChangeAspect="1"/>
          </p:cNvPicPr>
          <p:nvPr/>
        </p:nvPicPr>
        <p:blipFill>
          <a:blip r:embed="rId3"/>
          <a:stretch>
            <a:fillRect/>
          </a:stretch>
        </p:blipFill>
        <p:spPr>
          <a:xfrm>
            <a:off x="0" y="2421658"/>
            <a:ext cx="12192000" cy="3433010"/>
          </a:xfrm>
          <a:prstGeom prst="rect">
            <a:avLst/>
          </a:prstGeom>
        </p:spPr>
      </p:pic>
    </p:spTree>
    <p:extLst>
      <p:ext uri="{BB962C8B-B14F-4D97-AF65-F5344CB8AC3E}">
        <p14:creationId xmlns:p14="http://schemas.microsoft.com/office/powerpoint/2010/main" val="1785395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B6980-8678-E118-C927-5A2C3397D5CA}"/>
              </a:ext>
            </a:extLst>
          </p:cNvPr>
          <p:cNvSpPr>
            <a:spLocks noGrp="1"/>
          </p:cNvSpPr>
          <p:nvPr>
            <p:ph type="title"/>
          </p:nvPr>
        </p:nvSpPr>
        <p:spPr>
          <a:xfrm>
            <a:off x="899519" y="2691204"/>
            <a:ext cx="10653578" cy="1132258"/>
          </a:xfrm>
        </p:spPr>
        <p:txBody>
          <a:bodyPr/>
          <a:lstStyle/>
          <a:p>
            <a:pPr algn="ctr"/>
            <a:r>
              <a:rPr lang="en-US" dirty="0"/>
              <a:t>Thank you </a:t>
            </a:r>
          </a:p>
        </p:txBody>
      </p:sp>
      <p:sp>
        <p:nvSpPr>
          <p:cNvPr id="4" name="Slide Number Placeholder 3">
            <a:extLst>
              <a:ext uri="{FF2B5EF4-FFF2-40B4-BE49-F238E27FC236}">
                <a16:creationId xmlns:a16="http://schemas.microsoft.com/office/drawing/2014/main" id="{41F8BE56-4162-3C34-58BD-03ECC58E4E33}"/>
              </a:ext>
            </a:extLst>
          </p:cNvPr>
          <p:cNvSpPr>
            <a:spLocks noGrp="1"/>
          </p:cNvSpPr>
          <p:nvPr>
            <p:ph type="sldNum" sz="quarter" idx="12"/>
          </p:nvPr>
        </p:nvSpPr>
        <p:spPr/>
        <p:txBody>
          <a:bodyPr/>
          <a:lstStyle/>
          <a:p>
            <a:fld id="{CC057153-B650-4DEB-B370-79DDCFDCE934}" type="slidenum">
              <a:rPr lang="en-US" smtClean="0"/>
              <a:t>30</a:t>
            </a:fld>
            <a:endParaRPr lang="en-US" dirty="0"/>
          </a:p>
        </p:txBody>
      </p:sp>
      <p:pic>
        <p:nvPicPr>
          <p:cNvPr id="5" name="Picture 4" descr="Blue and black text with a black background&#10;&#10;AI-generated content may be incorrect.">
            <a:extLst>
              <a:ext uri="{FF2B5EF4-FFF2-40B4-BE49-F238E27FC236}">
                <a16:creationId xmlns:a16="http://schemas.microsoft.com/office/drawing/2014/main" id="{5C0F9E18-85A1-3215-808E-19D347C61B8F}"/>
              </a:ext>
            </a:extLst>
          </p:cNvPr>
          <p:cNvPicPr>
            <a:picLocks noChangeAspect="1"/>
          </p:cNvPicPr>
          <p:nvPr/>
        </p:nvPicPr>
        <p:blipFill>
          <a:blip r:embed="rId2"/>
          <a:stretch>
            <a:fillRect/>
          </a:stretch>
        </p:blipFill>
        <p:spPr>
          <a:xfrm>
            <a:off x="10745146" y="132080"/>
            <a:ext cx="1268108" cy="762000"/>
          </a:xfrm>
          <a:prstGeom prst="rect">
            <a:avLst/>
          </a:prstGeom>
        </p:spPr>
      </p:pic>
    </p:spTree>
    <p:extLst>
      <p:ext uri="{BB962C8B-B14F-4D97-AF65-F5344CB8AC3E}">
        <p14:creationId xmlns:p14="http://schemas.microsoft.com/office/powerpoint/2010/main" val="1989090369"/>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
  <TotalTime>594</TotalTime>
  <Words>1955</Words>
  <Application>Microsoft Office PowerPoint</Application>
  <PresentationFormat>Widescreen</PresentationFormat>
  <Paragraphs>278</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Arial Unicode MS</vt:lpstr>
      <vt:lpstr>Calibri</vt:lpstr>
      <vt:lpstr>Cambria Math</vt:lpstr>
      <vt:lpstr>Neue Haas Grotesk Text Pro</vt:lpstr>
      <vt:lpstr>Segoe UI</vt:lpstr>
      <vt:lpstr>VanillaVTI</vt:lpstr>
      <vt:lpstr> QUANTUM ERROR CORRECTION</vt:lpstr>
      <vt:lpstr>Outline :</vt:lpstr>
      <vt:lpstr>Outline :</vt:lpstr>
      <vt:lpstr>Why do we need Error Correction?</vt:lpstr>
      <vt:lpstr>The 3-bit Repetition Code </vt:lpstr>
      <vt:lpstr>Noise on Classical bits</vt:lpstr>
      <vt:lpstr>Reliability of 3-Bit Repetition Code</vt:lpstr>
      <vt:lpstr>Outline :</vt:lpstr>
      <vt:lpstr>Quantum Error Correction</vt:lpstr>
      <vt:lpstr>Outline :</vt:lpstr>
      <vt:lpstr>Bit Flip</vt:lpstr>
      <vt:lpstr>Bit Flip</vt:lpstr>
      <vt:lpstr>Bit Flip</vt:lpstr>
      <vt:lpstr>Bit Flip Syndrome Table </vt:lpstr>
      <vt:lpstr>Stabilizer code [n, k]</vt:lpstr>
      <vt:lpstr>Example:</vt:lpstr>
      <vt:lpstr>Stabilizers for Bit Flip </vt:lpstr>
      <vt:lpstr>Outline :</vt:lpstr>
      <vt:lpstr>Phase Flip</vt:lpstr>
      <vt:lpstr>   Phase Flip</vt:lpstr>
      <vt:lpstr>Phase Flip</vt:lpstr>
      <vt:lpstr>Phase Flip Syndrome Table</vt:lpstr>
      <vt:lpstr>Stabilizers for Phase Flip</vt:lpstr>
      <vt:lpstr>Outline :</vt:lpstr>
      <vt:lpstr>Shor's Code [[9,1,3]]</vt:lpstr>
      <vt:lpstr>Encoding </vt:lpstr>
      <vt:lpstr>Stabilizers for Shor's Code</vt:lpstr>
      <vt:lpstr>Syndrome Table </vt:lpstr>
      <vt:lpstr>Circuit for Shor's Code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H Jeevitha</cp:lastModifiedBy>
  <cp:revision>949</cp:revision>
  <dcterms:created xsi:type="dcterms:W3CDTF">2025-09-14T11:43:17Z</dcterms:created>
  <dcterms:modified xsi:type="dcterms:W3CDTF">2025-09-24T02:15:50Z</dcterms:modified>
</cp:coreProperties>
</file>