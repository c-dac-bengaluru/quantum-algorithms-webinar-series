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8"/>
  </p:notesMasterIdLst>
  <p:sldIdLst>
    <p:sldId id="256" r:id="rId2"/>
    <p:sldId id="283" r:id="rId3"/>
    <p:sldId id="264" r:id="rId4"/>
    <p:sldId id="258" r:id="rId5"/>
    <p:sldId id="259" r:id="rId6"/>
    <p:sldId id="307" r:id="rId7"/>
    <p:sldId id="308" r:id="rId8"/>
    <p:sldId id="309" r:id="rId9"/>
    <p:sldId id="310" r:id="rId10"/>
    <p:sldId id="311" r:id="rId11"/>
    <p:sldId id="275" r:id="rId12"/>
    <p:sldId id="293" r:id="rId13"/>
    <p:sldId id="277" r:id="rId14"/>
    <p:sldId id="297" r:id="rId15"/>
    <p:sldId id="298" r:id="rId16"/>
    <p:sldId id="267" r:id="rId17"/>
    <p:sldId id="268" r:id="rId18"/>
    <p:sldId id="299" r:id="rId19"/>
    <p:sldId id="300" r:id="rId20"/>
    <p:sldId id="301" r:id="rId21"/>
    <p:sldId id="302" r:id="rId22"/>
    <p:sldId id="303" r:id="rId23"/>
    <p:sldId id="304" r:id="rId24"/>
    <p:sldId id="333" r:id="rId25"/>
    <p:sldId id="305" r:id="rId26"/>
    <p:sldId id="334" r:id="rId27"/>
    <p:sldId id="306" r:id="rId28"/>
    <p:sldId id="312" r:id="rId29"/>
    <p:sldId id="313" r:id="rId30"/>
    <p:sldId id="257" r:id="rId31"/>
    <p:sldId id="276" r:id="rId32"/>
    <p:sldId id="274" r:id="rId33"/>
    <p:sldId id="314" r:id="rId34"/>
    <p:sldId id="315" r:id="rId35"/>
    <p:sldId id="316" r:id="rId36"/>
    <p:sldId id="317" r:id="rId37"/>
    <p:sldId id="318" r:id="rId38"/>
    <p:sldId id="319" r:id="rId39"/>
    <p:sldId id="320" r:id="rId40"/>
    <p:sldId id="321" r:id="rId41"/>
    <p:sldId id="322" r:id="rId42"/>
    <p:sldId id="323" r:id="rId43"/>
    <p:sldId id="278" r:id="rId44"/>
    <p:sldId id="294" r:id="rId45"/>
    <p:sldId id="291" r:id="rId46"/>
    <p:sldId id="292" r:id="rId47"/>
    <p:sldId id="287" r:id="rId48"/>
    <p:sldId id="290" r:id="rId49"/>
    <p:sldId id="288" r:id="rId50"/>
    <p:sldId id="289" r:id="rId51"/>
    <p:sldId id="281" r:id="rId52"/>
    <p:sldId id="324" r:id="rId53"/>
    <p:sldId id="325" r:id="rId54"/>
    <p:sldId id="326" r:id="rId55"/>
    <p:sldId id="284" r:id="rId56"/>
    <p:sldId id="282"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8" autoAdjust="0"/>
  </p:normalViewPr>
  <p:slideViewPr>
    <p:cSldViewPr snapToGrid="0">
      <p:cViewPr varScale="1">
        <p:scale>
          <a:sx n="106" d="100"/>
          <a:sy n="106" d="100"/>
        </p:scale>
        <p:origin x="792" y="96"/>
      </p:cViewPr>
      <p:guideLst/>
    </p:cSldViewPr>
  </p:slideViewPr>
  <p:outlineViewPr>
    <p:cViewPr>
      <p:scale>
        <a:sx n="33" d="100"/>
        <a:sy n="33" d="100"/>
      </p:scale>
      <p:origin x="0" y="-125"/>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846421-9A72-4B6E-BE80-D0D109CFC0E0}" type="datetimeFigureOut">
              <a:rPr lang="en-IN" smtClean="0"/>
              <a:t>01-10-2025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10AF2B-6106-4825-9312-5A116771B239}" type="slidenum">
              <a:rPr lang="en-IN" smtClean="0"/>
              <a:t>‹#›</a:t>
            </a:fld>
            <a:endParaRPr lang="en-IN"/>
          </a:p>
        </p:txBody>
      </p:sp>
    </p:spTree>
    <p:extLst>
      <p:ext uri="{BB962C8B-B14F-4D97-AF65-F5344CB8AC3E}">
        <p14:creationId xmlns:p14="http://schemas.microsoft.com/office/powerpoint/2010/main" val="2730299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6910AF2B-6106-4825-9312-5A116771B239}" type="slidenum">
              <a:rPr lang="en-IN" smtClean="0"/>
              <a:t>1</a:t>
            </a:fld>
            <a:endParaRPr lang="en-IN"/>
          </a:p>
        </p:txBody>
      </p:sp>
    </p:spTree>
    <p:extLst>
      <p:ext uri="{BB962C8B-B14F-4D97-AF65-F5344CB8AC3E}">
        <p14:creationId xmlns:p14="http://schemas.microsoft.com/office/powerpoint/2010/main" val="3932017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6910AF2B-6106-4825-9312-5A116771B239}" type="slidenum">
              <a:rPr lang="en-IN" smtClean="0"/>
              <a:t>2</a:t>
            </a:fld>
            <a:endParaRPr lang="en-IN"/>
          </a:p>
        </p:txBody>
      </p:sp>
    </p:spTree>
    <p:extLst>
      <p:ext uri="{BB962C8B-B14F-4D97-AF65-F5344CB8AC3E}">
        <p14:creationId xmlns:p14="http://schemas.microsoft.com/office/powerpoint/2010/main" val="4106081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6910AF2B-6106-4825-9312-5A116771B239}" type="slidenum">
              <a:rPr lang="en-IN" smtClean="0"/>
              <a:t>3</a:t>
            </a:fld>
            <a:endParaRPr lang="en-IN"/>
          </a:p>
        </p:txBody>
      </p:sp>
    </p:spTree>
    <p:extLst>
      <p:ext uri="{BB962C8B-B14F-4D97-AF65-F5344CB8AC3E}">
        <p14:creationId xmlns:p14="http://schemas.microsoft.com/office/powerpoint/2010/main" val="11437933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6910AF2B-6106-4825-9312-5A116771B239}" type="slidenum">
              <a:rPr lang="en-IN" smtClean="0"/>
              <a:t>4</a:t>
            </a:fld>
            <a:endParaRPr lang="en-IN"/>
          </a:p>
        </p:txBody>
      </p:sp>
    </p:spTree>
    <p:extLst>
      <p:ext uri="{BB962C8B-B14F-4D97-AF65-F5344CB8AC3E}">
        <p14:creationId xmlns:p14="http://schemas.microsoft.com/office/powerpoint/2010/main" val="37337562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6910AF2B-6106-4825-9312-5A116771B239}" type="slidenum">
              <a:rPr lang="en-IN" smtClean="0"/>
              <a:t>5</a:t>
            </a:fld>
            <a:endParaRPr lang="en-IN"/>
          </a:p>
        </p:txBody>
      </p:sp>
    </p:spTree>
    <p:extLst>
      <p:ext uri="{BB962C8B-B14F-4D97-AF65-F5344CB8AC3E}">
        <p14:creationId xmlns:p14="http://schemas.microsoft.com/office/powerpoint/2010/main" val="25215095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910AF2B-6106-4825-9312-5A116771B239}" type="slidenum">
              <a:rPr lang="en-IN" smtClean="0"/>
              <a:t>42</a:t>
            </a:fld>
            <a:endParaRPr lang="en-IN"/>
          </a:p>
        </p:txBody>
      </p:sp>
    </p:spTree>
    <p:extLst>
      <p:ext uri="{BB962C8B-B14F-4D97-AF65-F5344CB8AC3E}">
        <p14:creationId xmlns:p14="http://schemas.microsoft.com/office/powerpoint/2010/main" val="19423265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6910AF2B-6106-4825-9312-5A116771B239}" type="slidenum">
              <a:rPr lang="en-IN" smtClean="0"/>
              <a:t>49</a:t>
            </a:fld>
            <a:endParaRPr lang="en-IN"/>
          </a:p>
        </p:txBody>
      </p:sp>
    </p:spTree>
    <p:extLst>
      <p:ext uri="{BB962C8B-B14F-4D97-AF65-F5344CB8AC3E}">
        <p14:creationId xmlns:p14="http://schemas.microsoft.com/office/powerpoint/2010/main" val="2622489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8134552-7D81-4522-B428-BEF48DA25773}" type="datetime1">
              <a:rPr lang="en-IN" smtClean="0"/>
              <a:t>01-10-2025</a:t>
            </a:fld>
            <a:endParaRPr lang="en-IN"/>
          </a:p>
        </p:txBody>
      </p:sp>
      <p:sp>
        <p:nvSpPr>
          <p:cNvPr id="5" name="Footer Placeholder 4"/>
          <p:cNvSpPr>
            <a:spLocks noGrp="1"/>
          </p:cNvSpPr>
          <p:nvPr>
            <p:ph type="ftr" sz="quarter" idx="11"/>
          </p:nvPr>
        </p:nvSpPr>
        <p:spPr/>
        <p:txBody>
          <a:bodyPr/>
          <a:lstStyle/>
          <a:p>
            <a:r>
              <a:rPr lang="en-IN"/>
              <a:t>Slide ‹#› of 40</a:t>
            </a:r>
          </a:p>
        </p:txBody>
      </p:sp>
      <p:sp>
        <p:nvSpPr>
          <p:cNvPr id="6" name="Slide Number Placeholder 5"/>
          <p:cNvSpPr>
            <a:spLocks noGrp="1"/>
          </p:cNvSpPr>
          <p:nvPr>
            <p:ph type="sldNum" sz="quarter" idx="12"/>
          </p:nvPr>
        </p:nvSpPr>
        <p:spPr/>
        <p:txBody>
          <a:bodyPr/>
          <a:lstStyle/>
          <a:p>
            <a:fld id="{F9AA3F58-F348-4ACC-AF27-6630C1E91C9F}" type="slidenum">
              <a:rPr lang="en-IN" smtClean="0"/>
              <a:pPr/>
              <a:t>‹#›</a:t>
            </a:fld>
            <a:endParaRPr lang="en-IN" dirty="0"/>
          </a:p>
        </p:txBody>
      </p:sp>
    </p:spTree>
    <p:extLst>
      <p:ext uri="{BB962C8B-B14F-4D97-AF65-F5344CB8AC3E}">
        <p14:creationId xmlns:p14="http://schemas.microsoft.com/office/powerpoint/2010/main" val="1464929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37468D3-6AB5-42AE-90C2-382A2087EECF}" type="datetime1">
              <a:rPr lang="en-IN" smtClean="0"/>
              <a:t>01-10-2025</a:t>
            </a:fld>
            <a:endParaRPr lang="en-IN"/>
          </a:p>
        </p:txBody>
      </p:sp>
      <p:sp>
        <p:nvSpPr>
          <p:cNvPr id="5" name="Footer Placeholder 4"/>
          <p:cNvSpPr>
            <a:spLocks noGrp="1"/>
          </p:cNvSpPr>
          <p:nvPr>
            <p:ph type="ftr" sz="quarter" idx="11"/>
          </p:nvPr>
        </p:nvSpPr>
        <p:spPr/>
        <p:txBody>
          <a:bodyPr/>
          <a:lstStyle/>
          <a:p>
            <a:r>
              <a:rPr lang="en-IN"/>
              <a:t>Slide ‹#› of 40</a:t>
            </a:r>
          </a:p>
        </p:txBody>
      </p:sp>
      <p:sp>
        <p:nvSpPr>
          <p:cNvPr id="6" name="Slide Number Placeholder 5"/>
          <p:cNvSpPr>
            <a:spLocks noGrp="1"/>
          </p:cNvSpPr>
          <p:nvPr>
            <p:ph type="sldNum" sz="quarter" idx="12"/>
          </p:nvPr>
        </p:nvSpPr>
        <p:spPr/>
        <p:txBody>
          <a:bodyPr/>
          <a:lstStyle/>
          <a:p>
            <a:fld id="{F9AA3F58-F348-4ACC-AF27-6630C1E91C9F}" type="slidenum">
              <a:rPr lang="en-IN" smtClean="0"/>
              <a:pPr/>
              <a:t>‹#›</a:t>
            </a:fld>
            <a:endParaRPr lang="en-IN" dirty="0"/>
          </a:p>
        </p:txBody>
      </p:sp>
    </p:spTree>
    <p:extLst>
      <p:ext uri="{BB962C8B-B14F-4D97-AF65-F5344CB8AC3E}">
        <p14:creationId xmlns:p14="http://schemas.microsoft.com/office/powerpoint/2010/main" val="2694467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496E10-E1FD-46A4-B353-D8DC7DEFF392}" type="datetime1">
              <a:rPr lang="en-IN" smtClean="0"/>
              <a:t>01-10-2025</a:t>
            </a:fld>
            <a:endParaRPr lang="en-IN"/>
          </a:p>
        </p:txBody>
      </p:sp>
      <p:sp>
        <p:nvSpPr>
          <p:cNvPr id="5" name="Footer Placeholder 4"/>
          <p:cNvSpPr>
            <a:spLocks noGrp="1"/>
          </p:cNvSpPr>
          <p:nvPr>
            <p:ph type="ftr" sz="quarter" idx="11"/>
          </p:nvPr>
        </p:nvSpPr>
        <p:spPr/>
        <p:txBody>
          <a:bodyPr/>
          <a:lstStyle/>
          <a:p>
            <a:r>
              <a:rPr lang="en-IN"/>
              <a:t>Slide ‹#› of 40</a:t>
            </a:r>
          </a:p>
        </p:txBody>
      </p:sp>
      <p:sp>
        <p:nvSpPr>
          <p:cNvPr id="6" name="Slide Number Placeholder 5"/>
          <p:cNvSpPr>
            <a:spLocks noGrp="1"/>
          </p:cNvSpPr>
          <p:nvPr>
            <p:ph type="sldNum" sz="quarter" idx="12"/>
          </p:nvPr>
        </p:nvSpPr>
        <p:spPr/>
        <p:txBody>
          <a:bodyPr/>
          <a:lstStyle/>
          <a:p>
            <a:fld id="{F9AA3F58-F348-4ACC-AF27-6630C1E91C9F}" type="slidenum">
              <a:rPr lang="en-IN" smtClean="0"/>
              <a:t>‹#›</a:t>
            </a:fld>
            <a:endParaRPr lang="en-IN" dirty="0"/>
          </a:p>
        </p:txBody>
      </p:sp>
    </p:spTree>
    <p:extLst>
      <p:ext uri="{BB962C8B-B14F-4D97-AF65-F5344CB8AC3E}">
        <p14:creationId xmlns:p14="http://schemas.microsoft.com/office/powerpoint/2010/main" val="786921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01EF480-DD3C-48ED-B10C-99786147F6FA}" type="datetime1">
              <a:rPr lang="en-IN" smtClean="0"/>
              <a:t>01-10-2025</a:t>
            </a:fld>
            <a:endParaRPr lang="en-IN"/>
          </a:p>
        </p:txBody>
      </p:sp>
      <p:sp>
        <p:nvSpPr>
          <p:cNvPr id="6" name="Footer Placeholder 5"/>
          <p:cNvSpPr>
            <a:spLocks noGrp="1"/>
          </p:cNvSpPr>
          <p:nvPr>
            <p:ph type="ftr" sz="quarter" idx="11"/>
          </p:nvPr>
        </p:nvSpPr>
        <p:spPr/>
        <p:txBody>
          <a:bodyPr/>
          <a:lstStyle/>
          <a:p>
            <a:r>
              <a:rPr lang="en-IN"/>
              <a:t>Slide ‹#› of 40</a:t>
            </a:r>
          </a:p>
        </p:txBody>
      </p:sp>
      <p:sp>
        <p:nvSpPr>
          <p:cNvPr id="7" name="Slide Number Placeholder 6"/>
          <p:cNvSpPr>
            <a:spLocks noGrp="1"/>
          </p:cNvSpPr>
          <p:nvPr>
            <p:ph type="sldNum" sz="quarter" idx="12"/>
          </p:nvPr>
        </p:nvSpPr>
        <p:spPr/>
        <p:txBody>
          <a:bodyPr/>
          <a:lstStyle/>
          <a:p>
            <a:fld id="{F9AA3F58-F348-4ACC-AF27-6630C1E91C9F}" type="slidenum">
              <a:rPr lang="en-IN" smtClean="0"/>
              <a:t>‹#›</a:t>
            </a:fld>
            <a:endParaRPr lang="en-IN"/>
          </a:p>
        </p:txBody>
      </p:sp>
    </p:spTree>
    <p:extLst>
      <p:ext uri="{BB962C8B-B14F-4D97-AF65-F5344CB8AC3E}">
        <p14:creationId xmlns:p14="http://schemas.microsoft.com/office/powerpoint/2010/main" val="3637797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4BAF277-23CC-4E60-AF03-E76D635DD1F4}" type="datetime1">
              <a:rPr lang="en-IN" smtClean="0"/>
              <a:t>01-10-2025</a:t>
            </a:fld>
            <a:endParaRPr lang="en-IN"/>
          </a:p>
        </p:txBody>
      </p:sp>
      <p:sp>
        <p:nvSpPr>
          <p:cNvPr id="8" name="Footer Placeholder 7"/>
          <p:cNvSpPr>
            <a:spLocks noGrp="1"/>
          </p:cNvSpPr>
          <p:nvPr>
            <p:ph type="ftr" sz="quarter" idx="11"/>
          </p:nvPr>
        </p:nvSpPr>
        <p:spPr/>
        <p:txBody>
          <a:bodyPr/>
          <a:lstStyle/>
          <a:p>
            <a:r>
              <a:rPr lang="en-IN"/>
              <a:t>Slide ‹#› of 40</a:t>
            </a:r>
          </a:p>
        </p:txBody>
      </p:sp>
      <p:sp>
        <p:nvSpPr>
          <p:cNvPr id="9" name="Slide Number Placeholder 8"/>
          <p:cNvSpPr>
            <a:spLocks noGrp="1"/>
          </p:cNvSpPr>
          <p:nvPr>
            <p:ph type="sldNum" sz="quarter" idx="12"/>
          </p:nvPr>
        </p:nvSpPr>
        <p:spPr/>
        <p:txBody>
          <a:bodyPr/>
          <a:lstStyle/>
          <a:p>
            <a:fld id="{F9AA3F58-F348-4ACC-AF27-6630C1E91C9F}" type="slidenum">
              <a:rPr lang="en-IN" smtClean="0"/>
              <a:t>‹#›</a:t>
            </a:fld>
            <a:endParaRPr lang="en-IN"/>
          </a:p>
        </p:txBody>
      </p:sp>
    </p:spTree>
    <p:extLst>
      <p:ext uri="{BB962C8B-B14F-4D97-AF65-F5344CB8AC3E}">
        <p14:creationId xmlns:p14="http://schemas.microsoft.com/office/powerpoint/2010/main" val="3744802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DEDB75A-56A3-4B46-8D72-4EE4DB1DA4CA}" type="datetime1">
              <a:rPr lang="en-IN" smtClean="0"/>
              <a:t>01-10-2025</a:t>
            </a:fld>
            <a:endParaRPr lang="en-IN"/>
          </a:p>
        </p:txBody>
      </p:sp>
      <p:sp>
        <p:nvSpPr>
          <p:cNvPr id="4" name="Footer Placeholder 3"/>
          <p:cNvSpPr>
            <a:spLocks noGrp="1"/>
          </p:cNvSpPr>
          <p:nvPr>
            <p:ph type="ftr" sz="quarter" idx="11"/>
          </p:nvPr>
        </p:nvSpPr>
        <p:spPr/>
        <p:txBody>
          <a:bodyPr/>
          <a:lstStyle/>
          <a:p>
            <a:r>
              <a:rPr lang="en-IN"/>
              <a:t>Slide ‹#› of 40</a:t>
            </a:r>
          </a:p>
        </p:txBody>
      </p:sp>
      <p:sp>
        <p:nvSpPr>
          <p:cNvPr id="5" name="Slide Number Placeholder 4"/>
          <p:cNvSpPr>
            <a:spLocks noGrp="1"/>
          </p:cNvSpPr>
          <p:nvPr>
            <p:ph type="sldNum" sz="quarter" idx="12"/>
          </p:nvPr>
        </p:nvSpPr>
        <p:spPr/>
        <p:txBody>
          <a:bodyPr/>
          <a:lstStyle/>
          <a:p>
            <a:fld id="{F9AA3F58-F348-4ACC-AF27-6630C1E91C9F}" type="slidenum">
              <a:rPr lang="en-IN" smtClean="0"/>
              <a:t>‹#›</a:t>
            </a:fld>
            <a:endParaRPr lang="en-IN"/>
          </a:p>
        </p:txBody>
      </p:sp>
    </p:spTree>
    <p:extLst>
      <p:ext uri="{BB962C8B-B14F-4D97-AF65-F5344CB8AC3E}">
        <p14:creationId xmlns:p14="http://schemas.microsoft.com/office/powerpoint/2010/main" val="2521405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76C579-6FAE-4CCE-9F79-6660CD580853}" type="datetime1">
              <a:rPr lang="en-IN" smtClean="0"/>
              <a:t>01-10-2025</a:t>
            </a:fld>
            <a:endParaRPr lang="en-IN"/>
          </a:p>
        </p:txBody>
      </p:sp>
      <p:sp>
        <p:nvSpPr>
          <p:cNvPr id="3" name="Footer Placeholder 2"/>
          <p:cNvSpPr>
            <a:spLocks noGrp="1"/>
          </p:cNvSpPr>
          <p:nvPr>
            <p:ph type="ftr" sz="quarter" idx="11"/>
          </p:nvPr>
        </p:nvSpPr>
        <p:spPr/>
        <p:txBody>
          <a:bodyPr/>
          <a:lstStyle/>
          <a:p>
            <a:r>
              <a:rPr lang="en-IN"/>
              <a:t>Slide ‹#› of 40</a:t>
            </a:r>
          </a:p>
        </p:txBody>
      </p:sp>
      <p:sp>
        <p:nvSpPr>
          <p:cNvPr id="4" name="Slide Number Placeholder 3"/>
          <p:cNvSpPr>
            <a:spLocks noGrp="1"/>
          </p:cNvSpPr>
          <p:nvPr>
            <p:ph type="sldNum" sz="quarter" idx="12"/>
          </p:nvPr>
        </p:nvSpPr>
        <p:spPr/>
        <p:txBody>
          <a:bodyPr/>
          <a:lstStyle/>
          <a:p>
            <a:fld id="{F9AA3F58-F348-4ACC-AF27-6630C1E91C9F}" type="slidenum">
              <a:rPr lang="en-IN" smtClean="0"/>
              <a:t>‹#›</a:t>
            </a:fld>
            <a:endParaRPr lang="en-IN"/>
          </a:p>
        </p:txBody>
      </p:sp>
    </p:spTree>
    <p:extLst>
      <p:ext uri="{BB962C8B-B14F-4D97-AF65-F5344CB8AC3E}">
        <p14:creationId xmlns:p14="http://schemas.microsoft.com/office/powerpoint/2010/main" val="2117685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6A919F-2F95-4160-8B7A-6C98BAFBEA0F}" type="datetime1">
              <a:rPr lang="en-IN" smtClean="0"/>
              <a:t>01-10-2025</a:t>
            </a:fld>
            <a:endParaRPr lang="en-IN"/>
          </a:p>
        </p:txBody>
      </p:sp>
      <p:sp>
        <p:nvSpPr>
          <p:cNvPr id="6" name="Footer Placeholder 5"/>
          <p:cNvSpPr>
            <a:spLocks noGrp="1"/>
          </p:cNvSpPr>
          <p:nvPr>
            <p:ph type="ftr" sz="quarter" idx="11"/>
          </p:nvPr>
        </p:nvSpPr>
        <p:spPr/>
        <p:txBody>
          <a:bodyPr/>
          <a:lstStyle/>
          <a:p>
            <a:r>
              <a:rPr lang="en-IN"/>
              <a:t>Slide ‹#› of 40</a:t>
            </a:r>
          </a:p>
        </p:txBody>
      </p:sp>
      <p:sp>
        <p:nvSpPr>
          <p:cNvPr id="7" name="Slide Number Placeholder 6"/>
          <p:cNvSpPr>
            <a:spLocks noGrp="1"/>
          </p:cNvSpPr>
          <p:nvPr>
            <p:ph type="sldNum" sz="quarter" idx="12"/>
          </p:nvPr>
        </p:nvSpPr>
        <p:spPr/>
        <p:txBody>
          <a:bodyPr/>
          <a:lstStyle/>
          <a:p>
            <a:fld id="{F9AA3F58-F348-4ACC-AF27-6630C1E91C9F}" type="slidenum">
              <a:rPr lang="en-IN" smtClean="0"/>
              <a:t>‹#›</a:t>
            </a:fld>
            <a:endParaRPr lang="en-IN"/>
          </a:p>
        </p:txBody>
      </p:sp>
    </p:spTree>
    <p:extLst>
      <p:ext uri="{BB962C8B-B14F-4D97-AF65-F5344CB8AC3E}">
        <p14:creationId xmlns:p14="http://schemas.microsoft.com/office/powerpoint/2010/main" val="2386565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7C13F5-74A3-46D6-A4C4-D6F8D8512AC9}" type="datetime1">
              <a:rPr lang="en-IN" smtClean="0"/>
              <a:t>01-10-2025</a:t>
            </a:fld>
            <a:endParaRPr lang="en-IN"/>
          </a:p>
        </p:txBody>
      </p:sp>
      <p:sp>
        <p:nvSpPr>
          <p:cNvPr id="6" name="Footer Placeholder 5"/>
          <p:cNvSpPr>
            <a:spLocks noGrp="1"/>
          </p:cNvSpPr>
          <p:nvPr>
            <p:ph type="ftr" sz="quarter" idx="11"/>
          </p:nvPr>
        </p:nvSpPr>
        <p:spPr/>
        <p:txBody>
          <a:bodyPr/>
          <a:lstStyle/>
          <a:p>
            <a:r>
              <a:rPr lang="en-IN"/>
              <a:t>Slide ‹#› of 40</a:t>
            </a:r>
          </a:p>
        </p:txBody>
      </p:sp>
      <p:sp>
        <p:nvSpPr>
          <p:cNvPr id="7" name="Slide Number Placeholder 6"/>
          <p:cNvSpPr>
            <a:spLocks noGrp="1"/>
          </p:cNvSpPr>
          <p:nvPr>
            <p:ph type="sldNum" sz="quarter" idx="12"/>
          </p:nvPr>
        </p:nvSpPr>
        <p:spPr/>
        <p:txBody>
          <a:bodyPr/>
          <a:lstStyle/>
          <a:p>
            <a:fld id="{F9AA3F58-F348-4ACC-AF27-6630C1E91C9F}" type="slidenum">
              <a:rPr lang="en-IN" smtClean="0"/>
              <a:t>‹#›</a:t>
            </a:fld>
            <a:endParaRPr lang="en-IN" dirty="0"/>
          </a:p>
        </p:txBody>
      </p:sp>
    </p:spTree>
    <p:extLst>
      <p:ext uri="{BB962C8B-B14F-4D97-AF65-F5344CB8AC3E}">
        <p14:creationId xmlns:p14="http://schemas.microsoft.com/office/powerpoint/2010/main" val="761751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65B17E2-1917-4965-8791-784301CBC1B5}" type="datetime1">
              <a:rPr lang="en-IN" smtClean="0"/>
              <a:t>01-10-2025</a:t>
            </a:fld>
            <a:endParaRPr lang="en-IN"/>
          </a:p>
        </p:txBody>
      </p:sp>
      <p:sp>
        <p:nvSpPr>
          <p:cNvPr id="5" name="Footer Placeholder 4"/>
          <p:cNvSpPr>
            <a:spLocks noGrp="1"/>
          </p:cNvSpPr>
          <p:nvPr>
            <p:ph type="ftr" sz="quarter" idx="11"/>
          </p:nvPr>
        </p:nvSpPr>
        <p:spPr/>
        <p:txBody>
          <a:bodyPr/>
          <a:lstStyle/>
          <a:p>
            <a:r>
              <a:rPr lang="en-IN"/>
              <a:t>Slide ‹#› of 40</a:t>
            </a:r>
          </a:p>
        </p:txBody>
      </p:sp>
      <p:sp>
        <p:nvSpPr>
          <p:cNvPr id="6" name="Slide Number Placeholder 5"/>
          <p:cNvSpPr>
            <a:spLocks noGrp="1"/>
          </p:cNvSpPr>
          <p:nvPr>
            <p:ph type="sldNum" sz="quarter" idx="12"/>
          </p:nvPr>
        </p:nvSpPr>
        <p:spPr/>
        <p:txBody>
          <a:bodyPr/>
          <a:lstStyle/>
          <a:p>
            <a:fld id="{F9AA3F58-F348-4ACC-AF27-6630C1E91C9F}" type="slidenum">
              <a:rPr lang="en-IN" smtClean="0"/>
              <a:t>‹#›</a:t>
            </a:fld>
            <a:endParaRPr lang="en-IN"/>
          </a:p>
        </p:txBody>
      </p:sp>
    </p:spTree>
    <p:extLst>
      <p:ext uri="{BB962C8B-B14F-4D97-AF65-F5344CB8AC3E}">
        <p14:creationId xmlns:p14="http://schemas.microsoft.com/office/powerpoint/2010/main" val="1196196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911CC03-F40C-4D51-8A8A-45FA4022506F}" type="datetime1">
              <a:rPr lang="en-IN" smtClean="0"/>
              <a:t>01-10-2025</a:t>
            </a:fld>
            <a:endParaRPr lang="en-IN"/>
          </a:p>
        </p:txBody>
      </p:sp>
      <p:sp>
        <p:nvSpPr>
          <p:cNvPr id="5" name="Footer Placeholder 4"/>
          <p:cNvSpPr>
            <a:spLocks noGrp="1"/>
          </p:cNvSpPr>
          <p:nvPr>
            <p:ph type="ftr" sz="quarter" idx="11"/>
          </p:nvPr>
        </p:nvSpPr>
        <p:spPr/>
        <p:txBody>
          <a:bodyPr/>
          <a:lstStyle/>
          <a:p>
            <a:r>
              <a:rPr lang="en-IN"/>
              <a:t>Slide ‹#› of 40</a:t>
            </a:r>
          </a:p>
        </p:txBody>
      </p:sp>
      <p:sp>
        <p:nvSpPr>
          <p:cNvPr id="6" name="Slide Number Placeholder 5"/>
          <p:cNvSpPr>
            <a:spLocks noGrp="1"/>
          </p:cNvSpPr>
          <p:nvPr>
            <p:ph type="sldNum" sz="quarter" idx="12"/>
          </p:nvPr>
        </p:nvSpPr>
        <p:spPr/>
        <p:txBody>
          <a:bodyPr/>
          <a:lstStyle/>
          <a:p>
            <a:fld id="{F9AA3F58-F348-4ACC-AF27-6630C1E91C9F}" type="slidenum">
              <a:rPr lang="en-IN" smtClean="0"/>
              <a:t>‹#›</a:t>
            </a:fld>
            <a:endParaRPr lang="en-IN"/>
          </a:p>
        </p:txBody>
      </p:sp>
    </p:spTree>
    <p:extLst>
      <p:ext uri="{BB962C8B-B14F-4D97-AF65-F5344CB8AC3E}">
        <p14:creationId xmlns:p14="http://schemas.microsoft.com/office/powerpoint/2010/main" val="2002909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9604208"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5FA1A6-FDB4-4D2C-8D7D-71FFB88A0B77}" type="datetime1">
              <a:rPr lang="en-IN" smtClean="0"/>
              <a:t>01-10-2025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Slide ‹#› of 40</a:t>
            </a:r>
          </a:p>
        </p:txBody>
      </p:sp>
      <p:sp>
        <p:nvSpPr>
          <p:cNvPr id="6" name="Slide Number Placeholder 5"/>
          <p:cNvSpPr>
            <a:spLocks noGrp="1"/>
          </p:cNvSpPr>
          <p:nvPr>
            <p:ph type="sldNum" sz="quarter" idx="4"/>
          </p:nvPr>
        </p:nvSpPr>
        <p:spPr>
          <a:xfrm>
            <a:off x="8610600" y="636260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AA3F58-F348-4ACC-AF27-6630C1E91C9F}" type="slidenum">
              <a:rPr lang="en-IN" smtClean="0"/>
              <a:pPr/>
              <a:t>‹#›</a:t>
            </a:fld>
            <a:endParaRPr lang="en-IN" dirty="0"/>
          </a:p>
        </p:txBody>
      </p:sp>
      <p:pic>
        <p:nvPicPr>
          <p:cNvPr id="8" name="Picture 7">
            <a:extLst>
              <a:ext uri="{FF2B5EF4-FFF2-40B4-BE49-F238E27FC236}">
                <a16:creationId xmlns:a16="http://schemas.microsoft.com/office/drawing/2014/main" id="{2013F498-732F-49E7-8415-D08A391C7B89}"/>
              </a:ext>
            </a:extLst>
          </p:cNvPr>
          <p:cNvPicPr>
            <a:picLocks noChangeAspect="1"/>
          </p:cNvPicPr>
          <p:nvPr userDrawn="1"/>
        </p:nvPicPr>
        <p:blipFill>
          <a:blip r:embed="rId13" cstate="print">
            <a:extLst>
              <a:ext uri="{28A0092B-C50C-407E-A947-70E740481C1C}">
                <a14:useLocalDpi xmlns:a14="http://schemas.microsoft.com/office/drawing/2010/main" val="0"/>
              </a:ext>
            </a:extLst>
          </a:blip>
          <a:srcRect/>
          <a:stretch/>
        </p:blipFill>
        <p:spPr>
          <a:xfrm>
            <a:off x="10471619" y="230188"/>
            <a:ext cx="1370327" cy="981075"/>
          </a:xfrm>
          <a:prstGeom prst="rect">
            <a:avLst/>
          </a:prstGeom>
        </p:spPr>
      </p:pic>
    </p:spTree>
    <p:extLst>
      <p:ext uri="{BB962C8B-B14F-4D97-AF65-F5344CB8AC3E}">
        <p14:creationId xmlns:p14="http://schemas.microsoft.com/office/powerpoint/2010/main" val="12169554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Quantum Machine Learning</a:t>
            </a:r>
            <a:endParaRPr lang="en-IN" dirty="0"/>
          </a:p>
        </p:txBody>
      </p:sp>
      <p:sp>
        <p:nvSpPr>
          <p:cNvPr id="3" name="Subtitle 2"/>
          <p:cNvSpPr>
            <a:spLocks noGrp="1"/>
          </p:cNvSpPr>
          <p:nvPr>
            <p:ph type="subTitle" idx="1"/>
          </p:nvPr>
        </p:nvSpPr>
        <p:spPr>
          <a:xfrm>
            <a:off x="1524000" y="4459704"/>
            <a:ext cx="9144000" cy="798095"/>
          </a:xfrm>
        </p:spPr>
        <p:txBody>
          <a:bodyPr/>
          <a:lstStyle/>
          <a:p>
            <a:r>
              <a:rPr lang="en-US" dirty="0"/>
              <a:t>By Sachin </a:t>
            </a:r>
            <a:r>
              <a:rPr lang="en-US" dirty="0" err="1"/>
              <a:t>Namdeo</a:t>
            </a:r>
            <a:r>
              <a:rPr lang="en-US" dirty="0"/>
              <a:t> </a:t>
            </a:r>
            <a:endParaRPr lang="en-IN" dirty="0"/>
          </a:p>
        </p:txBody>
      </p:sp>
    </p:spTree>
    <p:extLst>
      <p:ext uri="{BB962C8B-B14F-4D97-AF65-F5344CB8AC3E}">
        <p14:creationId xmlns:p14="http://schemas.microsoft.com/office/powerpoint/2010/main" val="2844659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Agenda</a:t>
            </a:r>
            <a:endParaRPr lang="en-IN" dirty="0"/>
          </a:p>
        </p:txBody>
      </p:sp>
      <p:sp>
        <p:nvSpPr>
          <p:cNvPr id="3" name="Subtitle 2"/>
          <p:cNvSpPr>
            <a:spLocks noGrp="1"/>
          </p:cNvSpPr>
          <p:nvPr>
            <p:ph sz="half" idx="1"/>
          </p:nvPr>
        </p:nvSpPr>
        <p:spPr>
          <a:xfrm>
            <a:off x="838199" y="1825625"/>
            <a:ext cx="9604207" cy="4351338"/>
          </a:xfrm>
        </p:spPr>
        <p:txBody>
          <a:bodyPr>
            <a:normAutofit/>
          </a:bodyPr>
          <a:lstStyle/>
          <a:p>
            <a:r>
              <a:rPr lang="en-IN" dirty="0"/>
              <a:t>Machine-Learning Refresher</a:t>
            </a:r>
          </a:p>
          <a:p>
            <a:r>
              <a:rPr lang="en-IN" dirty="0"/>
              <a:t>Pain-Points in Classical ML</a:t>
            </a:r>
          </a:p>
          <a:p>
            <a:r>
              <a:rPr lang="en-US" dirty="0"/>
              <a:t>Quantum Machine Learning (QML) Primer</a:t>
            </a:r>
            <a:endParaRPr lang="en-IN" dirty="0"/>
          </a:p>
          <a:p>
            <a:r>
              <a:rPr lang="en-IN" dirty="0"/>
              <a:t>Why We Need QML</a:t>
            </a:r>
          </a:p>
          <a:p>
            <a:r>
              <a:rPr lang="en-IN" dirty="0"/>
              <a:t>Quantum Data Encoding &amp; Feature Maps</a:t>
            </a:r>
          </a:p>
          <a:p>
            <a:r>
              <a:rPr lang="en-IN" dirty="0"/>
              <a:t>Parameterized / Variational Quantum Circuits</a:t>
            </a:r>
          </a:p>
          <a:p>
            <a:r>
              <a:rPr lang="en-IN" dirty="0"/>
              <a:t>End-to-End QML Workflow</a:t>
            </a:r>
          </a:p>
          <a:p>
            <a:r>
              <a:rPr lang="en-IN" dirty="0"/>
              <a:t>Limitations &amp; Open Challenges</a:t>
            </a:r>
            <a:endParaRPr lang="en-US" dirty="0"/>
          </a:p>
        </p:txBody>
      </p:sp>
      <p:sp>
        <p:nvSpPr>
          <p:cNvPr id="19" name="Slide Number Placeholder 18"/>
          <p:cNvSpPr>
            <a:spLocks noGrp="1"/>
          </p:cNvSpPr>
          <p:nvPr>
            <p:ph type="sldNum" sz="quarter" idx="12"/>
          </p:nvPr>
        </p:nvSpPr>
        <p:spPr/>
        <p:txBody>
          <a:bodyPr/>
          <a:lstStyle/>
          <a:p>
            <a:fld id="{F9AA3F58-F348-4ACC-AF27-6630C1E91C9F}" type="slidenum">
              <a:rPr lang="en-IN" smtClean="0"/>
              <a:t>2</a:t>
            </a:fld>
            <a:endParaRPr lang="en-IN"/>
          </a:p>
        </p:txBody>
      </p:sp>
    </p:spTree>
    <p:extLst>
      <p:ext uri="{BB962C8B-B14F-4D97-AF65-F5344CB8AC3E}">
        <p14:creationId xmlns:p14="http://schemas.microsoft.com/office/powerpoint/2010/main" val="282496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What is Machine Learning ?</a:t>
            </a:r>
            <a:endParaRPr lang="en-IN" dirty="0"/>
          </a:p>
        </p:txBody>
      </p:sp>
      <p:pic>
        <p:nvPicPr>
          <p:cNvPr id="6" name="Picture Placeholder 5">
            <a:extLst>
              <a:ext uri="{FF2B5EF4-FFF2-40B4-BE49-F238E27FC236}">
                <a16:creationId xmlns:a16="http://schemas.microsoft.com/office/drawing/2014/main" id="{E8BB0567-2A57-462C-806D-3016401CDFE5}"/>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rcRect t="10520" b="10520"/>
          <a:stretch>
            <a:fillRect/>
          </a:stretch>
        </p:blipFill>
        <p:spPr>
          <a:xfrm>
            <a:off x="5677904" y="1308848"/>
            <a:ext cx="5674308" cy="4480485"/>
          </a:xfrm>
        </p:spPr>
      </p:pic>
      <p:sp>
        <p:nvSpPr>
          <p:cNvPr id="3" name="Content Placeholder 2"/>
          <p:cNvSpPr>
            <a:spLocks noGrp="1"/>
          </p:cNvSpPr>
          <p:nvPr>
            <p:ph type="body" sz="half" idx="2"/>
          </p:nvPr>
        </p:nvSpPr>
        <p:spPr>
          <a:xfrm>
            <a:off x="839788" y="2057400"/>
            <a:ext cx="4485247" cy="3811588"/>
          </a:xfrm>
        </p:spPr>
        <p:txBody>
          <a:bodyPr>
            <a:normAutofit/>
          </a:bodyPr>
          <a:lstStyle/>
          <a:p>
            <a:pPr algn="just"/>
            <a:r>
              <a:rPr lang="en-US" dirty="0"/>
              <a:t>Machine learning is a field that focuses on the development of algorithms and statistical models that enable computers to perform tasks without explicit instructions.</a:t>
            </a:r>
          </a:p>
          <a:p>
            <a:pPr algn="just"/>
            <a:endParaRPr lang="en-US" dirty="0"/>
          </a:p>
          <a:p>
            <a:pPr algn="just"/>
            <a:r>
              <a:rPr lang="en-US" dirty="0"/>
              <a:t>By analyzing and learning from large datasets, these models identify patterns, make decisions, and improve over time through experience.</a:t>
            </a:r>
          </a:p>
          <a:p>
            <a:pPr algn="just"/>
            <a:endParaRPr lang="en-US" dirty="0"/>
          </a:p>
          <a:p>
            <a:pPr algn="just"/>
            <a:r>
              <a:rPr lang="en-US" dirty="0"/>
              <a:t>Machine learning is widely used in various fields, including finance, healthcare, and technology, to automate processes, enhance decision-making, and predict outcomes based on data-driven insights.</a:t>
            </a:r>
          </a:p>
        </p:txBody>
      </p:sp>
      <p:sp>
        <p:nvSpPr>
          <p:cNvPr id="18" name="Slide Number Placeholder 17"/>
          <p:cNvSpPr>
            <a:spLocks noGrp="1"/>
          </p:cNvSpPr>
          <p:nvPr>
            <p:ph type="sldNum" sz="quarter" idx="12"/>
          </p:nvPr>
        </p:nvSpPr>
        <p:spPr/>
        <p:txBody>
          <a:bodyPr/>
          <a:lstStyle/>
          <a:p>
            <a:fld id="{F9AA3F58-F348-4ACC-AF27-6630C1E91C9F}" type="slidenum">
              <a:rPr lang="en-IN" smtClean="0"/>
              <a:pPr/>
              <a:t>3</a:t>
            </a:fld>
            <a:endParaRPr lang="en-IN" dirty="0"/>
          </a:p>
        </p:txBody>
      </p:sp>
    </p:spTree>
    <p:extLst>
      <p:ext uri="{BB962C8B-B14F-4D97-AF65-F5344CB8AC3E}">
        <p14:creationId xmlns:p14="http://schemas.microsoft.com/office/powerpoint/2010/main" val="4100135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Machine Learning Defined Mathematically</a:t>
            </a:r>
            <a:endParaRPr lang="en-IN" dirty="0"/>
          </a:p>
        </p:txBody>
      </p:sp>
      <p:pic>
        <p:nvPicPr>
          <p:cNvPr id="6" name="Picture Placeholder 5">
            <a:extLst>
              <a:ext uri="{FF2B5EF4-FFF2-40B4-BE49-F238E27FC236}">
                <a16:creationId xmlns:a16="http://schemas.microsoft.com/office/drawing/2014/main" id="{73CE2ED0-CBE8-4892-AE1B-FBAB58BE3270}"/>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tretch/>
        </p:blipFill>
        <p:spPr>
          <a:xfrm>
            <a:off x="5597335" y="990700"/>
            <a:ext cx="4876599" cy="4876599"/>
          </a:xfrm>
        </p:spPr>
      </p:pic>
      <mc:AlternateContent xmlns:mc="http://schemas.openxmlformats.org/markup-compatibility/2006" xmlns:a14="http://schemas.microsoft.com/office/drawing/2010/main">
        <mc:Choice Requires="a14">
          <p:sp>
            <p:nvSpPr>
              <p:cNvPr id="3" name="Content Placeholder 2"/>
              <p:cNvSpPr>
                <a:spLocks noGrp="1"/>
              </p:cNvSpPr>
              <p:nvPr>
                <p:ph type="body" sz="half" idx="2"/>
              </p:nvPr>
            </p:nvSpPr>
            <p:spPr/>
            <p:txBody>
              <a:bodyPr/>
              <a:lstStyle/>
              <a:p>
                <a:pPr algn="just"/>
                <a:r>
                  <a:rPr lang="en-US" dirty="0"/>
                  <a:t>Machine learning can be mathematically defined as the process of optimizing a model </a:t>
                </a:r>
                <a:r>
                  <a:rPr lang="en-US" b="1" i="1" dirty="0"/>
                  <a:t>f </a:t>
                </a:r>
                <a:r>
                  <a:rPr lang="en-US" dirty="0"/>
                  <a:t>that maps input data </a:t>
                </a:r>
                <a:r>
                  <a:rPr lang="en-US" b="1" i="1" dirty="0"/>
                  <a:t>X</a:t>
                </a:r>
                <a:r>
                  <a:rPr lang="en-US" dirty="0"/>
                  <a:t> to output labels </a:t>
                </a:r>
                <a:r>
                  <a:rPr lang="en-US" b="1" i="1" dirty="0"/>
                  <a:t>Y</a:t>
                </a:r>
                <a:r>
                  <a:rPr lang="en-US" dirty="0"/>
                  <a:t> by minimizing a loss function L(f(X),Y).</a:t>
                </a:r>
              </a:p>
              <a:p>
                <a:pPr algn="just"/>
                <a:r>
                  <a:rPr lang="en-IN" dirty="0"/>
                  <a:t>The goal of machine learning is to find a function </a:t>
                </a: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IN" b="0" i="1" smtClean="0">
                            <a:latin typeface="Cambria Math" panose="02040503050406030204" pitchFamily="18" charset="0"/>
                          </a:rPr>
                          <m:t>𝑅</m:t>
                        </m:r>
                      </m:e>
                      <m:sup>
                        <m:r>
                          <a:rPr lang="en-IN" b="0" i="1" smtClean="0">
                            <a:latin typeface="Cambria Math" panose="02040503050406030204" pitchFamily="18" charset="0"/>
                          </a:rPr>
                          <m:t>𝑖</m:t>
                        </m:r>
                      </m:sup>
                    </m:sSup>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IN" b="0" i="1" smtClean="0">
                            <a:latin typeface="Cambria Math" panose="02040503050406030204" pitchFamily="18" charset="0"/>
                          </a:rPr>
                          <m:t>𝑅</m:t>
                        </m:r>
                      </m:e>
                      <m:sup>
                        <m:r>
                          <a:rPr lang="en-IN" b="0" i="1" smtClean="0">
                            <a:latin typeface="Cambria Math" panose="02040503050406030204" pitchFamily="18" charset="0"/>
                          </a:rPr>
                          <m:t>𝑜</m:t>
                        </m:r>
                      </m:sup>
                    </m:sSup>
                  </m:oMath>
                </a14:m>
                <a:r>
                  <a:rPr lang="en-IN" dirty="0"/>
                  <a:t> from a hypothesis space </a:t>
                </a:r>
                <a:r>
                  <a:rPr lang="en-IN" b="1" i="1" dirty="0"/>
                  <a:t>H</a:t>
                </a:r>
                <a:r>
                  <a:rPr lang="en-IN" dirty="0"/>
                  <a:t> that minimizes the expected risk:</a:t>
                </a:r>
              </a:p>
              <a:p>
                <a:pPr marL="0" indent="0" algn="just">
                  <a:buNone/>
                </a:pPr>
                <a:endParaRPr lang="en-US" b="0" i="1" dirty="0">
                  <a:latin typeface="Cambria Math" panose="020405030504060302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m:t>
                      </m:r>
                      <m:d>
                        <m:dPr>
                          <m:ctrlPr>
                            <a:rPr lang="en-US" b="0" i="1" smtClean="0">
                              <a:latin typeface="Cambria Math" panose="02040503050406030204" pitchFamily="18" charset="0"/>
                            </a:rPr>
                          </m:ctrlPr>
                        </m:dPr>
                        <m:e>
                          <m:r>
                            <a:rPr lang="en-US" b="0" i="1" smtClean="0">
                              <a:latin typeface="Cambria Math" panose="02040503050406030204" pitchFamily="18" charset="0"/>
                            </a:rPr>
                            <m:t>𝑓</m:t>
                          </m:r>
                        </m:e>
                      </m:d>
                      <m:r>
                        <a:rPr lang="en-US" b="0" i="1" smtClean="0">
                          <a:latin typeface="Cambria Math" panose="02040503050406030204" pitchFamily="18" charset="0"/>
                        </a:rPr>
                        <m:t>=</m:t>
                      </m:r>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𝑌</m:t>
                          </m:r>
                        </m:e>
                      </m:d>
                      <m:r>
                        <a:rPr lang="en-US" b="0" i="1" smtClean="0">
                          <a:latin typeface="Cambria Math" panose="02040503050406030204" pitchFamily="18" charset="0"/>
                        </a:rPr>
                        <m:t>[</m:t>
                      </m:r>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m:t>
                      </m:r>
                    </m:oMath>
                  </m:oMathPara>
                </a14:m>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type="body" sz="half" idx="2"/>
              </p:nvPr>
            </p:nvSpPr>
            <p:spPr>
              <a:blipFill>
                <a:blip r:embed="rId4"/>
                <a:stretch>
                  <a:fillRect l="-930" t="-1120" r="-775"/>
                </a:stretch>
              </a:blipFill>
            </p:spPr>
            <p:txBody>
              <a:bodyPr/>
              <a:lstStyle/>
              <a:p>
                <a:r>
                  <a:rPr lang="en-IN">
                    <a:noFill/>
                  </a:rPr>
                  <a:t> </a:t>
                </a:r>
              </a:p>
            </p:txBody>
          </p:sp>
        </mc:Fallback>
      </mc:AlternateContent>
      <p:sp>
        <p:nvSpPr>
          <p:cNvPr id="18" name="Slide Number Placeholder 17"/>
          <p:cNvSpPr>
            <a:spLocks noGrp="1"/>
          </p:cNvSpPr>
          <p:nvPr>
            <p:ph type="sldNum" sz="quarter" idx="12"/>
          </p:nvPr>
        </p:nvSpPr>
        <p:spPr/>
        <p:txBody>
          <a:bodyPr/>
          <a:lstStyle/>
          <a:p>
            <a:fld id="{F9AA3F58-F348-4ACC-AF27-6630C1E91C9F}" type="slidenum">
              <a:rPr lang="en-IN" smtClean="0"/>
              <a:pPr/>
              <a:t>4</a:t>
            </a:fld>
            <a:endParaRPr lang="en-IN" dirty="0"/>
          </a:p>
        </p:txBody>
      </p:sp>
    </p:spTree>
    <p:extLst>
      <p:ext uri="{BB962C8B-B14F-4D97-AF65-F5344CB8AC3E}">
        <p14:creationId xmlns:p14="http://schemas.microsoft.com/office/powerpoint/2010/main" val="3183621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Types of Machine Learning Algorithms</a:t>
            </a:r>
            <a:endParaRPr lang="en-IN" dirty="0"/>
          </a:p>
        </p:txBody>
      </p:sp>
      <p:sp>
        <p:nvSpPr>
          <p:cNvPr id="3" name="Content Placeholder 2"/>
          <p:cNvSpPr>
            <a:spLocks noGrp="1"/>
          </p:cNvSpPr>
          <p:nvPr>
            <p:ph idx="1"/>
          </p:nvPr>
        </p:nvSpPr>
        <p:spPr/>
        <p:txBody>
          <a:bodyPr>
            <a:normAutofit/>
          </a:bodyPr>
          <a:lstStyle/>
          <a:p>
            <a:pPr algn="just"/>
            <a:r>
              <a:rPr lang="en-US" sz="2400" b="1" dirty="0"/>
              <a:t>Supervised Learning</a:t>
            </a:r>
            <a:r>
              <a:rPr lang="en-US" sz="2400" dirty="0"/>
              <a:t>: The model is trained on a dataset where both the input data and the corresponding output labels are known. </a:t>
            </a:r>
            <a:r>
              <a:rPr lang="en-US" sz="2400" dirty="0" err="1"/>
              <a:t>Eg</a:t>
            </a:r>
            <a:r>
              <a:rPr lang="en-US" sz="2400" dirty="0"/>
              <a:t>: regression and classification tasks.</a:t>
            </a:r>
          </a:p>
          <a:p>
            <a:pPr algn="just"/>
            <a:r>
              <a:rPr lang="en-US" sz="2400" b="1" dirty="0"/>
              <a:t>Unsupervised Learning</a:t>
            </a:r>
            <a:r>
              <a:rPr lang="en-US" sz="2400" dirty="0"/>
              <a:t>: The model is trained on a dataset where only the input data is available, and there are no corresponding output labels. </a:t>
            </a:r>
            <a:r>
              <a:rPr lang="en-US" sz="2400" dirty="0" err="1"/>
              <a:t>Eg</a:t>
            </a:r>
            <a:r>
              <a:rPr lang="en-US" sz="2400" dirty="0"/>
              <a:t>: clustering.</a:t>
            </a:r>
          </a:p>
          <a:p>
            <a:pPr algn="just"/>
            <a:r>
              <a:rPr lang="en-US" sz="2400" b="1" dirty="0"/>
              <a:t>Reinforcement Learning</a:t>
            </a:r>
            <a:r>
              <a:rPr lang="en-US" sz="2400" dirty="0"/>
              <a:t>: The model learns by interacting with an environment, receiving rewards or penalties based on the actions it takes. </a:t>
            </a:r>
            <a:r>
              <a:rPr lang="en-US" sz="2400" dirty="0" err="1"/>
              <a:t>Eg</a:t>
            </a:r>
            <a:r>
              <a:rPr lang="en-US" sz="2400" dirty="0"/>
              <a:t>: </a:t>
            </a:r>
            <a:r>
              <a:rPr lang="en-US" sz="2400" dirty="0" err="1"/>
              <a:t>AlphaZero</a:t>
            </a:r>
            <a:r>
              <a:rPr lang="en-US" sz="2400" dirty="0"/>
              <a:t> by DeepMind.</a:t>
            </a:r>
            <a:endParaRPr lang="en-IN" sz="2400" dirty="0"/>
          </a:p>
        </p:txBody>
      </p:sp>
      <p:sp>
        <p:nvSpPr>
          <p:cNvPr id="18" name="Slide Number Placeholder 17"/>
          <p:cNvSpPr>
            <a:spLocks noGrp="1"/>
          </p:cNvSpPr>
          <p:nvPr>
            <p:ph type="sldNum" sz="quarter" idx="12"/>
          </p:nvPr>
        </p:nvSpPr>
        <p:spPr/>
        <p:txBody>
          <a:bodyPr/>
          <a:lstStyle/>
          <a:p>
            <a:fld id="{F9AA3F58-F348-4ACC-AF27-6630C1E91C9F}" type="slidenum">
              <a:rPr lang="en-IN" smtClean="0"/>
              <a:pPr/>
              <a:t>5</a:t>
            </a:fld>
            <a:endParaRPr lang="en-IN" dirty="0"/>
          </a:p>
        </p:txBody>
      </p:sp>
    </p:spTree>
    <p:extLst>
      <p:ext uri="{BB962C8B-B14F-4D97-AF65-F5344CB8AC3E}">
        <p14:creationId xmlns:p14="http://schemas.microsoft.com/office/powerpoint/2010/main" val="1062292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6A0810-1BE0-4CCC-B47F-85EC74D655B1}"/>
              </a:ext>
            </a:extLst>
          </p:cNvPr>
          <p:cNvSpPr>
            <a:spLocks noGrp="1"/>
          </p:cNvSpPr>
          <p:nvPr>
            <p:ph type="title"/>
          </p:nvPr>
        </p:nvSpPr>
        <p:spPr/>
        <p:txBody>
          <a:bodyPr/>
          <a:lstStyle/>
          <a:p>
            <a:pPr algn="ctr"/>
            <a:r>
              <a:rPr lang="en-IN" dirty="0"/>
              <a:t>Supervised Learning</a:t>
            </a:r>
          </a:p>
        </p:txBody>
      </p:sp>
      <p:sp>
        <p:nvSpPr>
          <p:cNvPr id="7" name="Text Placeholder 6">
            <a:extLst>
              <a:ext uri="{FF2B5EF4-FFF2-40B4-BE49-F238E27FC236}">
                <a16:creationId xmlns:a16="http://schemas.microsoft.com/office/drawing/2014/main" id="{D4F6EF38-A112-4F30-9185-9B5A5C7AA304}"/>
              </a:ext>
            </a:extLst>
          </p:cNvPr>
          <p:cNvSpPr>
            <a:spLocks noGrp="1"/>
          </p:cNvSpPr>
          <p:nvPr>
            <p:ph type="body" sz="half" idx="2"/>
          </p:nvPr>
        </p:nvSpPr>
        <p:spPr/>
        <p:txBody>
          <a:bodyPr>
            <a:normAutofit lnSpcReduction="10000"/>
          </a:bodyPr>
          <a:lstStyle/>
          <a:p>
            <a:pPr algn="just"/>
            <a:r>
              <a:rPr lang="en-IN" sz="1800" b="1" dirty="0"/>
              <a:t>Regression</a:t>
            </a:r>
            <a:r>
              <a:rPr lang="en-IN" sz="1800" dirty="0"/>
              <a:t>: Predict continuous numerical outcomes.</a:t>
            </a:r>
          </a:p>
          <a:p>
            <a:pPr lvl="1" algn="just"/>
            <a:r>
              <a:rPr lang="en-IN" sz="1800" i="1" dirty="0"/>
              <a:t>Algorithms</a:t>
            </a:r>
            <a:r>
              <a:rPr lang="en-IN" sz="1800" dirty="0"/>
              <a:t>: Linear Regression, Polynomial Regression, Ridge &amp; Lasso Regression.</a:t>
            </a:r>
          </a:p>
          <a:p>
            <a:pPr algn="just"/>
            <a:r>
              <a:rPr lang="en-IN" sz="1800" b="1" dirty="0"/>
              <a:t>Classification</a:t>
            </a:r>
            <a:r>
              <a:rPr lang="en-IN" sz="1800" dirty="0"/>
              <a:t>: Predict discrete categories or labels.</a:t>
            </a:r>
          </a:p>
          <a:p>
            <a:pPr lvl="1" algn="just"/>
            <a:r>
              <a:rPr lang="en-IN" sz="1800" i="1" dirty="0"/>
              <a:t>Algorithms</a:t>
            </a:r>
            <a:r>
              <a:rPr lang="en-IN" sz="1800" dirty="0"/>
              <a:t>: Logistic Regression, Support Vector Machines (SVM), Decision Trees, Random Forests, Naive Bayes, k-Nearest </a:t>
            </a:r>
            <a:r>
              <a:rPr lang="en-IN" sz="1800" dirty="0" err="1"/>
              <a:t>Neighbors</a:t>
            </a:r>
            <a:r>
              <a:rPr lang="en-IN" sz="1800" dirty="0"/>
              <a:t> (k-NN).</a:t>
            </a:r>
          </a:p>
          <a:p>
            <a:pPr algn="just"/>
            <a:r>
              <a:rPr lang="en-IN" sz="1800" b="1" dirty="0"/>
              <a:t>Use Cases</a:t>
            </a:r>
            <a:r>
              <a:rPr lang="en-IN" sz="1800" dirty="0"/>
              <a:t>: Email spam detection, credit scoring, housing price prediction.</a:t>
            </a:r>
          </a:p>
          <a:p>
            <a:endParaRPr lang="en-IN" dirty="0"/>
          </a:p>
        </p:txBody>
      </p:sp>
      <p:sp>
        <p:nvSpPr>
          <p:cNvPr id="4" name="Slide Number Placeholder 3">
            <a:extLst>
              <a:ext uri="{FF2B5EF4-FFF2-40B4-BE49-F238E27FC236}">
                <a16:creationId xmlns:a16="http://schemas.microsoft.com/office/drawing/2014/main" id="{6157D9AD-3282-4BF1-9816-29AC7804C1FA}"/>
              </a:ext>
            </a:extLst>
          </p:cNvPr>
          <p:cNvSpPr>
            <a:spLocks noGrp="1"/>
          </p:cNvSpPr>
          <p:nvPr>
            <p:ph type="sldNum" sz="quarter" idx="12"/>
          </p:nvPr>
        </p:nvSpPr>
        <p:spPr/>
        <p:txBody>
          <a:bodyPr/>
          <a:lstStyle/>
          <a:p>
            <a:fld id="{F9AA3F58-F348-4ACC-AF27-6630C1E91C9F}" type="slidenum">
              <a:rPr lang="en-IN" smtClean="0"/>
              <a:pPr/>
              <a:t>6</a:t>
            </a:fld>
            <a:endParaRPr lang="en-IN" dirty="0"/>
          </a:p>
        </p:txBody>
      </p:sp>
      <p:pic>
        <p:nvPicPr>
          <p:cNvPr id="8" name="Picture Placeholder 5">
            <a:extLst>
              <a:ext uri="{FF2B5EF4-FFF2-40B4-BE49-F238E27FC236}">
                <a16:creationId xmlns:a16="http://schemas.microsoft.com/office/drawing/2014/main" id="{195813EF-DED1-44CD-A530-A9D80080D4B4}"/>
              </a:ext>
            </a:extLst>
          </p:cNvPr>
          <p:cNvPicPr preferRelativeResize="0">
            <a:picLocks noChangeAspect="1"/>
          </p:cNvPicPr>
          <p:nvPr/>
        </p:nvPicPr>
        <p:blipFill>
          <a:blip r:embed="rId2">
            <a:extLst>
              <a:ext uri="{28A0092B-C50C-407E-A947-70E740481C1C}">
                <a14:useLocalDpi xmlns:a14="http://schemas.microsoft.com/office/drawing/2010/main" val="0"/>
              </a:ext>
            </a:extLst>
          </a:blip>
          <a:stretch>
            <a:fillRect/>
          </a:stretch>
        </p:blipFill>
        <p:spPr>
          <a:xfrm>
            <a:off x="4772025" y="2057400"/>
            <a:ext cx="6580187" cy="3124200"/>
          </a:xfrm>
          <a:prstGeom prst="rect">
            <a:avLst/>
          </a:prstGeom>
        </p:spPr>
      </p:pic>
    </p:spTree>
    <p:extLst>
      <p:ext uri="{BB962C8B-B14F-4D97-AF65-F5344CB8AC3E}">
        <p14:creationId xmlns:p14="http://schemas.microsoft.com/office/powerpoint/2010/main" val="3187310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ABC7E-097B-4EA9-B8A8-AC9A867174BE}"/>
              </a:ext>
            </a:extLst>
          </p:cNvPr>
          <p:cNvSpPr>
            <a:spLocks noGrp="1"/>
          </p:cNvSpPr>
          <p:nvPr>
            <p:ph type="title"/>
          </p:nvPr>
        </p:nvSpPr>
        <p:spPr/>
        <p:txBody>
          <a:bodyPr/>
          <a:lstStyle/>
          <a:p>
            <a:pPr algn="ctr"/>
            <a:r>
              <a:rPr lang="en-IN" dirty="0"/>
              <a:t>Unsupervised Learning</a:t>
            </a:r>
          </a:p>
        </p:txBody>
      </p:sp>
      <p:sp>
        <p:nvSpPr>
          <p:cNvPr id="4" name="Text Placeholder 3">
            <a:extLst>
              <a:ext uri="{FF2B5EF4-FFF2-40B4-BE49-F238E27FC236}">
                <a16:creationId xmlns:a16="http://schemas.microsoft.com/office/drawing/2014/main" id="{4C829140-3952-4FBB-AB47-EF78A4697104}"/>
              </a:ext>
            </a:extLst>
          </p:cNvPr>
          <p:cNvSpPr>
            <a:spLocks noGrp="1"/>
          </p:cNvSpPr>
          <p:nvPr>
            <p:ph type="body" sz="half" idx="2"/>
          </p:nvPr>
        </p:nvSpPr>
        <p:spPr>
          <a:xfrm>
            <a:off x="839788" y="2057400"/>
            <a:ext cx="5256212" cy="3811588"/>
          </a:xfrm>
        </p:spPr>
        <p:txBody>
          <a:bodyPr>
            <a:normAutofit/>
          </a:bodyPr>
          <a:lstStyle/>
          <a:p>
            <a:pPr algn="just">
              <a:buFont typeface="Arial" panose="020B0604020202020204" pitchFamily="34" charset="0"/>
              <a:buChar char="•"/>
            </a:pPr>
            <a:r>
              <a:rPr lang="en-IN" sz="2000" b="1" dirty="0"/>
              <a:t>Clustering:</a:t>
            </a:r>
            <a:r>
              <a:rPr lang="en-IN" sz="2000" dirty="0"/>
              <a:t> Group similar data points based on features.</a:t>
            </a:r>
          </a:p>
          <a:p>
            <a:pPr marL="742950" lvl="1" indent="-285750" algn="just">
              <a:buFont typeface="Arial" panose="020B0604020202020204" pitchFamily="34" charset="0"/>
              <a:buChar char="•"/>
            </a:pPr>
            <a:r>
              <a:rPr lang="en-IN" sz="2000" i="1" dirty="0"/>
              <a:t>Algorithms:</a:t>
            </a:r>
            <a:r>
              <a:rPr lang="en-IN" sz="2000" dirty="0"/>
              <a:t> k-Means, Hierarchical Clustering, DBSCAN.</a:t>
            </a:r>
          </a:p>
          <a:p>
            <a:pPr algn="just">
              <a:buFont typeface="Arial" panose="020B0604020202020204" pitchFamily="34" charset="0"/>
              <a:buChar char="•"/>
            </a:pPr>
            <a:r>
              <a:rPr lang="en-IN" sz="2000" b="1" dirty="0"/>
              <a:t>Dimensionality Reduction:</a:t>
            </a:r>
            <a:r>
              <a:rPr lang="en-IN" sz="2000" dirty="0"/>
              <a:t> Reduce feature space while preserving data characteristics.</a:t>
            </a:r>
          </a:p>
          <a:p>
            <a:pPr marL="742950" lvl="1" indent="-285750" algn="just">
              <a:buFont typeface="Arial" panose="020B0604020202020204" pitchFamily="34" charset="0"/>
              <a:buChar char="•"/>
            </a:pPr>
            <a:r>
              <a:rPr lang="en-IN" sz="2000" i="1" dirty="0"/>
              <a:t>Algorithms:</a:t>
            </a:r>
            <a:r>
              <a:rPr lang="en-IN" sz="2000" dirty="0"/>
              <a:t> Principal Component Analysis (PCA), t-Distributed Stochastic Neighbour Embedding (t-SNE).</a:t>
            </a:r>
          </a:p>
          <a:p>
            <a:pPr algn="just">
              <a:buFont typeface="Arial" panose="020B0604020202020204" pitchFamily="34" charset="0"/>
              <a:buChar char="•"/>
            </a:pPr>
            <a:r>
              <a:rPr lang="en-IN" sz="2000" b="1" dirty="0"/>
              <a:t>Use Cases:</a:t>
            </a:r>
            <a:r>
              <a:rPr lang="en-IN" sz="2000" dirty="0"/>
              <a:t> Customer segmentation, anomaly detection, image compression.</a:t>
            </a:r>
          </a:p>
          <a:p>
            <a:endParaRPr lang="en-IN" dirty="0"/>
          </a:p>
        </p:txBody>
      </p:sp>
      <p:sp>
        <p:nvSpPr>
          <p:cNvPr id="5" name="Slide Number Placeholder 4">
            <a:extLst>
              <a:ext uri="{FF2B5EF4-FFF2-40B4-BE49-F238E27FC236}">
                <a16:creationId xmlns:a16="http://schemas.microsoft.com/office/drawing/2014/main" id="{AAB30D44-1787-4FD9-92BA-009F1A4DAD03}"/>
              </a:ext>
            </a:extLst>
          </p:cNvPr>
          <p:cNvSpPr>
            <a:spLocks noGrp="1"/>
          </p:cNvSpPr>
          <p:nvPr>
            <p:ph type="sldNum" sz="quarter" idx="12"/>
          </p:nvPr>
        </p:nvSpPr>
        <p:spPr/>
        <p:txBody>
          <a:bodyPr/>
          <a:lstStyle/>
          <a:p>
            <a:fld id="{F9AA3F58-F348-4ACC-AF27-6630C1E91C9F}" type="slidenum">
              <a:rPr lang="en-IN" smtClean="0"/>
              <a:t>7</a:t>
            </a:fld>
            <a:endParaRPr lang="en-IN" dirty="0"/>
          </a:p>
        </p:txBody>
      </p:sp>
      <p:pic>
        <p:nvPicPr>
          <p:cNvPr id="6" name="Picture Placeholder 5">
            <a:extLst>
              <a:ext uri="{FF2B5EF4-FFF2-40B4-BE49-F238E27FC236}">
                <a16:creationId xmlns:a16="http://schemas.microsoft.com/office/drawing/2014/main" id="{C2CD2095-9FAA-483C-AF82-8D9296B2A8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8222" y="1299411"/>
            <a:ext cx="4843990" cy="4843990"/>
          </a:xfrm>
          <a:prstGeom prst="rect">
            <a:avLst/>
          </a:prstGeom>
        </p:spPr>
      </p:pic>
    </p:spTree>
    <p:extLst>
      <p:ext uri="{BB962C8B-B14F-4D97-AF65-F5344CB8AC3E}">
        <p14:creationId xmlns:p14="http://schemas.microsoft.com/office/powerpoint/2010/main" val="235524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A8942-6D1F-4884-BE87-60504AA8CD3B}"/>
              </a:ext>
            </a:extLst>
          </p:cNvPr>
          <p:cNvSpPr>
            <a:spLocks noGrp="1"/>
          </p:cNvSpPr>
          <p:nvPr>
            <p:ph type="title"/>
          </p:nvPr>
        </p:nvSpPr>
        <p:spPr/>
        <p:txBody>
          <a:bodyPr/>
          <a:lstStyle/>
          <a:p>
            <a:pPr algn="ctr"/>
            <a:r>
              <a:rPr lang="en-IN" dirty="0"/>
              <a:t>Reinforcement Learning</a:t>
            </a:r>
          </a:p>
        </p:txBody>
      </p:sp>
      <p:sp>
        <p:nvSpPr>
          <p:cNvPr id="4" name="Text Placeholder 3">
            <a:extLst>
              <a:ext uri="{FF2B5EF4-FFF2-40B4-BE49-F238E27FC236}">
                <a16:creationId xmlns:a16="http://schemas.microsoft.com/office/drawing/2014/main" id="{7E69071F-7808-4D6E-B33D-5AE1EB9B7B33}"/>
              </a:ext>
            </a:extLst>
          </p:cNvPr>
          <p:cNvSpPr>
            <a:spLocks noGrp="1"/>
          </p:cNvSpPr>
          <p:nvPr>
            <p:ph type="body" sz="half" idx="2"/>
          </p:nvPr>
        </p:nvSpPr>
        <p:spPr>
          <a:xfrm>
            <a:off x="839788" y="2057400"/>
            <a:ext cx="4614528" cy="3811588"/>
          </a:xfrm>
        </p:spPr>
        <p:txBody>
          <a:bodyPr/>
          <a:lstStyle/>
          <a:p>
            <a:pPr algn="just">
              <a:buFont typeface="Arial" panose="020B0604020202020204" pitchFamily="34" charset="0"/>
              <a:buChar char="•"/>
            </a:pPr>
            <a:r>
              <a:rPr lang="en-IN" sz="2000" b="1" dirty="0"/>
              <a:t>Core Idea:</a:t>
            </a:r>
            <a:r>
              <a:rPr lang="en-IN" sz="2000" dirty="0"/>
              <a:t> Agent learns optimal actions through interactions with the environment by maximizing cumulative rewards.</a:t>
            </a:r>
          </a:p>
          <a:p>
            <a:pPr marL="742950" lvl="1" indent="-285750" algn="just">
              <a:buFont typeface="Arial" panose="020B0604020202020204" pitchFamily="34" charset="0"/>
              <a:buChar char="•"/>
            </a:pPr>
            <a:r>
              <a:rPr lang="en-IN" sz="2000" i="1" dirty="0"/>
              <a:t>Key Components:</a:t>
            </a:r>
            <a:r>
              <a:rPr lang="en-IN" sz="2000" dirty="0"/>
              <a:t> State, Action, Reward, Policy.</a:t>
            </a:r>
          </a:p>
          <a:p>
            <a:pPr algn="just">
              <a:buFont typeface="Arial" panose="020B0604020202020204" pitchFamily="34" charset="0"/>
              <a:buChar char="•"/>
            </a:pPr>
            <a:r>
              <a:rPr lang="en-IN" sz="2000" b="1" dirty="0"/>
              <a:t>Algorithms:</a:t>
            </a:r>
            <a:r>
              <a:rPr lang="en-IN" sz="2000" dirty="0"/>
              <a:t> Q-Learning, Deep Q-Networks (DQN), SARSA, Policy Gradient Methods.</a:t>
            </a:r>
          </a:p>
          <a:p>
            <a:pPr algn="just">
              <a:buFont typeface="Arial" panose="020B0604020202020204" pitchFamily="34" charset="0"/>
              <a:buChar char="•"/>
            </a:pPr>
            <a:r>
              <a:rPr lang="en-IN" sz="2000" b="1" dirty="0"/>
              <a:t>Use Cases:</a:t>
            </a:r>
            <a:r>
              <a:rPr lang="en-IN" sz="2000" dirty="0"/>
              <a:t> Game playing (Chess, Go), robotics navigation, recommendation systems.</a:t>
            </a:r>
          </a:p>
          <a:p>
            <a:endParaRPr lang="en-IN" dirty="0"/>
          </a:p>
        </p:txBody>
      </p:sp>
      <p:sp>
        <p:nvSpPr>
          <p:cNvPr id="5" name="Slide Number Placeholder 4">
            <a:extLst>
              <a:ext uri="{FF2B5EF4-FFF2-40B4-BE49-F238E27FC236}">
                <a16:creationId xmlns:a16="http://schemas.microsoft.com/office/drawing/2014/main" id="{7708E32A-2844-48AE-83F6-FD6252D584DE}"/>
              </a:ext>
            </a:extLst>
          </p:cNvPr>
          <p:cNvSpPr>
            <a:spLocks noGrp="1"/>
          </p:cNvSpPr>
          <p:nvPr>
            <p:ph type="sldNum" sz="quarter" idx="12"/>
          </p:nvPr>
        </p:nvSpPr>
        <p:spPr/>
        <p:txBody>
          <a:bodyPr/>
          <a:lstStyle/>
          <a:p>
            <a:fld id="{F9AA3F58-F348-4ACC-AF27-6630C1E91C9F}" type="slidenum">
              <a:rPr lang="en-IN" smtClean="0"/>
              <a:t>8</a:t>
            </a:fld>
            <a:endParaRPr lang="en-IN" dirty="0"/>
          </a:p>
        </p:txBody>
      </p:sp>
      <p:pic>
        <p:nvPicPr>
          <p:cNvPr id="6" name="Picture Placeholder 5">
            <a:extLst>
              <a:ext uri="{FF2B5EF4-FFF2-40B4-BE49-F238E27FC236}">
                <a16:creationId xmlns:a16="http://schemas.microsoft.com/office/drawing/2014/main" id="{287F7932-8010-4779-ABB8-8EA41D294361}"/>
              </a:ext>
            </a:extLst>
          </p:cNvPr>
          <p:cNvPicPr>
            <a:picLocks noChangeAspect="1"/>
          </p:cNvPicPr>
          <p:nvPr/>
        </p:nvPicPr>
        <p:blipFill>
          <a:blip r:embed="rId2">
            <a:extLst>
              <a:ext uri="{28A0092B-C50C-407E-A947-70E740481C1C}">
                <a14:useLocalDpi xmlns:a14="http://schemas.microsoft.com/office/drawing/2010/main" val="0"/>
              </a:ext>
            </a:extLst>
          </a:blip>
          <a:srcRect t="10520" b="10520"/>
          <a:stretch>
            <a:fillRect/>
          </a:stretch>
        </p:blipFill>
        <p:spPr>
          <a:xfrm>
            <a:off x="5757974" y="1451727"/>
            <a:ext cx="5594238" cy="4417261"/>
          </a:xfrm>
          <a:prstGeom prst="rect">
            <a:avLst/>
          </a:prstGeom>
        </p:spPr>
      </p:pic>
    </p:spTree>
    <p:extLst>
      <p:ext uri="{BB962C8B-B14F-4D97-AF65-F5344CB8AC3E}">
        <p14:creationId xmlns:p14="http://schemas.microsoft.com/office/powerpoint/2010/main" val="1194303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9BE6AC-AD14-4EB8-B0F7-F5CE9C386A3F}"/>
              </a:ext>
            </a:extLst>
          </p:cNvPr>
          <p:cNvSpPr>
            <a:spLocks noGrp="1"/>
          </p:cNvSpPr>
          <p:nvPr>
            <p:ph type="title"/>
          </p:nvPr>
        </p:nvSpPr>
        <p:spPr/>
        <p:txBody>
          <a:bodyPr/>
          <a:lstStyle/>
          <a:p>
            <a:pPr algn="ctr"/>
            <a:r>
              <a:rPr lang="en-US" dirty="0"/>
              <a:t>Bottlenecks of Classical Machine Learning</a:t>
            </a:r>
            <a:endParaRPr lang="en-IN" dirty="0"/>
          </a:p>
        </p:txBody>
      </p:sp>
      <p:sp>
        <p:nvSpPr>
          <p:cNvPr id="7" name="Content Placeholder 6">
            <a:extLst>
              <a:ext uri="{FF2B5EF4-FFF2-40B4-BE49-F238E27FC236}">
                <a16:creationId xmlns:a16="http://schemas.microsoft.com/office/drawing/2014/main" id="{19124293-5B17-49DD-AA16-FDDF35BFF963}"/>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en-US" b="1" dirty="0"/>
              <a:t>Data Volume &amp; Velocity</a:t>
            </a:r>
            <a:endParaRPr lang="en-US" dirty="0"/>
          </a:p>
          <a:p>
            <a:pPr marL="742950" lvl="1" indent="-285750">
              <a:buFont typeface="Arial" panose="020B0604020202020204" pitchFamily="34" charset="0"/>
              <a:buChar char="•"/>
            </a:pPr>
            <a:r>
              <a:rPr lang="en-US" dirty="0"/>
              <a:t>Training on massive, continuously growing datasets often exceeds memory or processing capacity.</a:t>
            </a:r>
          </a:p>
          <a:p>
            <a:pPr marL="742950" lvl="1" indent="-285750">
              <a:buFont typeface="Arial" panose="020B0604020202020204" pitchFamily="34" charset="0"/>
              <a:buChar char="•"/>
            </a:pPr>
            <a:r>
              <a:rPr lang="en-US" dirty="0"/>
              <a:t>Batch-based learning requires repeated passes, slowing down real-time or streaming applications.</a:t>
            </a:r>
          </a:p>
          <a:p>
            <a:pPr>
              <a:buFont typeface="Arial" panose="020B0604020202020204" pitchFamily="34" charset="0"/>
              <a:buChar char="•"/>
            </a:pPr>
            <a:r>
              <a:rPr lang="en-US" b="1" dirty="0"/>
              <a:t>Feature Engineering Overhead</a:t>
            </a:r>
            <a:endParaRPr lang="en-US" dirty="0"/>
          </a:p>
          <a:p>
            <a:pPr marL="742950" lvl="1" indent="-285750">
              <a:buFont typeface="Arial" panose="020B0604020202020204" pitchFamily="34" charset="0"/>
              <a:buChar char="•"/>
            </a:pPr>
            <a:r>
              <a:rPr lang="en-US" dirty="0"/>
              <a:t>Manual selection, extraction, and transformation of features is time-consuming and error-prone.</a:t>
            </a:r>
          </a:p>
          <a:p>
            <a:pPr marL="742950" lvl="1" indent="-285750">
              <a:buFont typeface="Arial" panose="020B0604020202020204" pitchFamily="34" charset="0"/>
              <a:buChar char="•"/>
            </a:pPr>
            <a:r>
              <a:rPr lang="en-US" dirty="0"/>
              <a:t>Complex domains (e.g., images, text) demand specialized preprocessing pipelines.</a:t>
            </a:r>
          </a:p>
          <a:p>
            <a:pPr>
              <a:buFont typeface="Arial" panose="020B0604020202020204" pitchFamily="34" charset="0"/>
              <a:buChar char="•"/>
            </a:pPr>
            <a:r>
              <a:rPr lang="en-US" b="1" dirty="0"/>
              <a:t>Curse of Dimensionality</a:t>
            </a:r>
            <a:endParaRPr lang="en-US" dirty="0"/>
          </a:p>
          <a:p>
            <a:pPr marL="742950" lvl="1" indent="-285750">
              <a:buFont typeface="Arial" panose="020B0604020202020204" pitchFamily="34" charset="0"/>
              <a:buChar char="•"/>
            </a:pPr>
            <a:r>
              <a:rPr lang="en-US" dirty="0"/>
              <a:t>As feature count grows, distance metrics become less meaningful and model performance degrades.</a:t>
            </a:r>
          </a:p>
          <a:p>
            <a:pPr marL="742950" lvl="1" indent="-285750">
              <a:buFont typeface="Arial" panose="020B0604020202020204" pitchFamily="34" charset="0"/>
              <a:buChar char="•"/>
            </a:pPr>
            <a:r>
              <a:rPr lang="en-US" dirty="0"/>
              <a:t>High-dimensional spaces exponentially increase computational cost for distance-based or kernel methods.</a:t>
            </a:r>
          </a:p>
          <a:p>
            <a:endParaRPr lang="en-IN" dirty="0"/>
          </a:p>
        </p:txBody>
      </p:sp>
      <p:sp>
        <p:nvSpPr>
          <p:cNvPr id="5" name="Slide Number Placeholder 4">
            <a:extLst>
              <a:ext uri="{FF2B5EF4-FFF2-40B4-BE49-F238E27FC236}">
                <a16:creationId xmlns:a16="http://schemas.microsoft.com/office/drawing/2014/main" id="{F439E81A-B458-4935-99B0-E279E7033A30}"/>
              </a:ext>
            </a:extLst>
          </p:cNvPr>
          <p:cNvSpPr>
            <a:spLocks noGrp="1"/>
          </p:cNvSpPr>
          <p:nvPr>
            <p:ph type="sldNum" sz="quarter" idx="12"/>
          </p:nvPr>
        </p:nvSpPr>
        <p:spPr/>
        <p:txBody>
          <a:bodyPr/>
          <a:lstStyle/>
          <a:p>
            <a:fld id="{F9AA3F58-F348-4ACC-AF27-6630C1E91C9F}" type="slidenum">
              <a:rPr lang="en-IN" smtClean="0"/>
              <a:t>9</a:t>
            </a:fld>
            <a:endParaRPr lang="en-IN" dirty="0"/>
          </a:p>
        </p:txBody>
      </p:sp>
    </p:spTree>
    <p:extLst>
      <p:ext uri="{BB962C8B-B14F-4D97-AF65-F5344CB8AC3E}">
        <p14:creationId xmlns:p14="http://schemas.microsoft.com/office/powerpoint/2010/main" val="3174534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9BE6AC-AD14-4EB8-B0F7-F5CE9C386A3F}"/>
              </a:ext>
            </a:extLst>
          </p:cNvPr>
          <p:cNvSpPr>
            <a:spLocks noGrp="1"/>
          </p:cNvSpPr>
          <p:nvPr>
            <p:ph type="title"/>
          </p:nvPr>
        </p:nvSpPr>
        <p:spPr/>
        <p:txBody>
          <a:bodyPr/>
          <a:lstStyle/>
          <a:p>
            <a:pPr algn="ctr"/>
            <a:r>
              <a:rPr lang="en-US" dirty="0"/>
              <a:t>Bottlenecks of Classical Machine Learning</a:t>
            </a:r>
            <a:endParaRPr lang="en-IN" dirty="0"/>
          </a:p>
        </p:txBody>
      </p:sp>
      <p:sp>
        <p:nvSpPr>
          <p:cNvPr id="7" name="Content Placeholder 6">
            <a:extLst>
              <a:ext uri="{FF2B5EF4-FFF2-40B4-BE49-F238E27FC236}">
                <a16:creationId xmlns:a16="http://schemas.microsoft.com/office/drawing/2014/main" id="{19124293-5B17-49DD-AA16-FDDF35BFF963}"/>
              </a:ext>
            </a:extLst>
          </p:cNvPr>
          <p:cNvSpPr>
            <a:spLocks noGrp="1"/>
          </p:cNvSpPr>
          <p:nvPr>
            <p:ph idx="1"/>
          </p:nvPr>
        </p:nvSpPr>
        <p:spPr/>
        <p:txBody>
          <a:bodyPr>
            <a:normAutofit fontScale="85000" lnSpcReduction="10000"/>
          </a:bodyPr>
          <a:lstStyle/>
          <a:p>
            <a:pPr>
              <a:buFont typeface="Arial" panose="020B0604020202020204" pitchFamily="34" charset="0"/>
              <a:buChar char="•"/>
            </a:pPr>
            <a:r>
              <a:rPr lang="en-US" b="1" dirty="0"/>
              <a:t>Training Time &amp; Convergence</a:t>
            </a:r>
            <a:endParaRPr lang="en-US" dirty="0"/>
          </a:p>
          <a:p>
            <a:pPr marL="742950" lvl="1" indent="-285750">
              <a:buFont typeface="Arial" panose="020B0604020202020204" pitchFamily="34" charset="0"/>
              <a:buChar char="•"/>
            </a:pPr>
            <a:r>
              <a:rPr lang="en-US" dirty="0"/>
              <a:t>Nonconvex optimization (e.g., deep networks) can get stuck in local minima, requiring many epochs or restarts.</a:t>
            </a:r>
          </a:p>
          <a:p>
            <a:pPr marL="742950" lvl="1" indent="-285750">
              <a:buFont typeface="Arial" panose="020B0604020202020204" pitchFamily="34" charset="0"/>
              <a:buChar char="•"/>
            </a:pPr>
            <a:r>
              <a:rPr lang="en-US" dirty="0"/>
              <a:t>Large parameter counts lead to slow gradient updates, limiting experimentation speed.</a:t>
            </a:r>
          </a:p>
          <a:p>
            <a:pPr>
              <a:buFont typeface="Arial" panose="020B0604020202020204" pitchFamily="34" charset="0"/>
              <a:buChar char="•"/>
            </a:pPr>
            <a:r>
              <a:rPr lang="en-US" b="1" dirty="0"/>
              <a:t>Scalability &amp; Parallelism Limits</a:t>
            </a:r>
            <a:endParaRPr lang="en-US" dirty="0"/>
          </a:p>
          <a:p>
            <a:pPr marL="742950" lvl="1" indent="-285750">
              <a:buFont typeface="Arial" panose="020B0604020202020204" pitchFamily="34" charset="0"/>
              <a:buChar char="•"/>
            </a:pPr>
            <a:r>
              <a:rPr lang="en-US" dirty="0"/>
              <a:t>Many classical algorithms do not parallelize efficiently across thousands of cores or distributed clusters.</a:t>
            </a:r>
          </a:p>
          <a:p>
            <a:pPr marL="742950" lvl="1" indent="-285750">
              <a:buFont typeface="Arial" panose="020B0604020202020204" pitchFamily="34" charset="0"/>
              <a:buChar char="•"/>
            </a:pPr>
            <a:r>
              <a:rPr lang="en-US" dirty="0"/>
              <a:t>Synchronization overhead and communication bottlenecks constrain horizontal scaling.</a:t>
            </a:r>
          </a:p>
          <a:p>
            <a:pPr>
              <a:buFont typeface="Arial" panose="020B0604020202020204" pitchFamily="34" charset="0"/>
              <a:buChar char="•"/>
            </a:pPr>
            <a:r>
              <a:rPr lang="en-US" b="1" dirty="0"/>
              <a:t>Resource Constraints &amp; Energy Costs</a:t>
            </a:r>
            <a:endParaRPr lang="en-US" dirty="0"/>
          </a:p>
          <a:p>
            <a:pPr marL="742950" lvl="1" indent="-285750">
              <a:buFont typeface="Arial" panose="020B0604020202020204" pitchFamily="34" charset="0"/>
              <a:buChar char="•"/>
            </a:pPr>
            <a:r>
              <a:rPr lang="en-US" dirty="0"/>
              <a:t>GPUs and high-performance clusters are expensive; training state-of-the-art models can consume significant power.</a:t>
            </a:r>
          </a:p>
          <a:p>
            <a:pPr marL="742950" lvl="1" indent="-285750">
              <a:buFont typeface="Arial" panose="020B0604020202020204" pitchFamily="34" charset="0"/>
              <a:buChar char="•"/>
            </a:pPr>
            <a:r>
              <a:rPr lang="en-US" dirty="0"/>
              <a:t>Organizations with limited budgets struggle to keep up with ever-growing compute demands.</a:t>
            </a:r>
          </a:p>
        </p:txBody>
      </p:sp>
      <p:sp>
        <p:nvSpPr>
          <p:cNvPr id="5" name="Slide Number Placeholder 4">
            <a:extLst>
              <a:ext uri="{FF2B5EF4-FFF2-40B4-BE49-F238E27FC236}">
                <a16:creationId xmlns:a16="http://schemas.microsoft.com/office/drawing/2014/main" id="{F439E81A-B458-4935-99B0-E279E7033A30}"/>
              </a:ext>
            </a:extLst>
          </p:cNvPr>
          <p:cNvSpPr>
            <a:spLocks noGrp="1"/>
          </p:cNvSpPr>
          <p:nvPr>
            <p:ph type="sldNum" sz="quarter" idx="12"/>
          </p:nvPr>
        </p:nvSpPr>
        <p:spPr/>
        <p:txBody>
          <a:bodyPr/>
          <a:lstStyle/>
          <a:p>
            <a:fld id="{F9AA3F58-F348-4ACC-AF27-6630C1E91C9F}" type="slidenum">
              <a:rPr lang="en-IN" smtClean="0"/>
              <a:t>10</a:t>
            </a:fld>
            <a:endParaRPr lang="en-IN" dirty="0"/>
          </a:p>
        </p:txBody>
      </p:sp>
    </p:spTree>
    <p:extLst>
      <p:ext uri="{BB962C8B-B14F-4D97-AF65-F5344CB8AC3E}">
        <p14:creationId xmlns:p14="http://schemas.microsoft.com/office/powerpoint/2010/main" val="2075477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Quantum Machine Learning</a:t>
            </a:r>
          </a:p>
        </p:txBody>
      </p:sp>
      <p:pic>
        <p:nvPicPr>
          <p:cNvPr id="6" name="Picture Placeholder 5">
            <a:extLst>
              <a:ext uri="{FF2B5EF4-FFF2-40B4-BE49-F238E27FC236}">
                <a16:creationId xmlns:a16="http://schemas.microsoft.com/office/drawing/2014/main" id="{F1E7A405-DBE6-4636-BCCF-B3263BAE1633}"/>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a:stretch/>
        </p:blipFill>
        <p:spPr>
          <a:xfrm>
            <a:off x="6193153" y="1380988"/>
            <a:ext cx="4488000" cy="4488000"/>
          </a:xfrm>
        </p:spPr>
      </p:pic>
      <p:sp>
        <p:nvSpPr>
          <p:cNvPr id="3" name="Content Placeholder 2"/>
          <p:cNvSpPr>
            <a:spLocks noGrp="1"/>
          </p:cNvSpPr>
          <p:nvPr>
            <p:ph type="body" sz="half" idx="2"/>
          </p:nvPr>
        </p:nvSpPr>
        <p:spPr>
          <a:xfrm>
            <a:off x="839788" y="2057400"/>
            <a:ext cx="4488000" cy="3811588"/>
          </a:xfrm>
        </p:spPr>
        <p:txBody>
          <a:bodyPr>
            <a:normAutofit/>
          </a:bodyPr>
          <a:lstStyle/>
          <a:p>
            <a:pPr algn="just"/>
            <a:r>
              <a:rPr lang="en-US" dirty="0"/>
              <a:t>In quantum machine learning, quantum algorithms are developed to solve typical problems of machine learning using the efficiency of quantum computing.</a:t>
            </a:r>
          </a:p>
          <a:p>
            <a:pPr algn="just"/>
            <a:r>
              <a:rPr lang="en-US" dirty="0"/>
              <a:t>The most common use of the term refers to machine learning algorithms for the analysis of classical data executed on a quantum computer, i.e., </a:t>
            </a:r>
            <a:r>
              <a:rPr lang="en-US" b="1" dirty="0"/>
              <a:t>Quantum-Enhanced Machine Learning</a:t>
            </a:r>
            <a:r>
              <a:rPr lang="en-US" dirty="0"/>
              <a:t>.</a:t>
            </a:r>
          </a:p>
          <a:p>
            <a:pPr algn="just"/>
            <a:r>
              <a:rPr lang="en-US" dirty="0"/>
              <a:t>QML is mostly achieved by designing Parameterized Quantum Circuits (PQCs) or Variational Quantum Circuits (VQCs) and executing the said circuits on quantum simulators such as </a:t>
            </a:r>
            <a:r>
              <a:rPr lang="en-US" dirty="0" err="1"/>
              <a:t>Pennylane</a:t>
            </a:r>
            <a:r>
              <a:rPr lang="en-US" dirty="0"/>
              <a:t>, IBM-</a:t>
            </a:r>
            <a:r>
              <a:rPr lang="en-US" dirty="0" err="1"/>
              <a:t>Qiskit</a:t>
            </a:r>
            <a:r>
              <a:rPr lang="en-US" dirty="0"/>
              <a:t>, etc.</a:t>
            </a:r>
          </a:p>
        </p:txBody>
      </p:sp>
      <p:sp>
        <p:nvSpPr>
          <p:cNvPr id="18" name="Slide Number Placeholder 17"/>
          <p:cNvSpPr>
            <a:spLocks noGrp="1"/>
          </p:cNvSpPr>
          <p:nvPr>
            <p:ph type="sldNum" sz="quarter" idx="12"/>
          </p:nvPr>
        </p:nvSpPr>
        <p:spPr/>
        <p:txBody>
          <a:bodyPr/>
          <a:lstStyle/>
          <a:p>
            <a:fld id="{F9AA3F58-F348-4ACC-AF27-6630C1E91C9F}" type="slidenum">
              <a:rPr lang="en-IN" smtClean="0"/>
              <a:pPr/>
              <a:t>11</a:t>
            </a:fld>
            <a:endParaRPr lang="en-IN" dirty="0"/>
          </a:p>
        </p:txBody>
      </p:sp>
    </p:spTree>
    <p:extLst>
      <p:ext uri="{BB962C8B-B14F-4D97-AF65-F5344CB8AC3E}">
        <p14:creationId xmlns:p14="http://schemas.microsoft.com/office/powerpoint/2010/main" val="3571925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626" y="365125"/>
            <a:ext cx="10952747" cy="1325563"/>
          </a:xfrm>
        </p:spPr>
        <p:txBody>
          <a:bodyPr/>
          <a:lstStyle/>
          <a:p>
            <a:pPr algn="ctr"/>
            <a:r>
              <a:rPr lang="en-IN" dirty="0"/>
              <a:t>Why do we need QML</a:t>
            </a:r>
          </a:p>
        </p:txBody>
      </p:sp>
      <p:sp>
        <p:nvSpPr>
          <p:cNvPr id="3" name="Content Placeholder 2"/>
          <p:cNvSpPr>
            <a:spLocks noGrp="1"/>
          </p:cNvSpPr>
          <p:nvPr>
            <p:ph idx="1"/>
          </p:nvPr>
        </p:nvSpPr>
        <p:spPr/>
        <p:txBody>
          <a:bodyPr>
            <a:normAutofit fontScale="92500" lnSpcReduction="10000"/>
          </a:bodyPr>
          <a:lstStyle/>
          <a:p>
            <a:pPr algn="just"/>
            <a:r>
              <a:rPr lang="en-US" b="1" dirty="0"/>
              <a:t>Exponential Speedup</a:t>
            </a:r>
            <a:r>
              <a:rPr lang="en-US" dirty="0"/>
              <a:t>: Some quantum algorithms, such as quantum SVMs and quantum PCA, offer exponential speedups over their classical counterparts for specific tasks.</a:t>
            </a:r>
          </a:p>
          <a:p>
            <a:pPr algn="just"/>
            <a:r>
              <a:rPr lang="en-US" b="1" dirty="0"/>
              <a:t>Quantum Parallelism</a:t>
            </a:r>
            <a:r>
              <a:rPr lang="en-US" dirty="0"/>
              <a:t>: Superposition is especially useful for high-dimensional data, where the curse of dimensionality can make classical approaches inefficient.</a:t>
            </a:r>
          </a:p>
          <a:p>
            <a:pPr algn="just"/>
            <a:r>
              <a:rPr lang="en-US" b="1" dirty="0"/>
              <a:t>Sampling Advantages</a:t>
            </a:r>
            <a:r>
              <a:rPr lang="en-US" dirty="0"/>
              <a:t>: Quantum computers can efficiently sample complex distributions, enabling quantum generative models like Boltzmann machines to potentially outperform classical counterparts.</a:t>
            </a:r>
          </a:p>
          <a:p>
            <a:pPr algn="just"/>
            <a:r>
              <a:rPr lang="en-US" b="1" dirty="0"/>
              <a:t>Overcoming Classical Limits</a:t>
            </a:r>
            <a:r>
              <a:rPr lang="en-US" dirty="0"/>
              <a:t>: Quantum computing provides a scalable alternative as classical computing nears its limits in power and miniaturization.</a:t>
            </a:r>
          </a:p>
        </p:txBody>
      </p:sp>
      <p:sp>
        <p:nvSpPr>
          <p:cNvPr id="18" name="Slide Number Placeholder 17"/>
          <p:cNvSpPr>
            <a:spLocks noGrp="1"/>
          </p:cNvSpPr>
          <p:nvPr>
            <p:ph type="sldNum" sz="quarter" idx="12"/>
          </p:nvPr>
        </p:nvSpPr>
        <p:spPr/>
        <p:txBody>
          <a:bodyPr/>
          <a:lstStyle/>
          <a:p>
            <a:fld id="{F9AA3F58-F348-4ACC-AF27-6630C1E91C9F}" type="slidenum">
              <a:rPr lang="en-IN" smtClean="0"/>
              <a:pPr/>
              <a:t>12</a:t>
            </a:fld>
            <a:endParaRPr lang="en-IN" dirty="0"/>
          </a:p>
        </p:txBody>
      </p:sp>
    </p:spTree>
    <p:extLst>
      <p:ext uri="{BB962C8B-B14F-4D97-AF65-F5344CB8AC3E}">
        <p14:creationId xmlns:p14="http://schemas.microsoft.com/office/powerpoint/2010/main" val="706154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626" y="365125"/>
            <a:ext cx="10952747" cy="1325563"/>
          </a:xfrm>
        </p:spPr>
        <p:txBody>
          <a:bodyPr/>
          <a:lstStyle/>
          <a:p>
            <a:pPr algn="ctr"/>
            <a:r>
              <a:rPr lang="en-IN" dirty="0"/>
              <a:t>Initialization of Qubits</a:t>
            </a:r>
          </a:p>
        </p:txBody>
      </p:sp>
      <p:sp>
        <p:nvSpPr>
          <p:cNvPr id="3" name="Content Placeholder 2"/>
          <p:cNvSpPr>
            <a:spLocks noGrp="1"/>
          </p:cNvSpPr>
          <p:nvPr>
            <p:ph idx="1"/>
          </p:nvPr>
        </p:nvSpPr>
        <p:spPr>
          <a:xfrm>
            <a:off x="838200" y="1690688"/>
            <a:ext cx="10515600" cy="4892992"/>
          </a:xfrm>
        </p:spPr>
        <p:txBody>
          <a:bodyPr>
            <a:normAutofit fontScale="70000" lnSpcReduction="20000"/>
          </a:bodyPr>
          <a:lstStyle/>
          <a:p>
            <a:pPr algn="just"/>
            <a:r>
              <a:rPr lang="en-US" dirty="0"/>
              <a:t>In quantum computing, initializing qubits in the state ∣0⟩ is standard practice for several reasons, especially in the context of Quantum Machine Learning (QML).</a:t>
            </a:r>
          </a:p>
          <a:p>
            <a:pPr algn="just"/>
            <a:endParaRPr lang="en-US" dirty="0"/>
          </a:p>
          <a:p>
            <a:pPr algn="just"/>
            <a:r>
              <a:rPr lang="en-US" b="1" dirty="0"/>
              <a:t>Deterministic Start</a:t>
            </a:r>
            <a:r>
              <a:rPr lang="en-US" dirty="0"/>
              <a:t>: The state ∣0⟩ is a well-defined, deterministic state, meaning that every qubit is guaranteed to start in the same state. This provides a consistent starting point for all quantum computations.</a:t>
            </a:r>
          </a:p>
          <a:p>
            <a:pPr marL="0" indent="0" algn="just">
              <a:buNone/>
            </a:pPr>
            <a:endParaRPr lang="en-US" dirty="0"/>
          </a:p>
          <a:p>
            <a:pPr algn="just"/>
            <a:r>
              <a:rPr lang="en-US" b="1" dirty="0"/>
              <a:t>Clarity in Mapping</a:t>
            </a:r>
            <a:r>
              <a:rPr lang="en-US" dirty="0"/>
              <a:t>: It ensures that the encoding process is straightforward, as there are no pre-existing entanglements or super-positions that could complicate the transformation.</a:t>
            </a:r>
          </a:p>
          <a:p>
            <a:pPr algn="just"/>
            <a:endParaRPr lang="en-US" dirty="0"/>
          </a:p>
          <a:p>
            <a:pPr algn="just"/>
            <a:r>
              <a:rPr lang="en-US" b="1" dirty="0"/>
              <a:t>Error Minimization</a:t>
            </a:r>
            <a:r>
              <a:rPr lang="en-US" dirty="0"/>
              <a:t>: Starting in the ∣0⟩ state reduces the potential for initialization errors, which can propagate through the circuit if the initial state were more complex.</a:t>
            </a:r>
          </a:p>
          <a:p>
            <a:pPr algn="just"/>
            <a:endParaRPr lang="en-US" dirty="0"/>
          </a:p>
          <a:p>
            <a:pPr algn="just"/>
            <a:r>
              <a:rPr lang="en-US" b="1" dirty="0"/>
              <a:t>Classical Bit Analogy</a:t>
            </a:r>
            <a:r>
              <a:rPr lang="en-US" dirty="0"/>
              <a:t>: In classical computing, bits are often initialized to 0. Similarly, in quantum computing, initializing to ∣0⟩ provides a straightforward analogy and a simple transition from classical to quantum computing paradigms.</a:t>
            </a:r>
          </a:p>
        </p:txBody>
      </p:sp>
      <p:sp>
        <p:nvSpPr>
          <p:cNvPr id="18" name="Slide Number Placeholder 17"/>
          <p:cNvSpPr>
            <a:spLocks noGrp="1"/>
          </p:cNvSpPr>
          <p:nvPr>
            <p:ph type="sldNum" sz="quarter" idx="12"/>
          </p:nvPr>
        </p:nvSpPr>
        <p:spPr/>
        <p:txBody>
          <a:bodyPr/>
          <a:lstStyle/>
          <a:p>
            <a:fld id="{F9AA3F58-F348-4ACC-AF27-6630C1E91C9F}" type="slidenum">
              <a:rPr lang="en-IN" smtClean="0"/>
              <a:pPr/>
              <a:t>13</a:t>
            </a:fld>
            <a:endParaRPr lang="en-IN" dirty="0"/>
          </a:p>
        </p:txBody>
      </p:sp>
    </p:spTree>
    <p:extLst>
      <p:ext uri="{BB962C8B-B14F-4D97-AF65-F5344CB8AC3E}">
        <p14:creationId xmlns:p14="http://schemas.microsoft.com/office/powerpoint/2010/main" val="2995081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EA576-0E10-47F0-9CE0-A45C0258CD62}"/>
              </a:ext>
            </a:extLst>
          </p:cNvPr>
          <p:cNvSpPr>
            <a:spLocks noGrp="1"/>
          </p:cNvSpPr>
          <p:nvPr>
            <p:ph type="title"/>
          </p:nvPr>
        </p:nvSpPr>
        <p:spPr/>
        <p:txBody>
          <a:bodyPr/>
          <a:lstStyle/>
          <a:p>
            <a:pPr algn="ctr"/>
            <a:r>
              <a:rPr lang="en-US" dirty="0"/>
              <a:t>The Challenge: Translating Classical to Quantum</a:t>
            </a:r>
            <a:endParaRPr lang="en-IN" dirty="0"/>
          </a:p>
        </p:txBody>
      </p:sp>
      <p:sp>
        <p:nvSpPr>
          <p:cNvPr id="3" name="Content Placeholder 2">
            <a:extLst>
              <a:ext uri="{FF2B5EF4-FFF2-40B4-BE49-F238E27FC236}">
                <a16:creationId xmlns:a16="http://schemas.microsoft.com/office/drawing/2014/main" id="{DF39FCBD-345B-4191-A415-0FAF928D3BF1}"/>
              </a:ext>
            </a:extLst>
          </p:cNvPr>
          <p:cNvSpPr>
            <a:spLocks noGrp="1"/>
          </p:cNvSpPr>
          <p:nvPr>
            <p:ph idx="1"/>
          </p:nvPr>
        </p:nvSpPr>
        <p:spPr>
          <a:xfrm>
            <a:off x="838200" y="2133599"/>
            <a:ext cx="10515600" cy="4043363"/>
          </a:xfrm>
        </p:spPr>
        <p:txBody>
          <a:bodyPr/>
          <a:lstStyle/>
          <a:p>
            <a:pPr>
              <a:buFont typeface="Arial" panose="020B0604020202020204" pitchFamily="34" charset="0"/>
              <a:buChar char="•"/>
            </a:pPr>
            <a:r>
              <a:rPr lang="en-US" dirty="0"/>
              <a:t>Our world runs on “classical” data: numbers, tables, images, text</a:t>
            </a:r>
          </a:p>
          <a:p>
            <a:pPr>
              <a:buFont typeface="Arial" panose="020B0604020202020204" pitchFamily="34" charset="0"/>
              <a:buChar char="•"/>
            </a:pPr>
            <a:r>
              <a:rPr lang="en-US" dirty="0"/>
              <a:t>Quantum computers work in a completely different language, quantum states</a:t>
            </a:r>
          </a:p>
          <a:p>
            <a:pPr>
              <a:buFont typeface="Arial" panose="020B0604020202020204" pitchFamily="34" charset="0"/>
              <a:buChar char="•"/>
            </a:pPr>
            <a:r>
              <a:rPr lang="en-US" dirty="0"/>
              <a:t>Key insight: we must </a:t>
            </a:r>
            <a:r>
              <a:rPr lang="en-US" b="1" dirty="0"/>
              <a:t>encode</a:t>
            </a:r>
            <a:r>
              <a:rPr lang="en-US" dirty="0"/>
              <a:t> classical data into qubits before any quantum magic can happen</a:t>
            </a:r>
          </a:p>
          <a:p>
            <a:pPr>
              <a:buFont typeface="Arial" panose="020B0604020202020204" pitchFamily="34" charset="0"/>
              <a:buChar char="•"/>
            </a:pPr>
            <a:r>
              <a:rPr lang="en-US" dirty="0"/>
              <a:t>Think of it like learning a new alphabet, same story, different symbols</a:t>
            </a:r>
          </a:p>
        </p:txBody>
      </p:sp>
      <p:sp>
        <p:nvSpPr>
          <p:cNvPr id="4" name="Slide Number Placeholder 3">
            <a:extLst>
              <a:ext uri="{FF2B5EF4-FFF2-40B4-BE49-F238E27FC236}">
                <a16:creationId xmlns:a16="http://schemas.microsoft.com/office/drawing/2014/main" id="{7D592158-DB9B-4D2E-B5BC-DA41F0FBE437}"/>
              </a:ext>
            </a:extLst>
          </p:cNvPr>
          <p:cNvSpPr>
            <a:spLocks noGrp="1"/>
          </p:cNvSpPr>
          <p:nvPr>
            <p:ph type="sldNum" sz="quarter" idx="12"/>
          </p:nvPr>
        </p:nvSpPr>
        <p:spPr/>
        <p:txBody>
          <a:bodyPr/>
          <a:lstStyle/>
          <a:p>
            <a:fld id="{F9AA3F58-F348-4ACC-AF27-6630C1E91C9F}" type="slidenum">
              <a:rPr lang="en-IN" smtClean="0"/>
              <a:pPr/>
              <a:t>14</a:t>
            </a:fld>
            <a:endParaRPr lang="en-IN" dirty="0"/>
          </a:p>
        </p:txBody>
      </p:sp>
    </p:spTree>
    <p:extLst>
      <p:ext uri="{BB962C8B-B14F-4D97-AF65-F5344CB8AC3E}">
        <p14:creationId xmlns:p14="http://schemas.microsoft.com/office/powerpoint/2010/main" val="4024552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EA576-0E10-47F0-9CE0-A45C0258CD62}"/>
              </a:ext>
            </a:extLst>
          </p:cNvPr>
          <p:cNvSpPr>
            <a:spLocks noGrp="1"/>
          </p:cNvSpPr>
          <p:nvPr>
            <p:ph type="title"/>
          </p:nvPr>
        </p:nvSpPr>
        <p:spPr/>
        <p:txBody>
          <a:bodyPr/>
          <a:lstStyle/>
          <a:p>
            <a:pPr algn="ctr"/>
            <a:r>
              <a:rPr lang="en-US" dirty="0"/>
              <a:t>Why Encoding Matters</a:t>
            </a:r>
            <a:endParaRPr lang="en-IN" dirty="0"/>
          </a:p>
        </p:txBody>
      </p:sp>
      <p:sp>
        <p:nvSpPr>
          <p:cNvPr id="3" name="Content Placeholder 2">
            <a:extLst>
              <a:ext uri="{FF2B5EF4-FFF2-40B4-BE49-F238E27FC236}">
                <a16:creationId xmlns:a16="http://schemas.microsoft.com/office/drawing/2014/main" id="{DF39FCBD-345B-4191-A415-0FAF928D3BF1}"/>
              </a:ext>
            </a:extLst>
          </p:cNvPr>
          <p:cNvSpPr>
            <a:spLocks noGrp="1"/>
          </p:cNvSpPr>
          <p:nvPr>
            <p:ph idx="1"/>
          </p:nvPr>
        </p:nvSpPr>
        <p:spPr>
          <a:xfrm>
            <a:off x="838200" y="2133599"/>
            <a:ext cx="10515600" cy="4043363"/>
          </a:xfrm>
        </p:spPr>
        <p:txBody>
          <a:bodyPr/>
          <a:lstStyle/>
          <a:p>
            <a:pPr>
              <a:buFont typeface="Arial" panose="020B0604020202020204" pitchFamily="34" charset="0"/>
              <a:buChar char="•"/>
            </a:pPr>
            <a:r>
              <a:rPr lang="en-IN" b="1" dirty="0"/>
              <a:t>Quantum hardware</a:t>
            </a:r>
            <a:r>
              <a:rPr lang="en-IN" dirty="0"/>
              <a:t> only understands amplitudes, entanglements and superpositions</a:t>
            </a:r>
          </a:p>
          <a:p>
            <a:pPr>
              <a:buFont typeface="Arial" panose="020B0604020202020204" pitchFamily="34" charset="0"/>
              <a:buChar char="•"/>
            </a:pPr>
            <a:r>
              <a:rPr lang="en-IN" dirty="0"/>
              <a:t>Without proper encoding, you can’t leverage quantum speed-ups or entanglement</a:t>
            </a:r>
          </a:p>
          <a:p>
            <a:pPr>
              <a:buFont typeface="Arial" panose="020B0604020202020204" pitchFamily="34" charset="0"/>
              <a:buChar char="•"/>
            </a:pPr>
            <a:r>
              <a:rPr lang="en-IN" dirty="0"/>
              <a:t>A poor choice of encoding ⇒ deeper circuits, more errors, wasted qubits</a:t>
            </a:r>
          </a:p>
          <a:p>
            <a:pPr>
              <a:buFont typeface="Arial" panose="020B0604020202020204" pitchFamily="34" charset="0"/>
              <a:buChar char="•"/>
            </a:pPr>
            <a:r>
              <a:rPr lang="en-IN" dirty="0"/>
              <a:t>Good encoding ⇒ compact circuits, higher accuracy, faster results</a:t>
            </a:r>
          </a:p>
          <a:p>
            <a:endParaRPr lang="en-IN" dirty="0"/>
          </a:p>
        </p:txBody>
      </p:sp>
      <p:sp>
        <p:nvSpPr>
          <p:cNvPr id="4" name="Slide Number Placeholder 3">
            <a:extLst>
              <a:ext uri="{FF2B5EF4-FFF2-40B4-BE49-F238E27FC236}">
                <a16:creationId xmlns:a16="http://schemas.microsoft.com/office/drawing/2014/main" id="{7D592158-DB9B-4D2E-B5BC-DA41F0FBE437}"/>
              </a:ext>
            </a:extLst>
          </p:cNvPr>
          <p:cNvSpPr>
            <a:spLocks noGrp="1"/>
          </p:cNvSpPr>
          <p:nvPr>
            <p:ph type="sldNum" sz="quarter" idx="12"/>
          </p:nvPr>
        </p:nvSpPr>
        <p:spPr/>
        <p:txBody>
          <a:bodyPr/>
          <a:lstStyle/>
          <a:p>
            <a:fld id="{F9AA3F58-F348-4ACC-AF27-6630C1E91C9F}" type="slidenum">
              <a:rPr lang="en-IN" smtClean="0"/>
              <a:pPr/>
              <a:t>15</a:t>
            </a:fld>
            <a:endParaRPr lang="en-IN" dirty="0"/>
          </a:p>
        </p:txBody>
      </p:sp>
    </p:spTree>
    <p:extLst>
      <p:ext uri="{BB962C8B-B14F-4D97-AF65-F5344CB8AC3E}">
        <p14:creationId xmlns:p14="http://schemas.microsoft.com/office/powerpoint/2010/main" val="14902568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Method 1 – Amplitude Encoding</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IN" b="1" dirty="0"/>
                  <a:t>“The Compression Master”</a:t>
                </a:r>
                <a:endParaRPr lang="en-IN" dirty="0"/>
              </a:p>
              <a:p>
                <a:pPr>
                  <a:buFont typeface="Arial" panose="020B0604020202020204" pitchFamily="34" charset="0"/>
                  <a:buChar char="•"/>
                </a:pPr>
                <a:r>
                  <a:rPr lang="en-IN" b="1" dirty="0"/>
                  <a:t>What it does:</a:t>
                </a:r>
                <a:r>
                  <a:rPr lang="en-IN" dirty="0"/>
                  <a:t> packs an entire data vector into the amplitudes of a multi-qubit state</a:t>
                </a:r>
              </a:p>
              <a:p>
                <a:pPr>
                  <a:buFont typeface="Arial" panose="020B0604020202020204" pitchFamily="34" charset="0"/>
                  <a:buChar char="•"/>
                </a:pPr>
                <a:r>
                  <a:rPr lang="en-IN" b="1" dirty="0"/>
                  <a:t>Analogy:</a:t>
                </a:r>
                <a:r>
                  <a:rPr lang="en-IN" dirty="0"/>
                  <a:t> like zipping a 1 GB file into a 1 MB archive</a:t>
                </a:r>
              </a:p>
              <a:p>
                <a:pPr>
                  <a:buFont typeface="Arial" panose="020B0604020202020204" pitchFamily="34" charset="0"/>
                  <a:buChar char="•"/>
                </a:pPr>
                <a:r>
                  <a:rPr lang="en-IN" b="1" dirty="0"/>
                  <a:t>How it works:</a:t>
                </a:r>
                <a:endParaRPr lang="en-IN" dirty="0"/>
              </a:p>
              <a:p>
                <a:pPr marL="742950" lvl="1" indent="-285750">
                  <a:buFont typeface="Arial" panose="020B0604020202020204" pitchFamily="34" charset="0"/>
                  <a:buChar char="•"/>
                </a:pPr>
                <a:r>
                  <a:rPr lang="en-IN" dirty="0"/>
                  <a:t>Normalize your data vector so its squared entries sum to 1</a:t>
                </a:r>
              </a:p>
              <a:p>
                <a:pPr marL="742950" lvl="1" indent="-285750">
                  <a:buFont typeface="Arial" panose="020B0604020202020204" pitchFamily="34" charset="0"/>
                  <a:buChar char="•"/>
                </a:pPr>
                <a:r>
                  <a:rPr lang="en-IN" dirty="0"/>
                  <a:t>Prepare a superposition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𝜓</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e>
                    </m:nary>
                  </m:oMath>
                </a14:m>
                <a:r>
                  <a:rPr lang="en-IN" dirty="0"/>
                  <a:t>, where each </a:t>
                </a:r>
                <a14:m>
                  <m:oMath xmlns:m="http://schemas.openxmlformats.org/officeDocument/2006/math">
                    <m:sSub>
                      <m:sSubPr>
                        <m:ctrlPr>
                          <a:rPr lang="en-IN"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a14:m>
                <a:r>
                  <a:rPr lang="en-IN" dirty="0"/>
                  <a:t> is one data component</a:t>
                </a:r>
              </a:p>
              <a:p>
                <a:pPr>
                  <a:buFont typeface="Arial" panose="020B0604020202020204" pitchFamily="34" charset="0"/>
                  <a:buChar char="•"/>
                </a:pPr>
                <a:r>
                  <a:rPr lang="en-IN" b="1" dirty="0"/>
                  <a:t>Pros:</a:t>
                </a:r>
                <a:r>
                  <a:rPr lang="en-IN" dirty="0"/>
                  <a:t> logarithmic qubit scaling (1,000 features → ∼10 qubits)</a:t>
                </a:r>
              </a:p>
              <a:p>
                <a:pPr>
                  <a:buFont typeface="Arial" panose="020B0604020202020204" pitchFamily="34" charset="0"/>
                  <a:buChar char="•"/>
                </a:pPr>
                <a:r>
                  <a:rPr lang="en-IN" b="1" dirty="0"/>
                  <a:t>Cons:</a:t>
                </a:r>
                <a:r>
                  <a:rPr lang="en-IN" dirty="0"/>
                  <a:t> requires complex “state-preparation” circuits and precise normalization</a:t>
                </a:r>
              </a:p>
              <a:p>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3081" r="-754"/>
                </a:stretch>
              </a:blipFill>
            </p:spPr>
            <p:txBody>
              <a:bodyPr/>
              <a:lstStyle/>
              <a:p>
                <a:r>
                  <a:rPr lang="en-IN">
                    <a:noFill/>
                  </a:rPr>
                  <a:t> </a:t>
                </a:r>
              </a:p>
            </p:txBody>
          </p:sp>
        </mc:Fallback>
      </mc:AlternateContent>
      <p:sp>
        <p:nvSpPr>
          <p:cNvPr id="18" name="Slide Number Placeholder 17"/>
          <p:cNvSpPr>
            <a:spLocks noGrp="1"/>
          </p:cNvSpPr>
          <p:nvPr>
            <p:ph type="sldNum" sz="quarter" idx="12"/>
          </p:nvPr>
        </p:nvSpPr>
        <p:spPr/>
        <p:txBody>
          <a:bodyPr/>
          <a:lstStyle/>
          <a:p>
            <a:fld id="{F9AA3F58-F348-4ACC-AF27-6630C1E91C9F}" type="slidenum">
              <a:rPr lang="en-IN" smtClean="0"/>
              <a:pPr/>
              <a:t>16</a:t>
            </a:fld>
            <a:endParaRPr lang="en-IN" dirty="0"/>
          </a:p>
        </p:txBody>
      </p:sp>
    </p:spTree>
    <p:extLst>
      <p:ext uri="{BB962C8B-B14F-4D97-AF65-F5344CB8AC3E}">
        <p14:creationId xmlns:p14="http://schemas.microsoft.com/office/powerpoint/2010/main" val="2791212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Method 2 – Angle Encoding</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b="1" dirty="0"/>
                  <a:t>“The Clock-Hand Trick”</a:t>
                </a:r>
                <a:endParaRPr lang="en-US" dirty="0"/>
              </a:p>
              <a:p>
                <a:pPr>
                  <a:buFont typeface="Arial" panose="020B0604020202020204" pitchFamily="34" charset="0"/>
                  <a:buChar char="•"/>
                </a:pPr>
                <a:r>
                  <a:rPr lang="en-US" b="1" dirty="0"/>
                  <a:t>What it does:</a:t>
                </a:r>
                <a:r>
                  <a:rPr lang="en-US" dirty="0"/>
                  <a:t> represents each data value as a rotation angle on a qubit</a:t>
                </a:r>
              </a:p>
              <a:p>
                <a:pPr>
                  <a:buFont typeface="Arial" panose="020B0604020202020204" pitchFamily="34" charset="0"/>
                  <a:buChar char="•"/>
                </a:pPr>
                <a:r>
                  <a:rPr lang="en-US" b="1" dirty="0"/>
                  <a:t>Analogy:</a:t>
                </a:r>
                <a:r>
                  <a:rPr lang="en-US" dirty="0"/>
                  <a:t> setting the hour hand to 3 o’clock for the number 3</a:t>
                </a:r>
              </a:p>
              <a:p>
                <a:pPr>
                  <a:buFont typeface="Arial" panose="020B0604020202020204" pitchFamily="34" charset="0"/>
                  <a:buChar char="•"/>
                </a:pPr>
                <a:r>
                  <a:rPr lang="en-US" b="1" dirty="0"/>
                  <a:t>How it works:</a:t>
                </a:r>
                <a:endParaRPr lang="en-US" dirty="0"/>
              </a:p>
              <a:p>
                <a:pPr marL="742950" lvl="1" indent="-285750">
                  <a:buFont typeface="Arial" panose="020B0604020202020204" pitchFamily="34" charset="0"/>
                  <a:buChar char="•"/>
                </a:pPr>
                <a:r>
                  <a:rPr lang="en-US" dirty="0"/>
                  <a:t>For each feature </a:t>
                </a:r>
                <a14:m>
                  <m:oMath xmlns:m="http://schemas.openxmlformats.org/officeDocument/2006/math">
                    <m:r>
                      <a:rPr lang="en-US" b="0" i="1" dirty="0" smtClean="0">
                        <a:latin typeface="Cambria Math" panose="02040503050406030204" pitchFamily="18" charset="0"/>
                      </a:rPr>
                      <m:t>𝑎</m:t>
                    </m:r>
                  </m:oMath>
                </a14:m>
                <a:r>
                  <a:rPr lang="en-US" dirty="0"/>
                  <a:t>, apply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𝑎</m:t>
                        </m:r>
                      </m:sub>
                    </m:sSub>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𝑠𝑐𝑎𝑙𝑒</m:t>
                    </m:r>
                    <m:r>
                      <a:rPr lang="en-US" b="0" i="1" smtClean="0">
                        <a:latin typeface="Cambria Math" panose="02040503050406030204" pitchFamily="18" charset="0"/>
                      </a:rPr>
                      <m:t>)</m:t>
                    </m:r>
                  </m:oMath>
                </a14:m>
                <a:r>
                  <a:rPr lang="en-US" dirty="0"/>
                  <a:t> on a qubit </a:t>
                </a:r>
              </a:p>
              <a:p>
                <a:pPr marL="742950" lvl="1" indent="-285750">
                  <a:buFont typeface="Arial" panose="020B0604020202020204" pitchFamily="34" charset="0"/>
                  <a:buChar char="•"/>
                </a:pPr>
                <a:r>
                  <a:rPr lang="en-US" dirty="0"/>
                  <a:t>Can use multiple rotations (X, Y, Z) for richer mapping</a:t>
                </a:r>
              </a:p>
              <a:p>
                <a:pPr>
                  <a:buFont typeface="Arial" panose="020B0604020202020204" pitchFamily="34" charset="0"/>
                  <a:buChar char="•"/>
                </a:pPr>
                <a:r>
                  <a:rPr lang="en-US" b="1" dirty="0"/>
                  <a:t>Pros:</a:t>
                </a:r>
                <a:r>
                  <a:rPr lang="en-US" dirty="0"/>
                  <a:t> very simple circuits; intuitive for newcomers</a:t>
                </a:r>
              </a:p>
              <a:p>
                <a:pPr>
                  <a:buFont typeface="Arial" panose="020B0604020202020204" pitchFamily="34" charset="0"/>
                  <a:buChar char="•"/>
                </a:pPr>
                <a:r>
                  <a:rPr lang="en-US" b="1" dirty="0"/>
                  <a:t>Cons:</a:t>
                </a:r>
                <a:r>
                  <a:rPr lang="en-US" dirty="0"/>
                  <a:t> linear qubit scaling if you map each feature to its own qubit; limited compression</a:t>
                </a:r>
              </a:p>
              <a:p>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en-IN">
                    <a:noFill/>
                  </a:rPr>
                  <a:t> </a:t>
                </a:r>
              </a:p>
            </p:txBody>
          </p:sp>
        </mc:Fallback>
      </mc:AlternateContent>
      <p:sp>
        <p:nvSpPr>
          <p:cNvPr id="18" name="Slide Number Placeholder 17"/>
          <p:cNvSpPr>
            <a:spLocks noGrp="1"/>
          </p:cNvSpPr>
          <p:nvPr>
            <p:ph type="sldNum" sz="quarter" idx="12"/>
          </p:nvPr>
        </p:nvSpPr>
        <p:spPr/>
        <p:txBody>
          <a:bodyPr/>
          <a:lstStyle/>
          <a:p>
            <a:fld id="{F9AA3F58-F348-4ACC-AF27-6630C1E91C9F}" type="slidenum">
              <a:rPr lang="en-IN" smtClean="0"/>
              <a:pPr/>
              <a:t>17</a:t>
            </a:fld>
            <a:endParaRPr lang="en-IN" dirty="0"/>
          </a:p>
        </p:txBody>
      </p:sp>
    </p:spTree>
    <p:extLst>
      <p:ext uri="{BB962C8B-B14F-4D97-AF65-F5344CB8AC3E}">
        <p14:creationId xmlns:p14="http://schemas.microsoft.com/office/powerpoint/2010/main" val="31589439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Method 3 – Basis Encoding</a:t>
            </a:r>
            <a:endParaRPr lang="en-IN" dirty="0"/>
          </a:p>
        </p:txBody>
      </p:sp>
      <p:sp>
        <p:nvSpPr>
          <p:cNvPr id="3" name="Content Placeholder 2"/>
          <p:cNvSpPr>
            <a:spLocks noGrp="1"/>
          </p:cNvSpPr>
          <p:nvPr>
            <p:ph idx="1"/>
          </p:nvPr>
        </p:nvSpPr>
        <p:spPr/>
        <p:txBody>
          <a:bodyPr>
            <a:normAutofit/>
          </a:bodyPr>
          <a:lstStyle/>
          <a:p>
            <a:r>
              <a:rPr lang="en-US" b="1" dirty="0"/>
              <a:t>“The Direct Binary Copy”</a:t>
            </a:r>
            <a:endParaRPr lang="en-US" dirty="0"/>
          </a:p>
          <a:p>
            <a:pPr>
              <a:buFont typeface="Arial" panose="020B0604020202020204" pitchFamily="34" charset="0"/>
              <a:buChar char="•"/>
            </a:pPr>
            <a:r>
              <a:rPr lang="en-US" b="1" dirty="0"/>
              <a:t>What it does:</a:t>
            </a:r>
            <a:r>
              <a:rPr lang="en-US" dirty="0"/>
              <a:t> maps each classical bit to a qubit’s basis state |0⟩ or |1⟩</a:t>
            </a:r>
          </a:p>
          <a:p>
            <a:pPr>
              <a:buFont typeface="Arial" panose="020B0604020202020204" pitchFamily="34" charset="0"/>
              <a:buChar char="•"/>
            </a:pPr>
            <a:r>
              <a:rPr lang="en-US" b="1" dirty="0"/>
              <a:t>Analogy:</a:t>
            </a:r>
            <a:r>
              <a:rPr lang="en-US" dirty="0"/>
              <a:t> copying binary 10110 directly onto 5 light switches (off/on)</a:t>
            </a:r>
          </a:p>
          <a:p>
            <a:pPr>
              <a:buFont typeface="Arial" panose="020B0604020202020204" pitchFamily="34" charset="0"/>
              <a:buChar char="•"/>
            </a:pPr>
            <a:r>
              <a:rPr lang="en-US" b="1" dirty="0"/>
              <a:t>How it works:</a:t>
            </a:r>
            <a:endParaRPr lang="en-US" dirty="0"/>
          </a:p>
          <a:p>
            <a:pPr marL="742950" lvl="1" indent="-285750">
              <a:buFont typeface="Arial" panose="020B0604020202020204" pitchFamily="34" charset="0"/>
              <a:buChar char="•"/>
            </a:pPr>
            <a:r>
              <a:rPr lang="en-US" dirty="0"/>
              <a:t>For bit = 0, leave qubit in |0⟩; for bit = 1, apply an X-gate to get |1⟩</a:t>
            </a:r>
          </a:p>
          <a:p>
            <a:pPr>
              <a:buFont typeface="Arial" panose="020B0604020202020204" pitchFamily="34" charset="0"/>
              <a:buChar char="•"/>
            </a:pPr>
            <a:r>
              <a:rPr lang="en-US" b="1" dirty="0"/>
              <a:t>Pros:</a:t>
            </a:r>
            <a:r>
              <a:rPr lang="en-US" dirty="0"/>
              <a:t> trivial to implement; minimal circuit depth</a:t>
            </a:r>
          </a:p>
          <a:p>
            <a:pPr>
              <a:buFont typeface="Arial" panose="020B0604020202020204" pitchFamily="34" charset="0"/>
              <a:buChar char="•"/>
            </a:pPr>
            <a:r>
              <a:rPr lang="en-US" b="1" dirty="0"/>
              <a:t>Cons:</a:t>
            </a:r>
            <a:r>
              <a:rPr lang="en-US" dirty="0"/>
              <a:t> no compression, needs as many qubits as bits; impractical for large datasets</a:t>
            </a:r>
          </a:p>
          <a:p>
            <a:endParaRPr lang="en-IN" dirty="0"/>
          </a:p>
        </p:txBody>
      </p:sp>
      <p:sp>
        <p:nvSpPr>
          <p:cNvPr id="18" name="Slide Number Placeholder 17"/>
          <p:cNvSpPr>
            <a:spLocks noGrp="1"/>
          </p:cNvSpPr>
          <p:nvPr>
            <p:ph type="sldNum" sz="quarter" idx="12"/>
          </p:nvPr>
        </p:nvSpPr>
        <p:spPr/>
        <p:txBody>
          <a:bodyPr/>
          <a:lstStyle/>
          <a:p>
            <a:fld id="{F9AA3F58-F348-4ACC-AF27-6630C1E91C9F}" type="slidenum">
              <a:rPr lang="en-IN" smtClean="0"/>
              <a:pPr/>
              <a:t>18</a:t>
            </a:fld>
            <a:endParaRPr lang="en-IN" dirty="0"/>
          </a:p>
        </p:txBody>
      </p:sp>
    </p:spTree>
    <p:extLst>
      <p:ext uri="{BB962C8B-B14F-4D97-AF65-F5344CB8AC3E}">
        <p14:creationId xmlns:p14="http://schemas.microsoft.com/office/powerpoint/2010/main" val="7174504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929DE-21D0-4D55-B104-1CD36AFF2BC3}"/>
              </a:ext>
            </a:extLst>
          </p:cNvPr>
          <p:cNvSpPr>
            <a:spLocks noGrp="1"/>
          </p:cNvSpPr>
          <p:nvPr>
            <p:ph type="title"/>
          </p:nvPr>
        </p:nvSpPr>
        <p:spPr/>
        <p:txBody>
          <a:bodyPr/>
          <a:lstStyle/>
          <a:p>
            <a:pPr algn="ctr"/>
            <a:r>
              <a:rPr lang="en-IN" dirty="0"/>
              <a:t>Encoding Comparison</a:t>
            </a:r>
          </a:p>
        </p:txBody>
      </p:sp>
      <p:graphicFrame>
        <p:nvGraphicFramePr>
          <p:cNvPr id="5" name="Table 5">
            <a:extLst>
              <a:ext uri="{FF2B5EF4-FFF2-40B4-BE49-F238E27FC236}">
                <a16:creationId xmlns:a16="http://schemas.microsoft.com/office/drawing/2014/main" id="{B7351710-A847-48C7-A53B-155A1F0E8FB7}"/>
              </a:ext>
            </a:extLst>
          </p:cNvPr>
          <p:cNvGraphicFramePr>
            <a:graphicFrameLocks noGrp="1"/>
          </p:cNvGraphicFramePr>
          <p:nvPr>
            <p:ph idx="1"/>
            <p:extLst>
              <p:ext uri="{D42A27DB-BD31-4B8C-83A1-F6EECF244321}">
                <p14:modId xmlns:p14="http://schemas.microsoft.com/office/powerpoint/2010/main" val="3873418610"/>
              </p:ext>
            </p:extLst>
          </p:nvPr>
        </p:nvGraphicFramePr>
        <p:xfrm>
          <a:off x="838200" y="1825625"/>
          <a:ext cx="10515600" cy="365760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364816554"/>
                    </a:ext>
                  </a:extLst>
                </a:gridCol>
                <a:gridCol w="1752600">
                  <a:extLst>
                    <a:ext uri="{9D8B030D-6E8A-4147-A177-3AD203B41FA5}">
                      <a16:colId xmlns:a16="http://schemas.microsoft.com/office/drawing/2014/main" val="4195626458"/>
                    </a:ext>
                  </a:extLst>
                </a:gridCol>
                <a:gridCol w="1752600">
                  <a:extLst>
                    <a:ext uri="{9D8B030D-6E8A-4147-A177-3AD203B41FA5}">
                      <a16:colId xmlns:a16="http://schemas.microsoft.com/office/drawing/2014/main" val="400841030"/>
                    </a:ext>
                  </a:extLst>
                </a:gridCol>
                <a:gridCol w="1752600">
                  <a:extLst>
                    <a:ext uri="{9D8B030D-6E8A-4147-A177-3AD203B41FA5}">
                      <a16:colId xmlns:a16="http://schemas.microsoft.com/office/drawing/2014/main" val="2076462881"/>
                    </a:ext>
                  </a:extLst>
                </a:gridCol>
                <a:gridCol w="1752600">
                  <a:extLst>
                    <a:ext uri="{9D8B030D-6E8A-4147-A177-3AD203B41FA5}">
                      <a16:colId xmlns:a16="http://schemas.microsoft.com/office/drawing/2014/main" val="1349451133"/>
                    </a:ext>
                  </a:extLst>
                </a:gridCol>
                <a:gridCol w="1752600">
                  <a:extLst>
                    <a:ext uri="{9D8B030D-6E8A-4147-A177-3AD203B41FA5}">
                      <a16:colId xmlns:a16="http://schemas.microsoft.com/office/drawing/2014/main" val="3611693134"/>
                    </a:ext>
                  </a:extLst>
                </a:gridCol>
              </a:tblGrid>
              <a:tr h="370840">
                <a:tc>
                  <a:txBody>
                    <a:bodyPr/>
                    <a:lstStyle/>
                    <a:p>
                      <a:pPr algn="ctr"/>
                      <a:r>
                        <a:rPr lang="en-IN" dirty="0"/>
                        <a:t>Encoding Type</a:t>
                      </a:r>
                    </a:p>
                  </a:txBody>
                  <a:tcPr anchor="ctr"/>
                </a:tc>
                <a:tc>
                  <a:txBody>
                    <a:bodyPr/>
                    <a:lstStyle/>
                    <a:p>
                      <a:pPr algn="ctr"/>
                      <a:r>
                        <a:rPr lang="en-IN"/>
                        <a:t>Qubit Count</a:t>
                      </a:r>
                    </a:p>
                  </a:txBody>
                  <a:tcPr anchor="ctr"/>
                </a:tc>
                <a:tc>
                  <a:txBody>
                    <a:bodyPr/>
                    <a:lstStyle/>
                    <a:p>
                      <a:pPr algn="ctr"/>
                      <a:r>
                        <a:rPr lang="en-IN"/>
                        <a:t>Circuit Complexity</a:t>
                      </a:r>
                    </a:p>
                  </a:txBody>
                  <a:tcPr anchor="ctr"/>
                </a:tc>
                <a:tc>
                  <a:txBody>
                    <a:bodyPr/>
                    <a:lstStyle/>
                    <a:p>
                      <a:pPr algn="ctr"/>
                      <a:r>
                        <a:rPr lang="en-IN" dirty="0"/>
                        <a:t>Compression</a:t>
                      </a:r>
                    </a:p>
                  </a:txBody>
                  <a:tcPr anchor="ctr"/>
                </a:tc>
                <a:tc>
                  <a:txBody>
                    <a:bodyPr/>
                    <a:lstStyle/>
                    <a:p>
                      <a:pPr algn="ctr"/>
                      <a:r>
                        <a:rPr lang="en-IN" dirty="0"/>
                        <a:t>Use Cases</a:t>
                      </a:r>
                    </a:p>
                  </a:txBody>
                  <a:tcPr anchor="ctr"/>
                </a:tc>
                <a:tc>
                  <a:txBody>
                    <a:bodyPr/>
                    <a:lstStyle/>
                    <a:p>
                      <a:pPr algn="ctr"/>
                      <a:r>
                        <a:rPr lang="en-IN"/>
                        <a:t>Example Quantum Algorithm</a:t>
                      </a:r>
                    </a:p>
                  </a:txBody>
                  <a:tcPr anchor="ctr"/>
                </a:tc>
                <a:extLst>
                  <a:ext uri="{0D108BD9-81ED-4DB2-BD59-A6C34878D82A}">
                    <a16:rowId xmlns:a16="http://schemas.microsoft.com/office/drawing/2014/main" val="1798525561"/>
                  </a:ext>
                </a:extLst>
              </a:tr>
              <a:tr h="370840">
                <a:tc>
                  <a:txBody>
                    <a:bodyPr/>
                    <a:lstStyle/>
                    <a:p>
                      <a:pPr algn="ctr"/>
                      <a:r>
                        <a:rPr lang="en-IN" b="1"/>
                        <a:t>Amplitude</a:t>
                      </a:r>
                      <a:endParaRPr lang="en-IN"/>
                    </a:p>
                  </a:txBody>
                  <a:tcPr anchor="ctr"/>
                </a:tc>
                <a:tc>
                  <a:txBody>
                    <a:bodyPr/>
                    <a:lstStyle/>
                    <a:p>
                      <a:pPr algn="ctr"/>
                      <a:r>
                        <a:rPr lang="en-IN"/>
                        <a:t>log₂(N)</a:t>
                      </a:r>
                    </a:p>
                  </a:txBody>
                  <a:tcPr anchor="ctr"/>
                </a:tc>
                <a:tc>
                  <a:txBody>
                    <a:bodyPr/>
                    <a:lstStyle/>
                    <a:p>
                      <a:pPr algn="ctr"/>
                      <a:r>
                        <a:rPr lang="en-IN"/>
                        <a:t>High</a:t>
                      </a:r>
                    </a:p>
                  </a:txBody>
                  <a:tcPr anchor="ctr"/>
                </a:tc>
                <a:tc>
                  <a:txBody>
                    <a:bodyPr/>
                    <a:lstStyle/>
                    <a:p>
                      <a:pPr algn="ctr"/>
                      <a:r>
                        <a:rPr lang="en-IN"/>
                        <a:t>Exponential</a:t>
                      </a:r>
                    </a:p>
                  </a:txBody>
                  <a:tcPr anchor="ctr"/>
                </a:tc>
                <a:tc>
                  <a:txBody>
                    <a:bodyPr/>
                    <a:lstStyle/>
                    <a:p>
                      <a:pPr algn="ctr"/>
                      <a:r>
                        <a:rPr lang="en-IN"/>
                        <a:t>High-dimensional data</a:t>
                      </a:r>
                    </a:p>
                  </a:txBody>
                  <a:tcPr anchor="ctr"/>
                </a:tc>
                <a:tc>
                  <a:txBody>
                    <a:bodyPr/>
                    <a:lstStyle/>
                    <a:p>
                      <a:pPr algn="ctr"/>
                      <a:r>
                        <a:rPr lang="en-IN" b="1" dirty="0"/>
                        <a:t>Quantum Principal Component Analysis (</a:t>
                      </a:r>
                      <a:r>
                        <a:rPr lang="en-IN" b="1" dirty="0" err="1"/>
                        <a:t>qPCA</a:t>
                      </a:r>
                      <a:r>
                        <a:rPr lang="en-IN" b="1" dirty="0"/>
                        <a:t>)</a:t>
                      </a:r>
                      <a:endParaRPr lang="en-IN" dirty="0"/>
                    </a:p>
                  </a:txBody>
                  <a:tcPr anchor="ctr"/>
                </a:tc>
                <a:extLst>
                  <a:ext uri="{0D108BD9-81ED-4DB2-BD59-A6C34878D82A}">
                    <a16:rowId xmlns:a16="http://schemas.microsoft.com/office/drawing/2014/main" val="3117517688"/>
                  </a:ext>
                </a:extLst>
              </a:tr>
              <a:tr h="370840">
                <a:tc>
                  <a:txBody>
                    <a:bodyPr/>
                    <a:lstStyle/>
                    <a:p>
                      <a:pPr algn="ctr"/>
                      <a:r>
                        <a:rPr lang="en-IN" b="1"/>
                        <a:t>Angle</a:t>
                      </a:r>
                      <a:endParaRPr lang="en-IN"/>
                    </a:p>
                  </a:txBody>
                  <a:tcPr anchor="ctr"/>
                </a:tc>
                <a:tc>
                  <a:txBody>
                    <a:bodyPr/>
                    <a:lstStyle/>
                    <a:p>
                      <a:pPr algn="ctr"/>
                      <a:r>
                        <a:rPr lang="en-IN"/>
                        <a:t>N</a:t>
                      </a:r>
                    </a:p>
                  </a:txBody>
                  <a:tcPr anchor="ctr"/>
                </a:tc>
                <a:tc>
                  <a:txBody>
                    <a:bodyPr/>
                    <a:lstStyle/>
                    <a:p>
                      <a:pPr algn="ctr"/>
                      <a:r>
                        <a:rPr lang="en-IN" dirty="0"/>
                        <a:t>Low</a:t>
                      </a:r>
                    </a:p>
                  </a:txBody>
                  <a:tcPr anchor="ctr"/>
                </a:tc>
                <a:tc>
                  <a:txBody>
                    <a:bodyPr/>
                    <a:lstStyle/>
                    <a:p>
                      <a:pPr algn="ctr"/>
                      <a:r>
                        <a:rPr lang="en-IN"/>
                        <a:t>None</a:t>
                      </a:r>
                    </a:p>
                  </a:txBody>
                  <a:tcPr anchor="ctr"/>
                </a:tc>
                <a:tc>
                  <a:txBody>
                    <a:bodyPr/>
                    <a:lstStyle/>
                    <a:p>
                      <a:pPr algn="ctr"/>
                      <a:r>
                        <a:rPr lang="en-IN"/>
                        <a:t>Small-scale feature sets</a:t>
                      </a:r>
                    </a:p>
                  </a:txBody>
                  <a:tcPr anchor="ctr"/>
                </a:tc>
                <a:tc>
                  <a:txBody>
                    <a:bodyPr/>
                    <a:lstStyle/>
                    <a:p>
                      <a:pPr algn="ctr"/>
                      <a:r>
                        <a:rPr lang="en-US" b="1" dirty="0"/>
                        <a:t>Variational Quantum Classifier (VQC)</a:t>
                      </a:r>
                      <a:endParaRPr lang="en-US" dirty="0"/>
                    </a:p>
                  </a:txBody>
                  <a:tcPr anchor="ctr"/>
                </a:tc>
                <a:extLst>
                  <a:ext uri="{0D108BD9-81ED-4DB2-BD59-A6C34878D82A}">
                    <a16:rowId xmlns:a16="http://schemas.microsoft.com/office/drawing/2014/main" val="1721556324"/>
                  </a:ext>
                </a:extLst>
              </a:tr>
              <a:tr h="370840">
                <a:tc>
                  <a:txBody>
                    <a:bodyPr/>
                    <a:lstStyle/>
                    <a:p>
                      <a:pPr algn="ctr"/>
                      <a:r>
                        <a:rPr lang="en-IN" b="1"/>
                        <a:t>Basis</a:t>
                      </a:r>
                      <a:endParaRPr lang="en-IN"/>
                    </a:p>
                  </a:txBody>
                  <a:tcPr anchor="ctr"/>
                </a:tc>
                <a:tc>
                  <a:txBody>
                    <a:bodyPr/>
                    <a:lstStyle/>
                    <a:p>
                      <a:pPr algn="ctr"/>
                      <a:r>
                        <a:rPr lang="en-IN"/>
                        <a:t>N</a:t>
                      </a:r>
                    </a:p>
                  </a:txBody>
                  <a:tcPr anchor="ctr"/>
                </a:tc>
                <a:tc>
                  <a:txBody>
                    <a:bodyPr/>
                    <a:lstStyle/>
                    <a:p>
                      <a:pPr algn="ctr"/>
                      <a:r>
                        <a:rPr lang="en-IN"/>
                        <a:t>Minimal</a:t>
                      </a:r>
                    </a:p>
                  </a:txBody>
                  <a:tcPr anchor="ctr"/>
                </a:tc>
                <a:tc>
                  <a:txBody>
                    <a:bodyPr/>
                    <a:lstStyle/>
                    <a:p>
                      <a:pPr algn="ctr"/>
                      <a:r>
                        <a:rPr lang="en-IN"/>
                        <a:t>None</a:t>
                      </a:r>
                    </a:p>
                  </a:txBody>
                  <a:tcPr anchor="ctr"/>
                </a:tc>
                <a:tc>
                  <a:txBody>
                    <a:bodyPr/>
                    <a:lstStyle/>
                    <a:p>
                      <a:pPr algn="ctr"/>
                      <a:r>
                        <a:rPr lang="en-IN"/>
                        <a:t>Binary data, prototyping</a:t>
                      </a:r>
                    </a:p>
                  </a:txBody>
                  <a:tcPr anchor="ctr"/>
                </a:tc>
                <a:tc>
                  <a:txBody>
                    <a:bodyPr/>
                    <a:lstStyle/>
                    <a:p>
                      <a:pPr algn="ctr"/>
                      <a:r>
                        <a:rPr lang="en-US" b="1" dirty="0"/>
                        <a:t>Grover’s Search</a:t>
                      </a:r>
                      <a:endParaRPr lang="en-US" dirty="0"/>
                    </a:p>
                  </a:txBody>
                  <a:tcPr anchor="ctr"/>
                </a:tc>
                <a:extLst>
                  <a:ext uri="{0D108BD9-81ED-4DB2-BD59-A6C34878D82A}">
                    <a16:rowId xmlns:a16="http://schemas.microsoft.com/office/drawing/2014/main" val="305149095"/>
                  </a:ext>
                </a:extLst>
              </a:tr>
            </a:tbl>
          </a:graphicData>
        </a:graphic>
      </p:graphicFrame>
      <p:sp>
        <p:nvSpPr>
          <p:cNvPr id="4" name="Slide Number Placeholder 3">
            <a:extLst>
              <a:ext uri="{FF2B5EF4-FFF2-40B4-BE49-F238E27FC236}">
                <a16:creationId xmlns:a16="http://schemas.microsoft.com/office/drawing/2014/main" id="{24D655F0-29BF-4255-854F-0D35DBA1AC6E}"/>
              </a:ext>
            </a:extLst>
          </p:cNvPr>
          <p:cNvSpPr>
            <a:spLocks noGrp="1"/>
          </p:cNvSpPr>
          <p:nvPr>
            <p:ph type="sldNum" sz="quarter" idx="12"/>
          </p:nvPr>
        </p:nvSpPr>
        <p:spPr/>
        <p:txBody>
          <a:bodyPr/>
          <a:lstStyle/>
          <a:p>
            <a:fld id="{F9AA3F58-F348-4ACC-AF27-6630C1E91C9F}" type="slidenum">
              <a:rPr lang="en-IN" smtClean="0"/>
              <a:pPr/>
              <a:t>19</a:t>
            </a:fld>
            <a:endParaRPr lang="en-IN" dirty="0"/>
          </a:p>
        </p:txBody>
      </p:sp>
    </p:spTree>
    <p:extLst>
      <p:ext uri="{BB962C8B-B14F-4D97-AF65-F5344CB8AC3E}">
        <p14:creationId xmlns:p14="http://schemas.microsoft.com/office/powerpoint/2010/main" val="356836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29B6A-35A9-4FDE-9420-71705D27630C}"/>
              </a:ext>
            </a:extLst>
          </p:cNvPr>
          <p:cNvSpPr>
            <a:spLocks noGrp="1"/>
          </p:cNvSpPr>
          <p:nvPr>
            <p:ph type="title"/>
          </p:nvPr>
        </p:nvSpPr>
        <p:spPr/>
        <p:txBody>
          <a:bodyPr/>
          <a:lstStyle/>
          <a:p>
            <a:pPr algn="ctr"/>
            <a:r>
              <a:rPr lang="en-IN" dirty="0"/>
              <a:t>How to Choose</a:t>
            </a:r>
          </a:p>
        </p:txBody>
      </p:sp>
      <p:sp>
        <p:nvSpPr>
          <p:cNvPr id="3" name="Content Placeholder 2">
            <a:extLst>
              <a:ext uri="{FF2B5EF4-FFF2-40B4-BE49-F238E27FC236}">
                <a16:creationId xmlns:a16="http://schemas.microsoft.com/office/drawing/2014/main" id="{3673FD71-2E1C-4788-9199-CCEF82D21E3F}"/>
              </a:ext>
            </a:extLst>
          </p:cNvPr>
          <p:cNvSpPr>
            <a:spLocks noGrp="1"/>
          </p:cNvSpPr>
          <p:nvPr>
            <p:ph idx="1"/>
          </p:nvPr>
        </p:nvSpPr>
        <p:spPr/>
        <p:txBody>
          <a:bodyPr/>
          <a:lstStyle/>
          <a:p>
            <a:pPr>
              <a:buFont typeface="+mj-lt"/>
              <a:buAutoNum type="arabicPeriod"/>
            </a:pPr>
            <a:r>
              <a:rPr lang="en-IN" b="1" dirty="0"/>
              <a:t>Data size &amp; dimensionality</a:t>
            </a:r>
            <a:endParaRPr lang="en-IN" dirty="0"/>
          </a:p>
          <a:p>
            <a:pPr marL="742950" lvl="1" indent="-285750">
              <a:buFont typeface="+mj-lt"/>
              <a:buAutoNum type="arabicPeriod"/>
            </a:pPr>
            <a:r>
              <a:rPr lang="en-IN" dirty="0"/>
              <a:t>If N ≫ qubit budget ⇒ consider amplitude encoding</a:t>
            </a:r>
          </a:p>
          <a:p>
            <a:pPr marL="742950" lvl="1" indent="-285750">
              <a:buFont typeface="+mj-lt"/>
              <a:buAutoNum type="arabicPeriod"/>
            </a:pPr>
            <a:r>
              <a:rPr lang="en-IN" dirty="0"/>
              <a:t>If N small and you value simplicity ⇒ angle or basis encoding</a:t>
            </a:r>
          </a:p>
          <a:p>
            <a:pPr>
              <a:buFont typeface="+mj-lt"/>
              <a:buAutoNum type="arabicPeriod"/>
            </a:pPr>
            <a:r>
              <a:rPr lang="en-IN" b="1" dirty="0"/>
              <a:t>Hardware constraints</a:t>
            </a:r>
            <a:endParaRPr lang="en-IN" dirty="0"/>
          </a:p>
          <a:p>
            <a:pPr marL="742950" lvl="1" indent="-285750">
              <a:buFont typeface="+mj-lt"/>
              <a:buAutoNum type="arabicPeriod"/>
            </a:pPr>
            <a:r>
              <a:rPr lang="en-IN" dirty="0"/>
              <a:t>Deep circuits (amplitude) ⇒ more error-prone on noisy devices</a:t>
            </a:r>
          </a:p>
          <a:p>
            <a:pPr marL="742950" lvl="1" indent="-285750">
              <a:buFont typeface="+mj-lt"/>
              <a:buAutoNum type="arabicPeriod"/>
            </a:pPr>
            <a:r>
              <a:rPr lang="en-IN" dirty="0"/>
              <a:t>Shallow circuits (angle/basis) ⇒ better for today’s machines</a:t>
            </a:r>
          </a:p>
          <a:p>
            <a:pPr>
              <a:buFont typeface="+mj-lt"/>
              <a:buAutoNum type="arabicPeriod"/>
            </a:pPr>
            <a:r>
              <a:rPr lang="en-IN" b="1" dirty="0"/>
              <a:t>Development effort</a:t>
            </a:r>
            <a:endParaRPr lang="en-IN" dirty="0"/>
          </a:p>
          <a:p>
            <a:pPr marL="742950" lvl="1" indent="-285750">
              <a:buFont typeface="+mj-lt"/>
              <a:buAutoNum type="arabicPeriod"/>
            </a:pPr>
            <a:r>
              <a:rPr lang="en-IN" dirty="0"/>
              <a:t>Amplitude encoding ⇒ more engineering time</a:t>
            </a:r>
          </a:p>
          <a:p>
            <a:pPr marL="742950" lvl="1" indent="-285750">
              <a:buFont typeface="+mj-lt"/>
              <a:buAutoNum type="arabicPeriod"/>
            </a:pPr>
            <a:r>
              <a:rPr lang="en-IN" dirty="0"/>
              <a:t>Angle/basis ⇒ quick to prototype</a:t>
            </a:r>
          </a:p>
          <a:p>
            <a:endParaRPr lang="en-IN" dirty="0"/>
          </a:p>
          <a:p>
            <a:endParaRPr lang="en-IN" dirty="0"/>
          </a:p>
        </p:txBody>
      </p:sp>
      <p:sp>
        <p:nvSpPr>
          <p:cNvPr id="4" name="Slide Number Placeholder 3">
            <a:extLst>
              <a:ext uri="{FF2B5EF4-FFF2-40B4-BE49-F238E27FC236}">
                <a16:creationId xmlns:a16="http://schemas.microsoft.com/office/drawing/2014/main" id="{1E83AC02-5737-4B8B-BB1B-EDDCD290A4C2}"/>
              </a:ext>
            </a:extLst>
          </p:cNvPr>
          <p:cNvSpPr>
            <a:spLocks noGrp="1"/>
          </p:cNvSpPr>
          <p:nvPr>
            <p:ph type="sldNum" sz="quarter" idx="12"/>
          </p:nvPr>
        </p:nvSpPr>
        <p:spPr/>
        <p:txBody>
          <a:bodyPr/>
          <a:lstStyle/>
          <a:p>
            <a:fld id="{F9AA3F58-F348-4ACC-AF27-6630C1E91C9F}" type="slidenum">
              <a:rPr lang="en-IN" smtClean="0"/>
              <a:pPr/>
              <a:t>20</a:t>
            </a:fld>
            <a:endParaRPr lang="en-IN" dirty="0"/>
          </a:p>
        </p:txBody>
      </p:sp>
    </p:spTree>
    <p:extLst>
      <p:ext uri="{BB962C8B-B14F-4D97-AF65-F5344CB8AC3E}">
        <p14:creationId xmlns:p14="http://schemas.microsoft.com/office/powerpoint/2010/main" val="3847657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29B6A-35A9-4FDE-9420-71705D27630C}"/>
              </a:ext>
            </a:extLst>
          </p:cNvPr>
          <p:cNvSpPr>
            <a:spLocks noGrp="1"/>
          </p:cNvSpPr>
          <p:nvPr>
            <p:ph type="title"/>
          </p:nvPr>
        </p:nvSpPr>
        <p:spPr/>
        <p:txBody>
          <a:bodyPr/>
          <a:lstStyle/>
          <a:p>
            <a:pPr algn="ctr"/>
            <a:r>
              <a:rPr lang="en-IN" dirty="0"/>
              <a:t>What Are Feature Maps?</a:t>
            </a:r>
          </a:p>
        </p:txBody>
      </p:sp>
      <p:sp>
        <p:nvSpPr>
          <p:cNvPr id="3" name="Content Placeholder 2">
            <a:extLst>
              <a:ext uri="{FF2B5EF4-FFF2-40B4-BE49-F238E27FC236}">
                <a16:creationId xmlns:a16="http://schemas.microsoft.com/office/drawing/2014/main" id="{3673FD71-2E1C-4788-9199-CCEF82D21E3F}"/>
              </a:ext>
            </a:extLst>
          </p:cNvPr>
          <p:cNvSpPr>
            <a:spLocks noGrp="1"/>
          </p:cNvSpPr>
          <p:nvPr>
            <p:ph idx="1"/>
          </p:nvPr>
        </p:nvSpPr>
        <p:spPr/>
        <p:txBody>
          <a:bodyPr/>
          <a:lstStyle/>
          <a:p>
            <a:pPr>
              <a:buFont typeface="Arial" panose="020B0604020202020204" pitchFamily="34" charset="0"/>
              <a:buChar char="•"/>
            </a:pPr>
            <a:r>
              <a:rPr lang="en-IN" b="1" dirty="0"/>
              <a:t>Camera-lens analogy:</a:t>
            </a:r>
            <a:r>
              <a:rPr lang="en-IN" dirty="0"/>
              <a:t> adjust focus to reveal hidden details</a:t>
            </a:r>
          </a:p>
          <a:p>
            <a:pPr>
              <a:buFont typeface="Arial" panose="020B0604020202020204" pitchFamily="34" charset="0"/>
              <a:buChar char="•"/>
            </a:pPr>
            <a:r>
              <a:rPr lang="en-IN" b="1" dirty="0"/>
              <a:t>Formal definition:</a:t>
            </a:r>
            <a:r>
              <a:rPr lang="en-IN" dirty="0"/>
              <a:t> a parameterized quantum circuit that embeds classical data into a quantum state</a:t>
            </a:r>
          </a:p>
          <a:p>
            <a:pPr>
              <a:buFont typeface="Arial" panose="020B0604020202020204" pitchFamily="34" charset="0"/>
              <a:buChar char="•"/>
            </a:pPr>
            <a:r>
              <a:rPr lang="en-IN" b="1" dirty="0"/>
              <a:t>Key purposes:</a:t>
            </a:r>
            <a:endParaRPr lang="en-IN" dirty="0"/>
          </a:p>
          <a:p>
            <a:pPr marL="742950" lvl="1" indent="-285750">
              <a:buFont typeface="Arial" panose="020B0604020202020204" pitchFamily="34" charset="0"/>
              <a:buChar char="•"/>
            </a:pPr>
            <a:r>
              <a:rPr lang="en-IN" dirty="0"/>
              <a:t>Project data into high-dimensional quantum space</a:t>
            </a:r>
          </a:p>
          <a:p>
            <a:pPr marL="742950" lvl="1" indent="-285750">
              <a:buFont typeface="Arial" panose="020B0604020202020204" pitchFamily="34" charset="0"/>
              <a:buChar char="•"/>
            </a:pPr>
            <a:r>
              <a:rPr lang="en-IN" dirty="0"/>
              <a:t>Amplify subtle, non-linear patterns</a:t>
            </a:r>
          </a:p>
          <a:p>
            <a:pPr marL="742950" lvl="1" indent="-285750">
              <a:buFont typeface="Arial" panose="020B0604020202020204" pitchFamily="34" charset="0"/>
              <a:buChar char="•"/>
            </a:pPr>
            <a:r>
              <a:rPr lang="en-IN" dirty="0"/>
              <a:t>Serve as the “kernel” for quantum algorithms (e.g. QSVM, QNN)</a:t>
            </a:r>
          </a:p>
          <a:p>
            <a:endParaRPr lang="en-IN" dirty="0"/>
          </a:p>
        </p:txBody>
      </p:sp>
      <p:sp>
        <p:nvSpPr>
          <p:cNvPr id="4" name="Slide Number Placeholder 3">
            <a:extLst>
              <a:ext uri="{FF2B5EF4-FFF2-40B4-BE49-F238E27FC236}">
                <a16:creationId xmlns:a16="http://schemas.microsoft.com/office/drawing/2014/main" id="{1E83AC02-5737-4B8B-BB1B-EDDCD290A4C2}"/>
              </a:ext>
            </a:extLst>
          </p:cNvPr>
          <p:cNvSpPr>
            <a:spLocks noGrp="1"/>
          </p:cNvSpPr>
          <p:nvPr>
            <p:ph type="sldNum" sz="quarter" idx="12"/>
          </p:nvPr>
        </p:nvSpPr>
        <p:spPr/>
        <p:txBody>
          <a:bodyPr/>
          <a:lstStyle/>
          <a:p>
            <a:fld id="{F9AA3F58-F348-4ACC-AF27-6630C1E91C9F}" type="slidenum">
              <a:rPr lang="en-IN" smtClean="0"/>
              <a:pPr/>
              <a:t>21</a:t>
            </a:fld>
            <a:endParaRPr lang="en-IN" dirty="0"/>
          </a:p>
        </p:txBody>
      </p:sp>
    </p:spTree>
    <p:extLst>
      <p:ext uri="{BB962C8B-B14F-4D97-AF65-F5344CB8AC3E}">
        <p14:creationId xmlns:p14="http://schemas.microsoft.com/office/powerpoint/2010/main" val="42129989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0B7B1-F508-4734-A0EE-159F65C8A98C}"/>
              </a:ext>
            </a:extLst>
          </p:cNvPr>
          <p:cNvSpPr>
            <a:spLocks noGrp="1"/>
          </p:cNvSpPr>
          <p:nvPr>
            <p:ph type="title"/>
          </p:nvPr>
        </p:nvSpPr>
        <p:spPr/>
        <p:txBody>
          <a:bodyPr/>
          <a:lstStyle/>
          <a:p>
            <a:pPr algn="ctr"/>
            <a:r>
              <a:rPr lang="en-US" dirty="0"/>
              <a:t>Circuit Mechanics of Feature Maps</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EE4B63-48EE-4221-B48C-770ECF668435}"/>
                  </a:ext>
                </a:extLst>
              </p:cNvPr>
              <p:cNvSpPr>
                <a:spLocks noGrp="1"/>
              </p:cNvSpPr>
              <p:nvPr>
                <p:ph idx="1"/>
              </p:nvPr>
            </p:nvSpPr>
            <p:spPr/>
            <p:txBody>
              <a:bodyPr/>
              <a:lstStyle/>
              <a:p>
                <a:pPr>
                  <a:buFont typeface="+mj-lt"/>
                  <a:buAutoNum type="arabicPeriod"/>
                </a:pPr>
                <a:r>
                  <a:rPr lang="en-IN" b="1" dirty="0"/>
                  <a:t>Parameter assignment:</a:t>
                </a:r>
                <a:r>
                  <a:rPr lang="en-IN"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oMath>
                </a14:m>
                <a:r>
                  <a:rPr lang="en-IN" dirty="0"/>
                  <a:t>​ for gate angles or phases</a:t>
                </a:r>
              </a:p>
              <a:p>
                <a:pPr>
                  <a:buFont typeface="+mj-lt"/>
                  <a:buAutoNum type="arabicPeriod"/>
                </a:pPr>
                <a:r>
                  <a:rPr lang="en-IN" b="1" dirty="0"/>
                  <a:t>Single-qubit layers:</a:t>
                </a:r>
                <a:r>
                  <a:rPr lang="en-IN" dirty="0"/>
                  <a:t> e.g.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𝑦</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𝑧</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a14:m>
                <a:r>
                  <a:rPr lang="en-IN" dirty="0"/>
                  <a:t> on each qubit</a:t>
                </a:r>
              </a:p>
              <a:p>
                <a:pPr>
                  <a:buFont typeface="+mj-lt"/>
                  <a:buAutoNum type="arabicPeriod"/>
                </a:pPr>
                <a:r>
                  <a:rPr lang="en-IN" b="1" dirty="0"/>
                  <a:t>Entangling layers:</a:t>
                </a:r>
                <a:r>
                  <a:rPr lang="en-IN" dirty="0"/>
                  <a:t> Controlled Not (CNOT) , CZ gates between qubits</a:t>
                </a:r>
              </a:p>
              <a:p>
                <a:pPr>
                  <a:buFont typeface="+mj-lt"/>
                  <a:buAutoNum type="arabicPeriod"/>
                </a:pPr>
                <a:r>
                  <a:rPr lang="en-IN" b="1" dirty="0"/>
                  <a:t>Repeat:</a:t>
                </a:r>
                <a:r>
                  <a:rPr lang="en-IN" dirty="0"/>
                  <a:t> depth </a:t>
                </a:r>
                <a14:m>
                  <m:oMath xmlns:m="http://schemas.openxmlformats.org/officeDocument/2006/math">
                    <m:r>
                      <a:rPr lang="en-IN" i="1" dirty="0" smtClean="0">
                        <a:latin typeface="Cambria Math" panose="02040503050406030204" pitchFamily="18" charset="0"/>
                      </a:rPr>
                      <m:t>𝑑</m:t>
                    </m:r>
                  </m:oMath>
                </a14:m>
                <a:r>
                  <a:rPr lang="en-IN" dirty="0"/>
                  <a:t> layers to enrich the embedding</a:t>
                </a:r>
              </a:p>
              <a:p>
                <a:pPr>
                  <a:buFont typeface="+mj-lt"/>
                  <a:buAutoNum type="arabicPeriod"/>
                </a:pPr>
                <a:r>
                  <a:rPr lang="en-IN" b="1" dirty="0"/>
                  <a:t>Measurement:</a:t>
                </a:r>
                <a:r>
                  <a:rPr lang="en-IN" dirty="0"/>
                  <a:t> sample in computational basis to obtain feature vector</a:t>
                </a:r>
              </a:p>
              <a:p>
                <a:endParaRPr lang="en-IN" dirty="0"/>
              </a:p>
              <a:p>
                <a:endParaRPr lang="en-IN" dirty="0"/>
              </a:p>
            </p:txBody>
          </p:sp>
        </mc:Choice>
        <mc:Fallback xmlns="">
          <p:sp>
            <p:nvSpPr>
              <p:cNvPr id="3" name="Content Placeholder 2">
                <a:extLst>
                  <a:ext uri="{FF2B5EF4-FFF2-40B4-BE49-F238E27FC236}">
                    <a16:creationId xmlns:a16="http://schemas.microsoft.com/office/drawing/2014/main" id="{23EE4B63-48EE-4221-B48C-770ECF668435}"/>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37191FCC-9EB1-4D08-8868-A7EEE0A713AA}"/>
              </a:ext>
            </a:extLst>
          </p:cNvPr>
          <p:cNvSpPr>
            <a:spLocks noGrp="1"/>
          </p:cNvSpPr>
          <p:nvPr>
            <p:ph type="sldNum" sz="quarter" idx="12"/>
          </p:nvPr>
        </p:nvSpPr>
        <p:spPr/>
        <p:txBody>
          <a:bodyPr/>
          <a:lstStyle/>
          <a:p>
            <a:fld id="{F9AA3F58-F348-4ACC-AF27-6630C1E91C9F}" type="slidenum">
              <a:rPr lang="en-IN" smtClean="0"/>
              <a:pPr/>
              <a:t>22</a:t>
            </a:fld>
            <a:endParaRPr lang="en-IN" dirty="0"/>
          </a:p>
        </p:txBody>
      </p:sp>
    </p:spTree>
    <p:extLst>
      <p:ext uri="{BB962C8B-B14F-4D97-AF65-F5344CB8AC3E}">
        <p14:creationId xmlns:p14="http://schemas.microsoft.com/office/powerpoint/2010/main" val="24746842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0B7B1-F508-4734-A0EE-159F65C8A98C}"/>
              </a:ext>
            </a:extLst>
          </p:cNvPr>
          <p:cNvSpPr>
            <a:spLocks noGrp="1"/>
          </p:cNvSpPr>
          <p:nvPr>
            <p:ph type="title"/>
          </p:nvPr>
        </p:nvSpPr>
        <p:spPr/>
        <p:txBody>
          <a:bodyPr/>
          <a:lstStyle/>
          <a:p>
            <a:pPr algn="ctr"/>
            <a:r>
              <a:rPr lang="en-US" dirty="0"/>
              <a:t>Pauli Feature Maps</a:t>
            </a:r>
            <a:endParaRPr lang="en-IN" dirty="0"/>
          </a:p>
        </p:txBody>
      </p:sp>
      <p:sp>
        <p:nvSpPr>
          <p:cNvPr id="3" name="Content Placeholder 2">
            <a:extLst>
              <a:ext uri="{FF2B5EF4-FFF2-40B4-BE49-F238E27FC236}">
                <a16:creationId xmlns:a16="http://schemas.microsoft.com/office/drawing/2014/main" id="{23EE4B63-48EE-4221-B48C-770ECF668435}"/>
              </a:ext>
            </a:extLst>
          </p:cNvPr>
          <p:cNvSpPr>
            <a:spLocks noGrp="1"/>
          </p:cNvSpPr>
          <p:nvPr>
            <p:ph idx="1"/>
          </p:nvPr>
        </p:nvSpPr>
        <p:spPr/>
        <p:txBody>
          <a:bodyPr/>
          <a:lstStyle/>
          <a:p>
            <a:r>
              <a:rPr lang="en-US" b="1" dirty="0"/>
              <a:t>What it does:</a:t>
            </a:r>
            <a:endParaRPr lang="en-US" dirty="0"/>
          </a:p>
          <a:p>
            <a:pPr marL="742950" lvl="1" indent="-285750"/>
            <a:r>
              <a:rPr lang="en-US" dirty="0"/>
              <a:t>Applies simple rotations around X, Y, Z direction on each qubit using the data</a:t>
            </a:r>
          </a:p>
          <a:p>
            <a:r>
              <a:rPr lang="en-US" b="1" dirty="0"/>
              <a:t>Circuit look-and-feel:</a:t>
            </a:r>
            <a:endParaRPr lang="en-US" dirty="0"/>
          </a:p>
          <a:p>
            <a:pPr marL="742950" lvl="1" indent="-285750"/>
            <a:r>
              <a:rPr lang="en-US" dirty="0"/>
              <a:t>Rotate qubit by data-driven angle about X</a:t>
            </a:r>
          </a:p>
          <a:p>
            <a:pPr marL="742950" lvl="1" indent="-285750"/>
            <a:r>
              <a:rPr lang="en-US" dirty="0"/>
              <a:t>Rotate same qubit about Y, then Z</a:t>
            </a:r>
          </a:p>
          <a:p>
            <a:pPr marL="742950" lvl="1" indent="-285750"/>
            <a:r>
              <a:rPr lang="en-US" dirty="0"/>
              <a:t>(Optional) Entangle qubits with CZ gates</a:t>
            </a:r>
          </a:p>
          <a:p>
            <a:r>
              <a:rPr lang="en-US" b="1" dirty="0"/>
              <a:t>Why it helps:</a:t>
            </a:r>
            <a:endParaRPr lang="en-US" dirty="0"/>
          </a:p>
          <a:p>
            <a:pPr marL="742950" lvl="1" indent="-285750"/>
            <a:r>
              <a:rPr lang="en-US" dirty="0"/>
              <a:t>“3D sculpting” of data, captures each feature from three directions</a:t>
            </a:r>
          </a:p>
          <a:p>
            <a:pPr marL="742950" lvl="1" indent="-285750"/>
            <a:r>
              <a:rPr lang="en-US" dirty="0"/>
              <a:t>Reveals patterns hidden along any axis</a:t>
            </a:r>
          </a:p>
          <a:p>
            <a:endParaRPr lang="en-IN" dirty="0"/>
          </a:p>
        </p:txBody>
      </p:sp>
      <p:sp>
        <p:nvSpPr>
          <p:cNvPr id="4" name="Slide Number Placeholder 3">
            <a:extLst>
              <a:ext uri="{FF2B5EF4-FFF2-40B4-BE49-F238E27FC236}">
                <a16:creationId xmlns:a16="http://schemas.microsoft.com/office/drawing/2014/main" id="{37191FCC-9EB1-4D08-8868-A7EEE0A713AA}"/>
              </a:ext>
            </a:extLst>
          </p:cNvPr>
          <p:cNvSpPr>
            <a:spLocks noGrp="1"/>
          </p:cNvSpPr>
          <p:nvPr>
            <p:ph type="sldNum" sz="quarter" idx="12"/>
          </p:nvPr>
        </p:nvSpPr>
        <p:spPr/>
        <p:txBody>
          <a:bodyPr/>
          <a:lstStyle/>
          <a:p>
            <a:fld id="{F9AA3F58-F348-4ACC-AF27-6630C1E91C9F}" type="slidenum">
              <a:rPr lang="en-IN" smtClean="0"/>
              <a:pPr/>
              <a:t>23</a:t>
            </a:fld>
            <a:endParaRPr lang="en-IN" dirty="0"/>
          </a:p>
        </p:txBody>
      </p:sp>
    </p:spTree>
    <p:extLst>
      <p:ext uri="{BB962C8B-B14F-4D97-AF65-F5344CB8AC3E}">
        <p14:creationId xmlns:p14="http://schemas.microsoft.com/office/powerpoint/2010/main" val="13286312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0B7B1-F508-4734-A0EE-159F65C8A98C}"/>
              </a:ext>
            </a:extLst>
          </p:cNvPr>
          <p:cNvSpPr>
            <a:spLocks noGrp="1"/>
          </p:cNvSpPr>
          <p:nvPr>
            <p:ph type="title"/>
          </p:nvPr>
        </p:nvSpPr>
        <p:spPr/>
        <p:txBody>
          <a:bodyPr/>
          <a:lstStyle/>
          <a:p>
            <a:pPr algn="ctr"/>
            <a:r>
              <a:rPr lang="en-US" dirty="0"/>
              <a:t>Pauli Feature Maps</a:t>
            </a:r>
            <a:endParaRPr lang="en-IN" dirty="0"/>
          </a:p>
        </p:txBody>
      </p:sp>
      <p:pic>
        <p:nvPicPr>
          <p:cNvPr id="6" name="Content Placeholder 5">
            <a:extLst>
              <a:ext uri="{FF2B5EF4-FFF2-40B4-BE49-F238E27FC236}">
                <a16:creationId xmlns:a16="http://schemas.microsoft.com/office/drawing/2014/main" id="{495FAD61-09B3-40FB-B0CE-CD2737F0F3B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38200" y="2485834"/>
            <a:ext cx="10515600" cy="3030919"/>
          </a:xfrm>
        </p:spPr>
      </p:pic>
      <p:sp>
        <p:nvSpPr>
          <p:cNvPr id="4" name="Slide Number Placeholder 3">
            <a:extLst>
              <a:ext uri="{FF2B5EF4-FFF2-40B4-BE49-F238E27FC236}">
                <a16:creationId xmlns:a16="http://schemas.microsoft.com/office/drawing/2014/main" id="{37191FCC-9EB1-4D08-8868-A7EEE0A713AA}"/>
              </a:ext>
            </a:extLst>
          </p:cNvPr>
          <p:cNvSpPr>
            <a:spLocks noGrp="1"/>
          </p:cNvSpPr>
          <p:nvPr>
            <p:ph type="sldNum" sz="quarter" idx="12"/>
          </p:nvPr>
        </p:nvSpPr>
        <p:spPr/>
        <p:txBody>
          <a:bodyPr/>
          <a:lstStyle/>
          <a:p>
            <a:fld id="{F9AA3F58-F348-4ACC-AF27-6630C1E91C9F}" type="slidenum">
              <a:rPr lang="en-IN" smtClean="0"/>
              <a:pPr/>
              <a:t>24</a:t>
            </a:fld>
            <a:endParaRPr lang="en-IN" dirty="0"/>
          </a:p>
        </p:txBody>
      </p:sp>
    </p:spTree>
    <p:extLst>
      <p:ext uri="{BB962C8B-B14F-4D97-AF65-F5344CB8AC3E}">
        <p14:creationId xmlns:p14="http://schemas.microsoft.com/office/powerpoint/2010/main" val="35836692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0B7B1-F508-4734-A0EE-159F65C8A98C}"/>
              </a:ext>
            </a:extLst>
          </p:cNvPr>
          <p:cNvSpPr>
            <a:spLocks noGrp="1"/>
          </p:cNvSpPr>
          <p:nvPr>
            <p:ph type="title"/>
          </p:nvPr>
        </p:nvSpPr>
        <p:spPr/>
        <p:txBody>
          <a:bodyPr/>
          <a:lstStyle/>
          <a:p>
            <a:pPr algn="ctr"/>
            <a:r>
              <a:rPr lang="en-US" dirty="0"/>
              <a:t>ZZ Feature Maps</a:t>
            </a:r>
            <a:endParaRPr lang="en-IN" dirty="0"/>
          </a:p>
        </p:txBody>
      </p:sp>
      <p:sp>
        <p:nvSpPr>
          <p:cNvPr id="3" name="Content Placeholder 2">
            <a:extLst>
              <a:ext uri="{FF2B5EF4-FFF2-40B4-BE49-F238E27FC236}">
                <a16:creationId xmlns:a16="http://schemas.microsoft.com/office/drawing/2014/main" id="{23EE4B63-48EE-4221-B48C-770ECF668435}"/>
              </a:ext>
            </a:extLst>
          </p:cNvPr>
          <p:cNvSpPr>
            <a:spLocks noGrp="1"/>
          </p:cNvSpPr>
          <p:nvPr>
            <p:ph idx="1"/>
          </p:nvPr>
        </p:nvSpPr>
        <p:spPr/>
        <p:txBody>
          <a:bodyPr/>
          <a:lstStyle/>
          <a:p>
            <a:pPr>
              <a:buFont typeface="Arial" panose="020B0604020202020204" pitchFamily="34" charset="0"/>
              <a:buChar char="•"/>
            </a:pPr>
            <a:r>
              <a:rPr lang="en-US" b="1" dirty="0"/>
              <a:t>What it does:</a:t>
            </a:r>
            <a:endParaRPr lang="en-US" dirty="0"/>
          </a:p>
          <a:p>
            <a:pPr marL="742950" lvl="1" indent="-285750">
              <a:buFont typeface="Arial" panose="020B0604020202020204" pitchFamily="34" charset="0"/>
              <a:buChar char="•"/>
            </a:pPr>
            <a:r>
              <a:rPr lang="en-US" dirty="0"/>
              <a:t>Links pairs of qubits so their states shift together based on data</a:t>
            </a:r>
          </a:p>
          <a:p>
            <a:pPr>
              <a:buFont typeface="Arial" panose="020B0604020202020204" pitchFamily="34" charset="0"/>
              <a:buChar char="•"/>
            </a:pPr>
            <a:r>
              <a:rPr lang="en-US" b="1" dirty="0"/>
              <a:t>Circuit look-and-feel:</a:t>
            </a:r>
            <a:endParaRPr lang="en-US" dirty="0"/>
          </a:p>
          <a:p>
            <a:pPr marL="742950" lvl="1" indent="-285750">
              <a:buFont typeface="Arial" panose="020B0604020202020204" pitchFamily="34" charset="0"/>
              <a:buChar char="•"/>
            </a:pPr>
            <a:r>
              <a:rPr lang="en-US" dirty="0"/>
              <a:t>Rotate each qubit by its data-driven angle about Z</a:t>
            </a:r>
          </a:p>
          <a:p>
            <a:pPr marL="742950" lvl="1" indent="-285750">
              <a:buFont typeface="Arial" panose="020B0604020202020204" pitchFamily="34" charset="0"/>
              <a:buChar char="•"/>
            </a:pPr>
            <a:r>
              <a:rPr lang="en-US" dirty="0"/>
              <a:t>Apply a controlled-phase gate between qubit pairs</a:t>
            </a:r>
          </a:p>
          <a:p>
            <a:pPr marL="742950" lvl="1" indent="-285750">
              <a:buFont typeface="Arial" panose="020B0604020202020204" pitchFamily="34" charset="0"/>
              <a:buChar char="•"/>
            </a:pPr>
            <a:r>
              <a:rPr lang="en-US" dirty="0"/>
              <a:t>Repeat if needed for more links</a:t>
            </a:r>
          </a:p>
          <a:p>
            <a:pPr>
              <a:buFont typeface="Arial" panose="020B0604020202020204" pitchFamily="34" charset="0"/>
              <a:buChar char="•"/>
            </a:pPr>
            <a:r>
              <a:rPr lang="en-US" b="1" dirty="0"/>
              <a:t>Why it helps:</a:t>
            </a:r>
            <a:endParaRPr lang="en-US" dirty="0"/>
          </a:p>
          <a:p>
            <a:pPr marL="742950" lvl="1" indent="-285750">
              <a:buFont typeface="Arial" panose="020B0604020202020204" pitchFamily="34" charset="0"/>
              <a:buChar char="•"/>
            </a:pPr>
            <a:r>
              <a:rPr lang="en-US" dirty="0"/>
              <a:t>“Social network” of features, changing one feature ripples to its neighbor</a:t>
            </a:r>
          </a:p>
          <a:p>
            <a:pPr marL="742950" lvl="1" indent="-285750">
              <a:buFont typeface="Arial" panose="020B0604020202020204" pitchFamily="34" charset="0"/>
              <a:buChar char="•"/>
            </a:pPr>
            <a:r>
              <a:rPr lang="en-US" dirty="0"/>
              <a:t>Directly encodes relationships (A↔B) in your data</a:t>
            </a:r>
          </a:p>
          <a:p>
            <a:endParaRPr lang="en-IN" dirty="0"/>
          </a:p>
        </p:txBody>
      </p:sp>
      <p:sp>
        <p:nvSpPr>
          <p:cNvPr id="4" name="Slide Number Placeholder 3">
            <a:extLst>
              <a:ext uri="{FF2B5EF4-FFF2-40B4-BE49-F238E27FC236}">
                <a16:creationId xmlns:a16="http://schemas.microsoft.com/office/drawing/2014/main" id="{37191FCC-9EB1-4D08-8868-A7EEE0A713AA}"/>
              </a:ext>
            </a:extLst>
          </p:cNvPr>
          <p:cNvSpPr>
            <a:spLocks noGrp="1"/>
          </p:cNvSpPr>
          <p:nvPr>
            <p:ph type="sldNum" sz="quarter" idx="12"/>
          </p:nvPr>
        </p:nvSpPr>
        <p:spPr/>
        <p:txBody>
          <a:bodyPr/>
          <a:lstStyle/>
          <a:p>
            <a:fld id="{F9AA3F58-F348-4ACC-AF27-6630C1E91C9F}" type="slidenum">
              <a:rPr lang="en-IN" smtClean="0"/>
              <a:pPr/>
              <a:t>25</a:t>
            </a:fld>
            <a:endParaRPr lang="en-IN" dirty="0"/>
          </a:p>
        </p:txBody>
      </p:sp>
    </p:spTree>
    <p:extLst>
      <p:ext uri="{BB962C8B-B14F-4D97-AF65-F5344CB8AC3E}">
        <p14:creationId xmlns:p14="http://schemas.microsoft.com/office/powerpoint/2010/main" val="960671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0B7B1-F508-4734-A0EE-159F65C8A98C}"/>
              </a:ext>
            </a:extLst>
          </p:cNvPr>
          <p:cNvSpPr>
            <a:spLocks noGrp="1"/>
          </p:cNvSpPr>
          <p:nvPr>
            <p:ph type="title"/>
          </p:nvPr>
        </p:nvSpPr>
        <p:spPr/>
        <p:txBody>
          <a:bodyPr/>
          <a:lstStyle/>
          <a:p>
            <a:pPr algn="ctr"/>
            <a:r>
              <a:rPr lang="en-US" dirty="0"/>
              <a:t>ZZ Feature Maps</a:t>
            </a:r>
            <a:endParaRPr lang="en-IN" dirty="0"/>
          </a:p>
        </p:txBody>
      </p:sp>
      <p:pic>
        <p:nvPicPr>
          <p:cNvPr id="6" name="Content Placeholder 5">
            <a:extLst>
              <a:ext uri="{FF2B5EF4-FFF2-40B4-BE49-F238E27FC236}">
                <a16:creationId xmlns:a16="http://schemas.microsoft.com/office/drawing/2014/main" id="{DF0248B5-F09D-4A18-AE1A-1438B797AA3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38200" y="2485834"/>
            <a:ext cx="10515600" cy="3030919"/>
          </a:xfrm>
        </p:spPr>
      </p:pic>
      <p:sp>
        <p:nvSpPr>
          <p:cNvPr id="4" name="Slide Number Placeholder 3">
            <a:extLst>
              <a:ext uri="{FF2B5EF4-FFF2-40B4-BE49-F238E27FC236}">
                <a16:creationId xmlns:a16="http://schemas.microsoft.com/office/drawing/2014/main" id="{37191FCC-9EB1-4D08-8868-A7EEE0A713AA}"/>
              </a:ext>
            </a:extLst>
          </p:cNvPr>
          <p:cNvSpPr>
            <a:spLocks noGrp="1"/>
          </p:cNvSpPr>
          <p:nvPr>
            <p:ph type="sldNum" sz="quarter" idx="12"/>
          </p:nvPr>
        </p:nvSpPr>
        <p:spPr/>
        <p:txBody>
          <a:bodyPr/>
          <a:lstStyle/>
          <a:p>
            <a:fld id="{F9AA3F58-F348-4ACC-AF27-6630C1E91C9F}" type="slidenum">
              <a:rPr lang="en-IN" smtClean="0"/>
              <a:pPr/>
              <a:t>26</a:t>
            </a:fld>
            <a:endParaRPr lang="en-IN" dirty="0"/>
          </a:p>
        </p:txBody>
      </p:sp>
    </p:spTree>
    <p:extLst>
      <p:ext uri="{BB962C8B-B14F-4D97-AF65-F5344CB8AC3E}">
        <p14:creationId xmlns:p14="http://schemas.microsoft.com/office/powerpoint/2010/main" val="2270669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049D9-B69C-4F58-8506-41183A1CAA72}"/>
              </a:ext>
            </a:extLst>
          </p:cNvPr>
          <p:cNvSpPr>
            <a:spLocks noGrp="1"/>
          </p:cNvSpPr>
          <p:nvPr>
            <p:ph type="title"/>
          </p:nvPr>
        </p:nvSpPr>
        <p:spPr/>
        <p:txBody>
          <a:bodyPr/>
          <a:lstStyle/>
          <a:p>
            <a:pPr algn="ctr"/>
            <a:r>
              <a:rPr lang="en-US" dirty="0"/>
              <a:t>Basic Encoding vs. Feature Maps</a:t>
            </a:r>
            <a:endParaRPr lang="en-IN" dirty="0"/>
          </a:p>
        </p:txBody>
      </p:sp>
      <p:graphicFrame>
        <p:nvGraphicFramePr>
          <p:cNvPr id="5" name="Table 5">
            <a:extLst>
              <a:ext uri="{FF2B5EF4-FFF2-40B4-BE49-F238E27FC236}">
                <a16:creationId xmlns:a16="http://schemas.microsoft.com/office/drawing/2014/main" id="{DE1D0342-8456-441D-8544-5F0AE18124FB}"/>
              </a:ext>
            </a:extLst>
          </p:cNvPr>
          <p:cNvGraphicFramePr>
            <a:graphicFrameLocks noGrp="1"/>
          </p:cNvGraphicFramePr>
          <p:nvPr>
            <p:ph idx="1"/>
            <p:extLst>
              <p:ext uri="{D42A27DB-BD31-4B8C-83A1-F6EECF244321}">
                <p14:modId xmlns:p14="http://schemas.microsoft.com/office/powerpoint/2010/main" val="1835110946"/>
              </p:ext>
            </p:extLst>
          </p:nvPr>
        </p:nvGraphicFramePr>
        <p:xfrm>
          <a:off x="838200" y="1825625"/>
          <a:ext cx="10515597" cy="357124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1275961297"/>
                    </a:ext>
                  </a:extLst>
                </a:gridCol>
                <a:gridCol w="3505199">
                  <a:extLst>
                    <a:ext uri="{9D8B030D-6E8A-4147-A177-3AD203B41FA5}">
                      <a16:colId xmlns:a16="http://schemas.microsoft.com/office/drawing/2014/main" val="571636121"/>
                    </a:ext>
                  </a:extLst>
                </a:gridCol>
                <a:gridCol w="3505199">
                  <a:extLst>
                    <a:ext uri="{9D8B030D-6E8A-4147-A177-3AD203B41FA5}">
                      <a16:colId xmlns:a16="http://schemas.microsoft.com/office/drawing/2014/main" val="204098654"/>
                    </a:ext>
                  </a:extLst>
                </a:gridCol>
              </a:tblGrid>
              <a:tr h="370840">
                <a:tc>
                  <a:txBody>
                    <a:bodyPr/>
                    <a:lstStyle/>
                    <a:p>
                      <a:pPr algn="l"/>
                      <a:r>
                        <a:rPr lang="en-IN" dirty="0"/>
                        <a:t>Aspect</a:t>
                      </a:r>
                    </a:p>
                  </a:txBody>
                  <a:tcPr anchor="ctr"/>
                </a:tc>
                <a:tc>
                  <a:txBody>
                    <a:bodyPr/>
                    <a:lstStyle/>
                    <a:p>
                      <a:pPr algn="l"/>
                      <a:r>
                        <a:rPr lang="en-IN"/>
                        <a:t>Basic Encoding</a:t>
                      </a:r>
                    </a:p>
                  </a:txBody>
                  <a:tcPr anchor="ctr"/>
                </a:tc>
                <a:tc>
                  <a:txBody>
                    <a:bodyPr/>
                    <a:lstStyle/>
                    <a:p>
                      <a:pPr algn="l"/>
                      <a:r>
                        <a:rPr lang="en-IN"/>
                        <a:t>Quantum Feature Map</a:t>
                      </a:r>
                    </a:p>
                  </a:txBody>
                  <a:tcPr anchor="ctr"/>
                </a:tc>
                <a:extLst>
                  <a:ext uri="{0D108BD9-81ED-4DB2-BD59-A6C34878D82A}">
                    <a16:rowId xmlns:a16="http://schemas.microsoft.com/office/drawing/2014/main" val="1005293810"/>
                  </a:ext>
                </a:extLst>
              </a:tr>
              <a:tr h="370840">
                <a:tc>
                  <a:txBody>
                    <a:bodyPr/>
                    <a:lstStyle/>
                    <a:p>
                      <a:pPr algn="l"/>
                      <a:r>
                        <a:rPr lang="en-IN" b="1" dirty="0"/>
                        <a:t>Purpose</a:t>
                      </a:r>
                      <a:endParaRPr lang="en-IN" dirty="0"/>
                    </a:p>
                  </a:txBody>
                  <a:tcPr anchor="ctr"/>
                </a:tc>
                <a:tc>
                  <a:txBody>
                    <a:bodyPr/>
                    <a:lstStyle/>
                    <a:p>
                      <a:pPr algn="l"/>
                      <a:r>
                        <a:rPr lang="en-US"/>
                        <a:t>Load your data directly onto qubits</a:t>
                      </a:r>
                    </a:p>
                  </a:txBody>
                  <a:tcPr anchor="ctr"/>
                </a:tc>
                <a:tc>
                  <a:txBody>
                    <a:bodyPr/>
                    <a:lstStyle/>
                    <a:p>
                      <a:pPr algn="l"/>
                      <a:r>
                        <a:rPr lang="en-US"/>
                        <a:t>Transform and enrich data so hidden patterns become clear</a:t>
                      </a:r>
                    </a:p>
                  </a:txBody>
                  <a:tcPr anchor="ctr"/>
                </a:tc>
                <a:extLst>
                  <a:ext uri="{0D108BD9-81ED-4DB2-BD59-A6C34878D82A}">
                    <a16:rowId xmlns:a16="http://schemas.microsoft.com/office/drawing/2014/main" val="461002204"/>
                  </a:ext>
                </a:extLst>
              </a:tr>
              <a:tr h="370840">
                <a:tc>
                  <a:txBody>
                    <a:bodyPr/>
                    <a:lstStyle/>
                    <a:p>
                      <a:pPr algn="l"/>
                      <a:r>
                        <a:rPr lang="en-IN" b="1"/>
                        <a:t>Circuit</a:t>
                      </a:r>
                      <a:endParaRPr lang="en-IN"/>
                    </a:p>
                  </a:txBody>
                  <a:tcPr anchor="ctr"/>
                </a:tc>
                <a:tc>
                  <a:txBody>
                    <a:bodyPr/>
                    <a:lstStyle/>
                    <a:p>
                      <a:pPr algn="l"/>
                      <a:r>
                        <a:rPr lang="en-US" dirty="0"/>
                        <a:t>Simple. one rotation or data-load gate per feature</a:t>
                      </a:r>
                    </a:p>
                  </a:txBody>
                  <a:tcPr anchor="ctr"/>
                </a:tc>
                <a:tc>
                  <a:txBody>
                    <a:bodyPr/>
                    <a:lstStyle/>
                    <a:p>
                      <a:pPr algn="l"/>
                      <a:r>
                        <a:rPr lang="en-US" dirty="0"/>
                        <a:t>Layers of rotations </a:t>
                      </a:r>
                      <a:r>
                        <a:rPr lang="en-US" b="0" dirty="0"/>
                        <a:t>plus</a:t>
                      </a:r>
                      <a:r>
                        <a:rPr lang="en-US" dirty="0"/>
                        <a:t> gates that tie qubits together</a:t>
                      </a:r>
                    </a:p>
                  </a:txBody>
                  <a:tcPr anchor="ctr"/>
                </a:tc>
                <a:extLst>
                  <a:ext uri="{0D108BD9-81ED-4DB2-BD59-A6C34878D82A}">
                    <a16:rowId xmlns:a16="http://schemas.microsoft.com/office/drawing/2014/main" val="4079263577"/>
                  </a:ext>
                </a:extLst>
              </a:tr>
              <a:tr h="370840">
                <a:tc>
                  <a:txBody>
                    <a:bodyPr/>
                    <a:lstStyle/>
                    <a:p>
                      <a:pPr algn="l"/>
                      <a:r>
                        <a:rPr lang="en-IN" b="1"/>
                        <a:t>Feature Space</a:t>
                      </a:r>
                      <a:endParaRPr lang="en-IN"/>
                    </a:p>
                  </a:txBody>
                  <a:tcPr anchor="ctr"/>
                </a:tc>
                <a:tc>
                  <a:txBody>
                    <a:bodyPr/>
                    <a:lstStyle/>
                    <a:p>
                      <a:pPr algn="l"/>
                      <a:r>
                        <a:rPr lang="en-US"/>
                        <a:t>Keeps the same dimensions as your input</a:t>
                      </a:r>
                    </a:p>
                  </a:txBody>
                  <a:tcPr anchor="ctr"/>
                </a:tc>
                <a:tc>
                  <a:txBody>
                    <a:bodyPr/>
                    <a:lstStyle/>
                    <a:p>
                      <a:pPr algn="l"/>
                      <a:r>
                        <a:rPr lang="en-US"/>
                        <a:t>Projects into a much larger “quantum” space for richer views</a:t>
                      </a:r>
                    </a:p>
                  </a:txBody>
                  <a:tcPr anchor="ctr"/>
                </a:tc>
                <a:extLst>
                  <a:ext uri="{0D108BD9-81ED-4DB2-BD59-A6C34878D82A}">
                    <a16:rowId xmlns:a16="http://schemas.microsoft.com/office/drawing/2014/main" val="795996744"/>
                  </a:ext>
                </a:extLst>
              </a:tr>
              <a:tr h="370840">
                <a:tc>
                  <a:txBody>
                    <a:bodyPr/>
                    <a:lstStyle/>
                    <a:p>
                      <a:pPr algn="l"/>
                      <a:r>
                        <a:rPr lang="en-IN" b="1"/>
                        <a:t>Patterns Captured</a:t>
                      </a:r>
                      <a:endParaRPr lang="en-IN"/>
                    </a:p>
                  </a:txBody>
                  <a:tcPr anchor="ctr"/>
                </a:tc>
                <a:tc>
                  <a:txBody>
                    <a:bodyPr/>
                    <a:lstStyle/>
                    <a:p>
                      <a:pPr algn="l"/>
                      <a:r>
                        <a:rPr lang="en-US"/>
                        <a:t>Only individual (linear) feature effects</a:t>
                      </a:r>
                    </a:p>
                  </a:txBody>
                  <a:tcPr anchor="ctr"/>
                </a:tc>
                <a:tc>
                  <a:txBody>
                    <a:bodyPr/>
                    <a:lstStyle/>
                    <a:p>
                      <a:pPr algn="l"/>
                      <a:r>
                        <a:rPr lang="en-IN" dirty="0"/>
                        <a:t>Captures complex, multi-feature relationships via entanglement</a:t>
                      </a:r>
                    </a:p>
                  </a:txBody>
                  <a:tcPr anchor="ctr"/>
                </a:tc>
                <a:extLst>
                  <a:ext uri="{0D108BD9-81ED-4DB2-BD59-A6C34878D82A}">
                    <a16:rowId xmlns:a16="http://schemas.microsoft.com/office/drawing/2014/main" val="1627567078"/>
                  </a:ext>
                </a:extLst>
              </a:tr>
              <a:tr h="370840">
                <a:tc>
                  <a:txBody>
                    <a:bodyPr/>
                    <a:lstStyle/>
                    <a:p>
                      <a:pPr algn="l"/>
                      <a:r>
                        <a:rPr lang="en-IN" b="1" dirty="0"/>
                        <a:t>When to Use</a:t>
                      </a:r>
                      <a:endParaRPr lang="en-IN" dirty="0"/>
                    </a:p>
                  </a:txBody>
                  <a:tcPr anchor="ctr"/>
                </a:tc>
                <a:tc>
                  <a:txBody>
                    <a:bodyPr/>
                    <a:lstStyle/>
                    <a:p>
                      <a:pPr algn="l"/>
                      <a:r>
                        <a:rPr lang="en-US"/>
                        <a:t>Quick demos or basic state preparation</a:t>
                      </a:r>
                    </a:p>
                  </a:txBody>
                  <a:tcPr anchor="ctr"/>
                </a:tc>
                <a:tc>
                  <a:txBody>
                    <a:bodyPr/>
                    <a:lstStyle/>
                    <a:p>
                      <a:pPr algn="l"/>
                      <a:r>
                        <a:rPr lang="en-US" dirty="0"/>
                        <a:t>Quantum-machine-learning tasks where you need extra power</a:t>
                      </a:r>
                    </a:p>
                  </a:txBody>
                  <a:tcPr anchor="ctr"/>
                </a:tc>
                <a:extLst>
                  <a:ext uri="{0D108BD9-81ED-4DB2-BD59-A6C34878D82A}">
                    <a16:rowId xmlns:a16="http://schemas.microsoft.com/office/drawing/2014/main" val="2144705392"/>
                  </a:ext>
                </a:extLst>
              </a:tr>
            </a:tbl>
          </a:graphicData>
        </a:graphic>
      </p:graphicFrame>
      <p:sp>
        <p:nvSpPr>
          <p:cNvPr id="4" name="Slide Number Placeholder 3">
            <a:extLst>
              <a:ext uri="{FF2B5EF4-FFF2-40B4-BE49-F238E27FC236}">
                <a16:creationId xmlns:a16="http://schemas.microsoft.com/office/drawing/2014/main" id="{685C3CC3-5F62-4FEF-831E-F9913C73F63F}"/>
              </a:ext>
            </a:extLst>
          </p:cNvPr>
          <p:cNvSpPr>
            <a:spLocks noGrp="1"/>
          </p:cNvSpPr>
          <p:nvPr>
            <p:ph type="sldNum" sz="quarter" idx="12"/>
          </p:nvPr>
        </p:nvSpPr>
        <p:spPr/>
        <p:txBody>
          <a:bodyPr/>
          <a:lstStyle/>
          <a:p>
            <a:fld id="{F9AA3F58-F348-4ACC-AF27-6630C1E91C9F}" type="slidenum">
              <a:rPr lang="en-IN" smtClean="0"/>
              <a:pPr/>
              <a:t>27</a:t>
            </a:fld>
            <a:endParaRPr lang="en-IN" dirty="0"/>
          </a:p>
        </p:txBody>
      </p:sp>
    </p:spTree>
    <p:extLst>
      <p:ext uri="{BB962C8B-B14F-4D97-AF65-F5344CB8AC3E}">
        <p14:creationId xmlns:p14="http://schemas.microsoft.com/office/powerpoint/2010/main" val="8975739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1E73A-29CC-4DF0-9E1F-5CD7DAA779B4}"/>
              </a:ext>
            </a:extLst>
          </p:cNvPr>
          <p:cNvSpPr>
            <a:spLocks noGrp="1"/>
          </p:cNvSpPr>
          <p:nvPr>
            <p:ph type="title"/>
          </p:nvPr>
        </p:nvSpPr>
        <p:spPr/>
        <p:txBody>
          <a:bodyPr/>
          <a:lstStyle/>
          <a:p>
            <a:pPr algn="ctr"/>
            <a:r>
              <a:rPr lang="en-US" dirty="0"/>
              <a:t>Trainable (Parameterized) Quantum Circuits</a:t>
            </a:r>
            <a:endParaRPr lang="en-IN" dirty="0"/>
          </a:p>
        </p:txBody>
      </p:sp>
      <p:sp>
        <p:nvSpPr>
          <p:cNvPr id="3" name="Content Placeholder 2">
            <a:extLst>
              <a:ext uri="{FF2B5EF4-FFF2-40B4-BE49-F238E27FC236}">
                <a16:creationId xmlns:a16="http://schemas.microsoft.com/office/drawing/2014/main" id="{2B3C14DA-14F5-4F72-BC83-6BEC124A0F0D}"/>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en-US" b="1" dirty="0"/>
              <a:t>Comparable to Tuning a Musical Instrument</a:t>
            </a:r>
            <a:endParaRPr lang="en-US" dirty="0"/>
          </a:p>
          <a:p>
            <a:pPr marL="742950" lvl="1" indent="-285750">
              <a:buFont typeface="Arial" panose="020B0604020202020204" pitchFamily="34" charset="0"/>
              <a:buChar char="•"/>
            </a:pPr>
            <a:r>
              <a:rPr lang="en-US" dirty="0"/>
              <a:t>Each gate parameter is like a tuning knob on an instrument</a:t>
            </a:r>
          </a:p>
          <a:p>
            <a:pPr marL="742950" lvl="1" indent="-285750">
              <a:buFont typeface="Arial" panose="020B0604020202020204" pitchFamily="34" charset="0"/>
              <a:buChar char="•"/>
            </a:pPr>
            <a:r>
              <a:rPr lang="en-US" dirty="0"/>
              <a:t>Adjust parameters (rotation angles) to “harmonize” the output with desired labels</a:t>
            </a:r>
          </a:p>
          <a:p>
            <a:pPr>
              <a:buFont typeface="Arial" panose="020B0604020202020204" pitchFamily="34" charset="0"/>
              <a:buChar char="•"/>
            </a:pPr>
            <a:r>
              <a:rPr lang="en-US" b="1" dirty="0"/>
              <a:t>Learning Process</a:t>
            </a:r>
            <a:endParaRPr lang="en-US" dirty="0"/>
          </a:p>
          <a:p>
            <a:pPr marL="742950" lvl="1" indent="-285750">
              <a:buFont typeface="Arial" panose="020B0604020202020204" pitchFamily="34" charset="0"/>
              <a:buChar char="•"/>
            </a:pPr>
            <a:r>
              <a:rPr lang="en-US" b="1" dirty="0"/>
              <a:t>Initialize:</a:t>
            </a:r>
            <a:r>
              <a:rPr lang="en-US" dirty="0"/>
              <a:t> Start with random parameter settings</a:t>
            </a:r>
          </a:p>
          <a:p>
            <a:pPr marL="742950" lvl="1" indent="-285750">
              <a:buFont typeface="Arial" panose="020B0604020202020204" pitchFamily="34" charset="0"/>
              <a:buChar char="•"/>
            </a:pPr>
            <a:r>
              <a:rPr lang="en-US" b="1" dirty="0"/>
              <a:t>Evaluate:</a:t>
            </a:r>
            <a:r>
              <a:rPr lang="en-US" dirty="0"/>
              <a:t> Run the circuit, measure outputs, compute a cost function</a:t>
            </a:r>
          </a:p>
          <a:p>
            <a:pPr marL="742950" lvl="1" indent="-285750">
              <a:buFont typeface="Arial" panose="020B0604020202020204" pitchFamily="34" charset="0"/>
              <a:buChar char="•"/>
            </a:pPr>
            <a:r>
              <a:rPr lang="en-US" b="1" dirty="0"/>
              <a:t>Update:</a:t>
            </a:r>
            <a:r>
              <a:rPr lang="en-US" dirty="0"/>
              <a:t> Use classical optimizer (e.g., gradient descent) to tweak parameters</a:t>
            </a:r>
          </a:p>
          <a:p>
            <a:pPr marL="742950" lvl="1" indent="-285750">
              <a:buFont typeface="Arial" panose="020B0604020202020204" pitchFamily="34" charset="0"/>
              <a:buChar char="•"/>
            </a:pPr>
            <a:r>
              <a:rPr lang="en-US" b="1" dirty="0"/>
              <a:t>Iterate:</a:t>
            </a:r>
            <a:r>
              <a:rPr lang="en-US" dirty="0"/>
              <a:t> Repeat until cost converges to a minimum</a:t>
            </a:r>
          </a:p>
          <a:p>
            <a:pPr>
              <a:buFont typeface="Arial" panose="020B0604020202020204" pitchFamily="34" charset="0"/>
              <a:buChar char="•"/>
            </a:pPr>
            <a:r>
              <a:rPr lang="en-US" b="1" dirty="0"/>
              <a:t>Why It Works</a:t>
            </a:r>
            <a:endParaRPr lang="en-US" dirty="0"/>
          </a:p>
          <a:p>
            <a:pPr marL="742950" lvl="1" indent="-285750">
              <a:buFont typeface="Arial" panose="020B0604020202020204" pitchFamily="34" charset="0"/>
              <a:buChar char="•"/>
            </a:pPr>
            <a:r>
              <a:rPr lang="en-US" dirty="0"/>
              <a:t>Analogous to neural networks’ weight tuning</a:t>
            </a:r>
          </a:p>
          <a:p>
            <a:pPr marL="742950" lvl="1" indent="-285750">
              <a:buFont typeface="Arial" panose="020B0604020202020204" pitchFamily="34" charset="0"/>
              <a:buChar char="•"/>
            </a:pPr>
            <a:r>
              <a:rPr lang="en-US" dirty="0"/>
              <a:t>Quantum operations offer richer transformations, potentially capturing complex patterns</a:t>
            </a:r>
          </a:p>
          <a:p>
            <a:endParaRPr lang="en-IN" dirty="0"/>
          </a:p>
          <a:p>
            <a:endParaRPr lang="en-IN" dirty="0"/>
          </a:p>
        </p:txBody>
      </p:sp>
      <p:sp>
        <p:nvSpPr>
          <p:cNvPr id="4" name="Slide Number Placeholder 3">
            <a:extLst>
              <a:ext uri="{FF2B5EF4-FFF2-40B4-BE49-F238E27FC236}">
                <a16:creationId xmlns:a16="http://schemas.microsoft.com/office/drawing/2014/main" id="{23DAA76C-9C93-4C5B-A5AF-C7B61D34E01E}"/>
              </a:ext>
            </a:extLst>
          </p:cNvPr>
          <p:cNvSpPr>
            <a:spLocks noGrp="1"/>
          </p:cNvSpPr>
          <p:nvPr>
            <p:ph type="sldNum" sz="quarter" idx="12"/>
          </p:nvPr>
        </p:nvSpPr>
        <p:spPr/>
        <p:txBody>
          <a:bodyPr/>
          <a:lstStyle/>
          <a:p>
            <a:fld id="{F9AA3F58-F348-4ACC-AF27-6630C1E91C9F}" type="slidenum">
              <a:rPr lang="en-IN" smtClean="0"/>
              <a:pPr/>
              <a:t>28</a:t>
            </a:fld>
            <a:endParaRPr lang="en-IN" dirty="0"/>
          </a:p>
        </p:txBody>
      </p:sp>
    </p:spTree>
    <p:extLst>
      <p:ext uri="{BB962C8B-B14F-4D97-AF65-F5344CB8AC3E}">
        <p14:creationId xmlns:p14="http://schemas.microsoft.com/office/powerpoint/2010/main" val="1003533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C5589-9FD5-491C-A872-287EC988D2EF}"/>
              </a:ext>
            </a:extLst>
          </p:cNvPr>
          <p:cNvSpPr>
            <a:spLocks noGrp="1"/>
          </p:cNvSpPr>
          <p:nvPr>
            <p:ph type="title"/>
          </p:nvPr>
        </p:nvSpPr>
        <p:spPr/>
        <p:txBody>
          <a:bodyPr/>
          <a:lstStyle/>
          <a:p>
            <a:pPr algn="ctr"/>
            <a:r>
              <a:rPr lang="en-US" dirty="0"/>
              <a:t>Building Blocks of Quantum ML</a:t>
            </a:r>
            <a:endParaRPr lang="en-IN" dirty="0"/>
          </a:p>
        </p:txBody>
      </p:sp>
      <p:sp>
        <p:nvSpPr>
          <p:cNvPr id="3" name="Content Placeholder 2">
            <a:extLst>
              <a:ext uri="{FF2B5EF4-FFF2-40B4-BE49-F238E27FC236}">
                <a16:creationId xmlns:a16="http://schemas.microsoft.com/office/drawing/2014/main" id="{9F97A248-88EC-4740-91D6-1BDAADF604C7}"/>
              </a:ext>
            </a:extLst>
          </p:cNvPr>
          <p:cNvSpPr>
            <a:spLocks noGrp="1"/>
          </p:cNvSpPr>
          <p:nvPr>
            <p:ph idx="1"/>
          </p:nvPr>
        </p:nvSpPr>
        <p:spPr/>
        <p:txBody>
          <a:bodyPr>
            <a:normAutofit fontScale="92500" lnSpcReduction="10000"/>
          </a:bodyPr>
          <a:lstStyle/>
          <a:p>
            <a:pPr>
              <a:buFont typeface="+mj-lt"/>
              <a:buAutoNum type="arabicPeriod"/>
            </a:pPr>
            <a:r>
              <a:rPr lang="en-IN" b="1" dirty="0"/>
              <a:t>Input Layer (Data Encoding)</a:t>
            </a:r>
            <a:endParaRPr lang="en-IN" dirty="0"/>
          </a:p>
          <a:p>
            <a:pPr marL="742950" lvl="1" indent="-285750">
              <a:buFont typeface="+mj-lt"/>
              <a:buAutoNum type="arabicPeriod"/>
            </a:pPr>
            <a:r>
              <a:rPr lang="en-IN" b="1" dirty="0"/>
              <a:t>Amplitude Encoding:</a:t>
            </a:r>
            <a:r>
              <a:rPr lang="en-IN" dirty="0"/>
              <a:t> Map data into amplitudes of a multi-qubit state</a:t>
            </a:r>
          </a:p>
          <a:p>
            <a:pPr marL="742950" lvl="1" indent="-285750">
              <a:buFont typeface="+mj-lt"/>
              <a:buAutoNum type="arabicPeriod"/>
            </a:pPr>
            <a:r>
              <a:rPr lang="en-IN" b="1" dirty="0"/>
              <a:t>Angle Encoding:</a:t>
            </a:r>
            <a:r>
              <a:rPr lang="en-IN" dirty="0"/>
              <a:t> Use rotation gates (Rx, Ry, Rz) where angles represent feature values</a:t>
            </a:r>
          </a:p>
          <a:p>
            <a:pPr>
              <a:buFont typeface="+mj-lt"/>
              <a:buAutoNum type="arabicPeriod"/>
            </a:pPr>
            <a:r>
              <a:rPr lang="en-IN" b="1" dirty="0"/>
              <a:t>Processing Layers (Variational Blocks)</a:t>
            </a:r>
            <a:endParaRPr lang="en-IN" dirty="0"/>
          </a:p>
          <a:p>
            <a:pPr marL="742950" lvl="1" indent="-285750">
              <a:buFont typeface="+mj-lt"/>
              <a:buAutoNum type="arabicPeriod"/>
            </a:pPr>
            <a:r>
              <a:rPr lang="en-IN" b="1" dirty="0"/>
              <a:t>Parameterized Gates:</a:t>
            </a:r>
            <a:r>
              <a:rPr lang="en-IN" dirty="0"/>
              <a:t> Rx(</a:t>
            </a:r>
            <a:r>
              <a:rPr lang="el-GR" dirty="0"/>
              <a:t>θ), </a:t>
            </a:r>
            <a:r>
              <a:rPr lang="en-IN" dirty="0"/>
              <a:t>Ry(</a:t>
            </a:r>
            <a:r>
              <a:rPr lang="el-GR" dirty="0"/>
              <a:t>φ), </a:t>
            </a:r>
            <a:r>
              <a:rPr lang="en-IN" dirty="0"/>
              <a:t>Rz(</a:t>
            </a:r>
            <a:r>
              <a:rPr lang="el-GR" dirty="0"/>
              <a:t>ψ) </a:t>
            </a:r>
            <a:r>
              <a:rPr lang="en-IN" dirty="0"/>
              <a:t>whose angles are trainable</a:t>
            </a:r>
          </a:p>
          <a:p>
            <a:pPr marL="742950" lvl="1" indent="-285750">
              <a:buFont typeface="+mj-lt"/>
              <a:buAutoNum type="arabicPeriod"/>
            </a:pPr>
            <a:r>
              <a:rPr lang="en-IN" b="1" dirty="0"/>
              <a:t>Entangling Gates:</a:t>
            </a:r>
            <a:r>
              <a:rPr lang="en-IN" dirty="0"/>
              <a:t> CNOT, CZ to create correlations between qubits</a:t>
            </a:r>
          </a:p>
          <a:p>
            <a:pPr marL="742950" lvl="1" indent="-285750">
              <a:buFont typeface="+mj-lt"/>
              <a:buAutoNum type="arabicPeriod"/>
            </a:pPr>
            <a:r>
              <a:rPr lang="en-IN" b="1" dirty="0"/>
              <a:t>Layered Structure:</a:t>
            </a:r>
            <a:r>
              <a:rPr lang="en-IN" dirty="0"/>
              <a:t> Repeated blocks to increase expressivity</a:t>
            </a:r>
          </a:p>
          <a:p>
            <a:pPr>
              <a:buFont typeface="+mj-lt"/>
              <a:buAutoNum type="arabicPeriod"/>
            </a:pPr>
            <a:r>
              <a:rPr lang="en-IN" b="1" dirty="0"/>
              <a:t>Output Layer (Measurement + Readout)</a:t>
            </a:r>
            <a:endParaRPr lang="en-IN" dirty="0"/>
          </a:p>
          <a:p>
            <a:pPr marL="742950" lvl="1" indent="-285750">
              <a:buFont typeface="+mj-lt"/>
              <a:buAutoNum type="arabicPeriod"/>
            </a:pPr>
            <a:r>
              <a:rPr lang="en-IN" dirty="0"/>
              <a:t>Measure one or more qubits in the computational basis</a:t>
            </a:r>
          </a:p>
          <a:p>
            <a:pPr marL="742950" lvl="1" indent="-285750">
              <a:buFont typeface="+mj-lt"/>
              <a:buAutoNum type="arabicPeriod"/>
            </a:pPr>
            <a:r>
              <a:rPr lang="en-IN" dirty="0"/>
              <a:t>Aggregate measurement probabilities into predictions (e.g., class label probabilities)</a:t>
            </a:r>
          </a:p>
          <a:p>
            <a:pPr marL="742950" lvl="1" indent="-285750">
              <a:buFont typeface="+mj-lt"/>
              <a:buAutoNum type="arabicPeriod"/>
            </a:pPr>
            <a:r>
              <a:rPr lang="en-IN" dirty="0"/>
              <a:t>Classical post-processing (thresholding, </a:t>
            </a:r>
            <a:r>
              <a:rPr lang="en-IN" dirty="0" err="1"/>
              <a:t>softmax</a:t>
            </a:r>
            <a:r>
              <a:rPr lang="en-IN" dirty="0"/>
              <a:t>)</a:t>
            </a:r>
          </a:p>
          <a:p>
            <a:endParaRPr lang="en-IN" dirty="0"/>
          </a:p>
          <a:p>
            <a:endParaRPr lang="en-IN" dirty="0"/>
          </a:p>
        </p:txBody>
      </p:sp>
      <p:sp>
        <p:nvSpPr>
          <p:cNvPr id="4" name="Slide Number Placeholder 3">
            <a:extLst>
              <a:ext uri="{FF2B5EF4-FFF2-40B4-BE49-F238E27FC236}">
                <a16:creationId xmlns:a16="http://schemas.microsoft.com/office/drawing/2014/main" id="{E7379CD7-6F51-4B58-8B03-7ED189633F47}"/>
              </a:ext>
            </a:extLst>
          </p:cNvPr>
          <p:cNvSpPr>
            <a:spLocks noGrp="1"/>
          </p:cNvSpPr>
          <p:nvPr>
            <p:ph type="sldNum" sz="quarter" idx="12"/>
          </p:nvPr>
        </p:nvSpPr>
        <p:spPr/>
        <p:txBody>
          <a:bodyPr/>
          <a:lstStyle/>
          <a:p>
            <a:fld id="{F9AA3F58-F348-4ACC-AF27-6630C1E91C9F}" type="slidenum">
              <a:rPr lang="en-IN" smtClean="0"/>
              <a:pPr/>
              <a:t>29</a:t>
            </a:fld>
            <a:endParaRPr lang="en-IN" dirty="0"/>
          </a:p>
        </p:txBody>
      </p:sp>
    </p:spTree>
    <p:extLst>
      <p:ext uri="{BB962C8B-B14F-4D97-AF65-F5344CB8AC3E}">
        <p14:creationId xmlns:p14="http://schemas.microsoft.com/office/powerpoint/2010/main" val="21185805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4428898" cy="1600200"/>
          </a:xfrm>
        </p:spPr>
        <p:txBody>
          <a:bodyPr/>
          <a:lstStyle/>
          <a:p>
            <a:pPr algn="ctr"/>
            <a:r>
              <a:rPr lang="en-IN" dirty="0"/>
              <a:t>Parameterized Quantum Circuits</a:t>
            </a:r>
          </a:p>
        </p:txBody>
      </p:sp>
      <p:pic>
        <p:nvPicPr>
          <p:cNvPr id="6" name="Picture Placeholder 5"/>
          <p:cNvPicPr preferRelativeResize="0">
            <a:picLocks noGrp="1" noChangeAspect="1"/>
          </p:cNvPicPr>
          <p:nvPr>
            <p:ph type="pic" idx="1"/>
          </p:nvPr>
        </p:nvPicPr>
        <p:blipFill>
          <a:blip r:embed="rId2" cstate="print">
            <a:extLst>
              <a:ext uri="{28A0092B-C50C-407E-A947-70E740481C1C}">
                <a14:useLocalDpi xmlns:a14="http://schemas.microsoft.com/office/drawing/2010/main" val="0"/>
              </a:ext>
            </a:extLst>
          </a:blip>
          <a:stretch>
            <a:fillRect/>
          </a:stretch>
        </p:blipFill>
        <p:spPr>
          <a:xfrm>
            <a:off x="6783705" y="2441106"/>
            <a:ext cx="5040000" cy="3044176"/>
          </a:xfrm>
        </p:spPr>
      </p:pic>
      <p:sp>
        <p:nvSpPr>
          <p:cNvPr id="3" name="Content Placeholder 2"/>
          <p:cNvSpPr>
            <a:spLocks noGrp="1"/>
          </p:cNvSpPr>
          <p:nvPr>
            <p:ph type="body" sz="half" idx="2"/>
          </p:nvPr>
        </p:nvSpPr>
        <p:spPr>
          <a:xfrm>
            <a:off x="839788" y="2057400"/>
            <a:ext cx="5561012" cy="3811588"/>
          </a:xfrm>
        </p:spPr>
        <p:txBody>
          <a:bodyPr>
            <a:normAutofit fontScale="92500" lnSpcReduction="10000"/>
          </a:bodyPr>
          <a:lstStyle/>
          <a:p>
            <a:pPr marL="285750" indent="-285750" algn="just">
              <a:buFont typeface="Arial" panose="020B0604020202020204" pitchFamily="34" charset="0"/>
              <a:buChar char="•"/>
            </a:pPr>
            <a:r>
              <a:rPr lang="en-US" b="1" dirty="0"/>
              <a:t>Parameterized Quantum Circuits </a:t>
            </a:r>
            <a:r>
              <a:rPr lang="en-US" dirty="0"/>
              <a:t>are circuits where the gates are defined through tunable parameters, are a </a:t>
            </a:r>
            <a:r>
              <a:rPr lang="en-US" b="1" dirty="0"/>
              <a:t>fundamental building block of near-term quantum machine learning algorithms</a:t>
            </a:r>
            <a:r>
              <a:rPr lang="en-US" dirty="0"/>
              <a:t>.</a:t>
            </a:r>
          </a:p>
          <a:p>
            <a:pPr marL="285750" indent="-285750" algn="just">
              <a:buFont typeface="Arial" panose="020B0604020202020204" pitchFamily="34" charset="0"/>
              <a:buChar char="•"/>
            </a:pPr>
            <a:r>
              <a:rPr lang="en-US" dirty="0"/>
              <a:t>Interchangeably called Variational Circuits or </a:t>
            </a:r>
            <a:r>
              <a:rPr lang="en-US" b="1" dirty="0"/>
              <a:t>Variational Quantum Circuits</a:t>
            </a:r>
            <a:r>
              <a:rPr lang="en-US" dirty="0"/>
              <a:t>.</a:t>
            </a:r>
          </a:p>
          <a:p>
            <a:pPr marL="285750" indent="-285750" algn="just">
              <a:buFont typeface="Arial" panose="020B0604020202020204" pitchFamily="34" charset="0"/>
              <a:buChar char="•"/>
            </a:pPr>
            <a:r>
              <a:rPr lang="en-US" dirty="0"/>
              <a:t>As all quantum gates used in a quantum circuit are unitary, a parameterized circuit itself can be described as </a:t>
            </a:r>
            <a:r>
              <a:rPr lang="en-US" b="1" dirty="0"/>
              <a:t>a unitary operation on </a:t>
            </a:r>
            <a:r>
              <a:rPr lang="en-US" b="1" i="1" dirty="0"/>
              <a:t>n</a:t>
            </a:r>
            <a:r>
              <a:rPr lang="en-US" b="1" dirty="0"/>
              <a:t> qubits</a:t>
            </a:r>
            <a:r>
              <a:rPr lang="en-US" dirty="0"/>
              <a:t>.</a:t>
            </a:r>
          </a:p>
          <a:p>
            <a:pPr marL="285750" indent="-285750" algn="just">
              <a:buFont typeface="Arial" panose="020B0604020202020204" pitchFamily="34" charset="0"/>
              <a:buChar char="•"/>
            </a:pPr>
            <a:r>
              <a:rPr lang="en-US" dirty="0"/>
              <a:t>We can use the measures of </a:t>
            </a:r>
            <a:r>
              <a:rPr lang="en-US" dirty="0" err="1"/>
              <a:t>expressibility</a:t>
            </a:r>
            <a:r>
              <a:rPr lang="en-US" dirty="0"/>
              <a:t> and entangling capability to discriminate between different parameterized quantum circuits.</a:t>
            </a:r>
          </a:p>
          <a:p>
            <a:pPr marL="285750" indent="-285750" algn="just">
              <a:buFont typeface="Arial" panose="020B0604020202020204" pitchFamily="34" charset="0"/>
              <a:buChar char="•"/>
            </a:pPr>
            <a:r>
              <a:rPr lang="en-US" dirty="0"/>
              <a:t>In quantum machine learning, parameterized quantum circuits tend to be used for two things:</a:t>
            </a:r>
          </a:p>
          <a:p>
            <a:pPr marL="742950" lvl="1" indent="-285750" algn="just">
              <a:buFont typeface="Arial" panose="020B0604020202020204" pitchFamily="34" charset="0"/>
              <a:buChar char="•"/>
            </a:pPr>
            <a:r>
              <a:rPr lang="en-US" sz="1500" dirty="0"/>
              <a:t>To encode data, where the parameters are determined by the data being encoded</a:t>
            </a:r>
          </a:p>
          <a:p>
            <a:pPr marL="742950" lvl="1" indent="-285750" algn="just">
              <a:buFont typeface="Arial" panose="020B0604020202020204" pitchFamily="34" charset="0"/>
              <a:buChar char="•"/>
            </a:pPr>
            <a:r>
              <a:rPr lang="en-US" sz="1500" dirty="0"/>
              <a:t>As a quantum model, where the parameters are determined by an optimization process.</a:t>
            </a:r>
            <a:endParaRPr lang="en-IN" sz="1500" dirty="0"/>
          </a:p>
        </p:txBody>
      </p:sp>
      <p:sp>
        <p:nvSpPr>
          <p:cNvPr id="19" name="Slide Number Placeholder 18"/>
          <p:cNvSpPr>
            <a:spLocks noGrp="1"/>
          </p:cNvSpPr>
          <p:nvPr>
            <p:ph type="sldNum" sz="quarter" idx="12"/>
          </p:nvPr>
        </p:nvSpPr>
        <p:spPr/>
        <p:txBody>
          <a:bodyPr/>
          <a:lstStyle/>
          <a:p>
            <a:fld id="{F9AA3F58-F348-4ACC-AF27-6630C1E91C9F}" type="slidenum">
              <a:rPr lang="en-IN" smtClean="0"/>
              <a:t>30</a:t>
            </a:fld>
            <a:endParaRPr lang="en-IN" dirty="0"/>
          </a:p>
        </p:txBody>
      </p:sp>
    </p:spTree>
    <p:extLst>
      <p:ext uri="{BB962C8B-B14F-4D97-AF65-F5344CB8AC3E}">
        <p14:creationId xmlns:p14="http://schemas.microsoft.com/office/powerpoint/2010/main" val="18558263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PQC vs VQC</a:t>
            </a:r>
          </a:p>
        </p:txBody>
      </p:sp>
      <p:sp>
        <p:nvSpPr>
          <p:cNvPr id="5" name="Text Placeholder 4"/>
          <p:cNvSpPr>
            <a:spLocks noGrp="1"/>
          </p:cNvSpPr>
          <p:nvPr>
            <p:ph type="body" idx="1"/>
          </p:nvPr>
        </p:nvSpPr>
        <p:spPr/>
        <p:txBody>
          <a:bodyPr/>
          <a:lstStyle/>
          <a:p>
            <a:pPr algn="ctr"/>
            <a:r>
              <a:rPr lang="en-IN" dirty="0"/>
              <a:t>Parameterized Quantum Circuits</a:t>
            </a:r>
          </a:p>
        </p:txBody>
      </p:sp>
      <p:sp>
        <p:nvSpPr>
          <p:cNvPr id="7" name="Content Placeholder 6"/>
          <p:cNvSpPr>
            <a:spLocks noGrp="1"/>
          </p:cNvSpPr>
          <p:nvPr>
            <p:ph sz="half" idx="2"/>
          </p:nvPr>
        </p:nvSpPr>
        <p:spPr/>
        <p:txBody>
          <a:bodyPr>
            <a:normAutofit/>
          </a:bodyPr>
          <a:lstStyle/>
          <a:p>
            <a:pPr algn="just"/>
            <a:r>
              <a:rPr lang="en-US" sz="2000" dirty="0"/>
              <a:t>A broad concept that encompasses any quantum circuit with adjustable parameters.</a:t>
            </a:r>
          </a:p>
          <a:p>
            <a:pPr algn="just"/>
            <a:r>
              <a:rPr lang="en-US" sz="2000" dirty="0"/>
              <a:t>May or may not be used in an optimization context.</a:t>
            </a:r>
            <a:endParaRPr lang="en-IN" sz="2000" dirty="0"/>
          </a:p>
          <a:p>
            <a:pPr algn="just"/>
            <a:r>
              <a:rPr lang="en-IN" sz="2000" dirty="0"/>
              <a:t>Usually used for Quantum Algorithms</a:t>
            </a:r>
          </a:p>
        </p:txBody>
      </p:sp>
      <p:sp>
        <p:nvSpPr>
          <p:cNvPr id="8" name="Text Placeholder 7"/>
          <p:cNvSpPr>
            <a:spLocks noGrp="1"/>
          </p:cNvSpPr>
          <p:nvPr>
            <p:ph type="body" sz="quarter" idx="3"/>
          </p:nvPr>
        </p:nvSpPr>
        <p:spPr/>
        <p:txBody>
          <a:bodyPr/>
          <a:lstStyle/>
          <a:p>
            <a:pPr algn="ctr"/>
            <a:r>
              <a:rPr lang="en-IN" dirty="0" err="1"/>
              <a:t>Variational</a:t>
            </a:r>
            <a:r>
              <a:rPr lang="en-IN" dirty="0"/>
              <a:t> Quantum Circuits</a:t>
            </a:r>
          </a:p>
        </p:txBody>
      </p:sp>
      <p:sp>
        <p:nvSpPr>
          <p:cNvPr id="9" name="Content Placeholder 8"/>
          <p:cNvSpPr>
            <a:spLocks noGrp="1"/>
          </p:cNvSpPr>
          <p:nvPr>
            <p:ph sz="quarter" idx="4"/>
          </p:nvPr>
        </p:nvSpPr>
        <p:spPr/>
        <p:txBody>
          <a:bodyPr>
            <a:noAutofit/>
          </a:bodyPr>
          <a:lstStyle/>
          <a:p>
            <a:pPr algn="just"/>
            <a:r>
              <a:rPr lang="en-US" sz="2000" dirty="0"/>
              <a:t>A subset of PQCs that are specifically designed to be optimized using a </a:t>
            </a:r>
            <a:r>
              <a:rPr lang="en-US" sz="2000" dirty="0" err="1"/>
              <a:t>variational</a:t>
            </a:r>
            <a:r>
              <a:rPr lang="en-US" sz="2000" dirty="0"/>
              <a:t> (hybrid quantum-classical) approach.</a:t>
            </a:r>
          </a:p>
          <a:p>
            <a:pPr algn="just"/>
            <a:r>
              <a:rPr lang="en-US" sz="2000" dirty="0"/>
              <a:t>Always involve an optimization process, where the parameters are actively tuned to minimize or maximize a cost function.</a:t>
            </a:r>
          </a:p>
          <a:p>
            <a:pPr algn="just"/>
            <a:r>
              <a:rPr lang="en-US" sz="2000" dirty="0"/>
              <a:t>The term "</a:t>
            </a:r>
            <a:r>
              <a:rPr lang="en-US" sz="2000" dirty="0" err="1"/>
              <a:t>variational</a:t>
            </a:r>
            <a:r>
              <a:rPr lang="en-US" sz="2000" dirty="0"/>
              <a:t>" refers to the use of classical optimization algorithms.</a:t>
            </a:r>
            <a:endParaRPr lang="en-IN" sz="2000" dirty="0"/>
          </a:p>
        </p:txBody>
      </p:sp>
      <p:sp>
        <p:nvSpPr>
          <p:cNvPr id="21" name="Slide Number Placeholder 20"/>
          <p:cNvSpPr>
            <a:spLocks noGrp="1"/>
          </p:cNvSpPr>
          <p:nvPr>
            <p:ph type="sldNum" sz="quarter" idx="12"/>
          </p:nvPr>
        </p:nvSpPr>
        <p:spPr/>
        <p:txBody>
          <a:bodyPr/>
          <a:lstStyle/>
          <a:p>
            <a:fld id="{F9AA3F58-F348-4ACC-AF27-6630C1E91C9F}" type="slidenum">
              <a:rPr lang="en-IN" smtClean="0"/>
              <a:t>31</a:t>
            </a:fld>
            <a:endParaRPr lang="en-IN"/>
          </a:p>
        </p:txBody>
      </p:sp>
    </p:spTree>
    <p:extLst>
      <p:ext uri="{BB962C8B-B14F-4D97-AF65-F5344CB8AC3E}">
        <p14:creationId xmlns:p14="http://schemas.microsoft.com/office/powerpoint/2010/main" val="9678227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2828695"/>
            <a:ext cx="3932237" cy="1600200"/>
          </a:xfrm>
        </p:spPr>
        <p:txBody>
          <a:bodyPr/>
          <a:lstStyle/>
          <a:p>
            <a:pPr algn="ctr"/>
            <a:r>
              <a:rPr lang="en-US" dirty="0"/>
              <a:t>A Typical VQC used for QML</a:t>
            </a:r>
            <a:endParaRPr lang="en-IN" dirty="0"/>
          </a:p>
        </p:txBody>
      </p:sp>
      <p:pic>
        <p:nvPicPr>
          <p:cNvPr id="5" name="Picture Placeholder 4"/>
          <p:cNvPicPr preferRelativeResize="0">
            <a:picLocks noGrp="1" noChangeAspect="1"/>
          </p:cNvPicPr>
          <p:nvPr>
            <p:ph type="pic" idx="1"/>
          </p:nvPr>
        </p:nvPicPr>
        <p:blipFill>
          <a:blip r:embed="rId2" cstate="print">
            <a:extLst>
              <a:ext uri="{28A0092B-C50C-407E-A947-70E740481C1C}">
                <a14:useLocalDpi xmlns:a14="http://schemas.microsoft.com/office/drawing/2010/main" val="0"/>
              </a:ext>
            </a:extLst>
          </a:blip>
          <a:srcRect/>
          <a:stretch/>
        </p:blipFill>
        <p:spPr>
          <a:xfrm>
            <a:off x="4772025" y="2340311"/>
            <a:ext cx="7200000" cy="2576967"/>
          </a:xfrm>
        </p:spPr>
      </p:pic>
      <p:sp>
        <p:nvSpPr>
          <p:cNvPr id="18" name="Slide Number Placeholder 17"/>
          <p:cNvSpPr>
            <a:spLocks noGrp="1"/>
          </p:cNvSpPr>
          <p:nvPr>
            <p:ph type="sldNum" sz="quarter" idx="12"/>
          </p:nvPr>
        </p:nvSpPr>
        <p:spPr/>
        <p:txBody>
          <a:bodyPr/>
          <a:lstStyle/>
          <a:p>
            <a:fld id="{F9AA3F58-F348-4ACC-AF27-6630C1E91C9F}" type="slidenum">
              <a:rPr lang="en-IN" smtClean="0"/>
              <a:t>32</a:t>
            </a:fld>
            <a:endParaRPr lang="en-IN" dirty="0"/>
          </a:p>
        </p:txBody>
      </p:sp>
    </p:spTree>
    <p:extLst>
      <p:ext uri="{BB962C8B-B14F-4D97-AF65-F5344CB8AC3E}">
        <p14:creationId xmlns:p14="http://schemas.microsoft.com/office/powerpoint/2010/main" val="8422319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8C90729-8303-4936-95CD-55180FD8EE7A}"/>
              </a:ext>
            </a:extLst>
          </p:cNvPr>
          <p:cNvSpPr>
            <a:spLocks noGrp="1"/>
          </p:cNvSpPr>
          <p:nvPr>
            <p:ph type="title"/>
          </p:nvPr>
        </p:nvSpPr>
        <p:spPr/>
        <p:txBody>
          <a:bodyPr/>
          <a:lstStyle/>
          <a:p>
            <a:pPr algn="ctr"/>
            <a:r>
              <a:rPr lang="en-IN" dirty="0"/>
              <a:t>Expressibility of Quantum Circuits</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C3174ED0-FC1A-4284-84C5-DE8C735769A0}"/>
                  </a:ext>
                </a:extLst>
              </p:cNvPr>
              <p:cNvSpPr>
                <a:spLocks noGrp="1"/>
              </p:cNvSpPr>
              <p:nvPr>
                <p:ph idx="1"/>
              </p:nvPr>
            </p:nvSpPr>
            <p:spPr/>
            <p:txBody>
              <a:bodyPr>
                <a:normAutofit lnSpcReduction="10000"/>
              </a:bodyPr>
              <a:lstStyle/>
              <a:p>
                <a:pPr>
                  <a:buFont typeface="Arial" panose="020B0604020202020204" pitchFamily="34" charset="0"/>
                  <a:buChar char="•"/>
                </a:pPr>
                <a:r>
                  <a:rPr lang="en-US" b="1" dirty="0"/>
                  <a:t>Definition</a:t>
                </a:r>
                <a:endParaRPr lang="en-US" dirty="0"/>
              </a:p>
              <a:p>
                <a:pPr marL="742950" lvl="1" indent="-285750">
                  <a:buFont typeface="Arial" panose="020B0604020202020204" pitchFamily="34" charset="0"/>
                  <a:buChar char="•"/>
                </a:pPr>
                <a:r>
                  <a:rPr lang="en-US" dirty="0"/>
                  <a:t>Measures the ability of a variational circuit to approximate </a:t>
                </a:r>
                <a:r>
                  <a:rPr lang="en-US" i="1" dirty="0"/>
                  <a:t>any</a:t>
                </a:r>
                <a:r>
                  <a:rPr lang="en-US" dirty="0"/>
                  <a:t> quantum state in the Hilbert space</a:t>
                </a:r>
              </a:p>
              <a:p>
                <a:pPr marL="742950" lvl="1" indent="-285750">
                  <a:buFont typeface="Arial" panose="020B0604020202020204" pitchFamily="34" charset="0"/>
                  <a:buChar char="•"/>
                </a:pPr>
                <a:r>
                  <a:rPr lang="en-US" dirty="0"/>
                  <a:t>High expressibility → circuit can explore a large portion of state space</a:t>
                </a:r>
              </a:p>
              <a:p>
                <a:pPr>
                  <a:buFont typeface="Arial" panose="020B0604020202020204" pitchFamily="34" charset="0"/>
                  <a:buChar char="•"/>
                </a:pPr>
                <a:r>
                  <a:rPr lang="en-US" b="1" dirty="0"/>
                  <a:t>Why It Matters</a:t>
                </a:r>
                <a:endParaRPr lang="en-US" dirty="0"/>
              </a:p>
              <a:p>
                <a:pPr marL="742950" lvl="1" indent="-285750">
                  <a:buFont typeface="Arial" panose="020B0604020202020204" pitchFamily="34" charset="0"/>
                  <a:buChar char="•"/>
                </a:pPr>
                <a:r>
                  <a:rPr lang="en-US" dirty="0"/>
                  <a:t>Too low → under-parameterized, cannot represent target states</a:t>
                </a:r>
              </a:p>
              <a:p>
                <a:pPr marL="742950" lvl="1" indent="-285750">
                  <a:buFont typeface="Arial" panose="020B0604020202020204" pitchFamily="34" charset="0"/>
                  <a:buChar char="•"/>
                </a:pPr>
                <a:r>
                  <a:rPr lang="en-US" dirty="0"/>
                  <a:t>Too high → may suffer from barren plateaus and overfitting to noise</a:t>
                </a:r>
              </a:p>
              <a:p>
                <a:pPr>
                  <a:buFont typeface="Arial" panose="020B0604020202020204" pitchFamily="34" charset="0"/>
                  <a:buChar char="•"/>
                </a:pPr>
                <a:r>
                  <a:rPr lang="en-US" b="1" dirty="0"/>
                  <a:t>Key Drivers</a:t>
                </a:r>
                <a:endParaRPr lang="en-US" dirty="0"/>
              </a:p>
              <a:p>
                <a:pPr marL="742950" lvl="1" indent="-285750">
                  <a:buFont typeface="Arial" panose="020B0604020202020204" pitchFamily="34" charset="0"/>
                  <a:buChar char="•"/>
                </a:pPr>
                <a:r>
                  <a:rPr lang="en-US" dirty="0"/>
                  <a:t>Number of qubits (n): larger n ⇒ exponentially larger space</a:t>
                </a:r>
              </a:p>
              <a:p>
                <a:pPr marL="742950" lvl="1" indent="-285750">
                  <a:buFont typeface="Arial" panose="020B0604020202020204" pitchFamily="34" charset="0"/>
                  <a:buChar char="•"/>
                </a:pPr>
                <a:r>
                  <a:rPr lang="en-US" dirty="0"/>
                  <a:t>Circuit depth (d): more layers ⇒ more parameters ⇒ higher expressibility</a:t>
                </a:r>
              </a:p>
              <a:p>
                <a:pPr marL="742950" lvl="1" indent="-285750">
                  <a:buFont typeface="Arial" panose="020B0604020202020204" pitchFamily="34" charset="0"/>
                  <a:buChar char="•"/>
                </a:pPr>
                <a:r>
                  <a:rPr lang="en-US" dirty="0"/>
                  <a:t>Gate set diversity: mixing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𝑥</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𝑦</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𝑧</m:t>
                        </m:r>
                      </m:sub>
                    </m:sSub>
                  </m:oMath>
                </a14:m>
                <a:r>
                  <a:rPr lang="en-US" dirty="0"/>
                  <a:t> and entanglers increases coverage</a:t>
                </a:r>
              </a:p>
              <a:p>
                <a:endParaRPr lang="en-IN" dirty="0"/>
              </a:p>
              <a:p>
                <a:endParaRPr lang="en-IN" dirty="0"/>
              </a:p>
            </p:txBody>
          </p:sp>
        </mc:Choice>
        <mc:Fallback xmlns="">
          <p:sp>
            <p:nvSpPr>
              <p:cNvPr id="7" name="Content Placeholder 6">
                <a:extLst>
                  <a:ext uri="{FF2B5EF4-FFF2-40B4-BE49-F238E27FC236}">
                    <a16:creationId xmlns:a16="http://schemas.microsoft.com/office/drawing/2014/main" id="{C3174ED0-FC1A-4284-84C5-DE8C735769A0}"/>
                  </a:ext>
                </a:extLst>
              </p:cNvPr>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en-IN">
                    <a:noFill/>
                  </a:rPr>
                  <a:t> </a:t>
                </a:r>
              </a:p>
            </p:txBody>
          </p:sp>
        </mc:Fallback>
      </mc:AlternateContent>
      <p:sp>
        <p:nvSpPr>
          <p:cNvPr id="5" name="Slide Number Placeholder 4">
            <a:extLst>
              <a:ext uri="{FF2B5EF4-FFF2-40B4-BE49-F238E27FC236}">
                <a16:creationId xmlns:a16="http://schemas.microsoft.com/office/drawing/2014/main" id="{D982C4F9-7991-4847-BC3E-73DF239CC27C}"/>
              </a:ext>
            </a:extLst>
          </p:cNvPr>
          <p:cNvSpPr>
            <a:spLocks noGrp="1"/>
          </p:cNvSpPr>
          <p:nvPr>
            <p:ph type="sldNum" sz="quarter" idx="12"/>
          </p:nvPr>
        </p:nvSpPr>
        <p:spPr/>
        <p:txBody>
          <a:bodyPr/>
          <a:lstStyle/>
          <a:p>
            <a:fld id="{F9AA3F58-F348-4ACC-AF27-6630C1E91C9F}" type="slidenum">
              <a:rPr lang="en-IN" smtClean="0"/>
              <a:t>33</a:t>
            </a:fld>
            <a:endParaRPr lang="en-IN" dirty="0"/>
          </a:p>
        </p:txBody>
      </p:sp>
    </p:spTree>
    <p:extLst>
      <p:ext uri="{BB962C8B-B14F-4D97-AF65-F5344CB8AC3E}">
        <p14:creationId xmlns:p14="http://schemas.microsoft.com/office/powerpoint/2010/main" val="12951243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F682A09-3A9F-455A-B89A-94FB0CF05BC0}"/>
              </a:ext>
            </a:extLst>
          </p:cNvPr>
          <p:cNvSpPr>
            <a:spLocks noGrp="1"/>
          </p:cNvSpPr>
          <p:nvPr>
            <p:ph type="title"/>
          </p:nvPr>
        </p:nvSpPr>
        <p:spPr/>
        <p:txBody>
          <a:bodyPr/>
          <a:lstStyle/>
          <a:p>
            <a:pPr algn="ctr"/>
            <a:r>
              <a:rPr lang="en-IN" dirty="0"/>
              <a:t>Expressibility of Quantum Circuits</a:t>
            </a:r>
          </a:p>
        </p:txBody>
      </p:sp>
      <p:sp>
        <p:nvSpPr>
          <p:cNvPr id="4" name="Slide Number Placeholder 3">
            <a:extLst>
              <a:ext uri="{FF2B5EF4-FFF2-40B4-BE49-F238E27FC236}">
                <a16:creationId xmlns:a16="http://schemas.microsoft.com/office/drawing/2014/main" id="{690AA48E-3D1A-4F9A-B43B-B614E64E1E3F}"/>
              </a:ext>
            </a:extLst>
          </p:cNvPr>
          <p:cNvSpPr>
            <a:spLocks noGrp="1"/>
          </p:cNvSpPr>
          <p:nvPr>
            <p:ph type="sldNum" sz="quarter" idx="12"/>
          </p:nvPr>
        </p:nvSpPr>
        <p:spPr/>
        <p:txBody>
          <a:bodyPr/>
          <a:lstStyle/>
          <a:p>
            <a:fld id="{F9AA3F58-F348-4ACC-AF27-6630C1E91C9F}" type="slidenum">
              <a:rPr lang="en-IN" smtClean="0"/>
              <a:pPr/>
              <a:t>34</a:t>
            </a:fld>
            <a:endParaRPr lang="en-IN" dirty="0"/>
          </a:p>
        </p:txBody>
      </p:sp>
      <p:pic>
        <p:nvPicPr>
          <p:cNvPr id="8" name="Content Placeholder 11">
            <a:extLst>
              <a:ext uri="{FF2B5EF4-FFF2-40B4-BE49-F238E27FC236}">
                <a16:creationId xmlns:a16="http://schemas.microsoft.com/office/drawing/2014/main" id="{E6A36292-BC00-4BEB-A71F-4718FF5E5D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8188" y="2273253"/>
            <a:ext cx="4763082" cy="2660577"/>
          </a:xfrm>
          <a:prstGeom prst="rect">
            <a:avLst/>
          </a:prstGeom>
        </p:spPr>
      </p:pic>
      <p:pic>
        <p:nvPicPr>
          <p:cNvPr id="9" name="Content Placeholder 9">
            <a:extLst>
              <a:ext uri="{FF2B5EF4-FFF2-40B4-BE49-F238E27FC236}">
                <a16:creationId xmlns:a16="http://schemas.microsoft.com/office/drawing/2014/main" id="{7C240E31-7480-4C5F-A5B3-0EEBA3A4D1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730" y="2273253"/>
            <a:ext cx="4758755" cy="2660577"/>
          </a:xfrm>
          <a:prstGeom prst="rect">
            <a:avLst/>
          </a:prstGeom>
        </p:spPr>
      </p:pic>
    </p:spTree>
    <p:extLst>
      <p:ext uri="{BB962C8B-B14F-4D97-AF65-F5344CB8AC3E}">
        <p14:creationId xmlns:p14="http://schemas.microsoft.com/office/powerpoint/2010/main" val="25681535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F682A09-3A9F-455A-B89A-94FB0CF05BC0}"/>
              </a:ext>
            </a:extLst>
          </p:cNvPr>
          <p:cNvSpPr>
            <a:spLocks noGrp="1"/>
          </p:cNvSpPr>
          <p:nvPr>
            <p:ph type="title"/>
          </p:nvPr>
        </p:nvSpPr>
        <p:spPr/>
        <p:txBody>
          <a:bodyPr/>
          <a:lstStyle/>
          <a:p>
            <a:pPr algn="ctr"/>
            <a:r>
              <a:rPr lang="en-IN" dirty="0"/>
              <a:t>Expressibility of Quantum Circuits</a:t>
            </a:r>
          </a:p>
        </p:txBody>
      </p:sp>
      <p:sp>
        <p:nvSpPr>
          <p:cNvPr id="2" name="Text Placeholder 1">
            <a:extLst>
              <a:ext uri="{FF2B5EF4-FFF2-40B4-BE49-F238E27FC236}">
                <a16:creationId xmlns:a16="http://schemas.microsoft.com/office/drawing/2014/main" id="{2A9A6FEA-36B0-4100-9B92-B712BB87F3B6}"/>
              </a:ext>
            </a:extLst>
          </p:cNvPr>
          <p:cNvSpPr>
            <a:spLocks noGrp="1"/>
          </p:cNvSpPr>
          <p:nvPr>
            <p:ph type="body" idx="1"/>
          </p:nvPr>
        </p:nvSpPr>
        <p:spPr/>
        <p:txBody>
          <a:bodyPr/>
          <a:lstStyle/>
          <a:p>
            <a:pPr algn="ctr"/>
            <a:r>
              <a:rPr lang="en-US" dirty="0"/>
              <a:t>Bloch Sphere for Circuit A</a:t>
            </a:r>
          </a:p>
          <a:p>
            <a:pPr algn="ctr"/>
            <a:endParaRPr lang="en-IN" dirty="0"/>
          </a:p>
        </p:txBody>
      </p:sp>
      <p:pic>
        <p:nvPicPr>
          <p:cNvPr id="13" name="Content Placeholder 12">
            <a:extLst>
              <a:ext uri="{FF2B5EF4-FFF2-40B4-BE49-F238E27FC236}">
                <a16:creationId xmlns:a16="http://schemas.microsoft.com/office/drawing/2014/main" id="{6DD988AD-6507-44A4-93EC-E7F3F262EC97}"/>
              </a:ext>
            </a:extLst>
          </p:cNvPr>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1603594" y="2646581"/>
            <a:ext cx="3630175" cy="3401575"/>
          </a:xfrm>
        </p:spPr>
      </p:pic>
      <p:sp>
        <p:nvSpPr>
          <p:cNvPr id="6" name="Text Placeholder 5">
            <a:extLst>
              <a:ext uri="{FF2B5EF4-FFF2-40B4-BE49-F238E27FC236}">
                <a16:creationId xmlns:a16="http://schemas.microsoft.com/office/drawing/2014/main" id="{D5941672-88AC-4663-AE87-56B61CC4A1CC}"/>
              </a:ext>
            </a:extLst>
          </p:cNvPr>
          <p:cNvSpPr>
            <a:spLocks noGrp="1"/>
          </p:cNvSpPr>
          <p:nvPr>
            <p:ph type="body" sz="quarter" idx="3"/>
          </p:nvPr>
        </p:nvSpPr>
        <p:spPr/>
        <p:txBody>
          <a:bodyPr/>
          <a:lstStyle/>
          <a:p>
            <a:pPr algn="ctr"/>
            <a:r>
              <a:rPr lang="en-US" dirty="0"/>
              <a:t>Bloch Sphere for Circuit B</a:t>
            </a:r>
          </a:p>
          <a:p>
            <a:pPr algn="ctr"/>
            <a:endParaRPr lang="en-IN" dirty="0"/>
          </a:p>
        </p:txBody>
      </p:sp>
      <p:pic>
        <p:nvPicPr>
          <p:cNvPr id="11" name="Content Placeholder 10">
            <a:extLst>
              <a:ext uri="{FF2B5EF4-FFF2-40B4-BE49-F238E27FC236}">
                <a16:creationId xmlns:a16="http://schemas.microsoft.com/office/drawing/2014/main" id="{9EB5472F-B93E-4C6A-A46A-7CB79D15A40A}"/>
              </a:ext>
            </a:extLst>
          </p:cNvPr>
          <p:cNvPicPr>
            <a:picLocks noGrp="1" noChangeAspect="1"/>
          </p:cNvPicPr>
          <p:nvPr>
            <p:ph sz="quarter" idx="4"/>
          </p:nvPr>
        </p:nvPicPr>
        <p:blipFill>
          <a:blip r:embed="rId3" cstate="print">
            <a:extLst>
              <a:ext uri="{28A0092B-C50C-407E-A947-70E740481C1C}">
                <a14:useLocalDpi xmlns:a14="http://schemas.microsoft.com/office/drawing/2010/main" val="0"/>
              </a:ext>
            </a:extLst>
          </a:blip>
          <a:stretch>
            <a:fillRect/>
          </a:stretch>
        </p:blipFill>
        <p:spPr>
          <a:xfrm>
            <a:off x="6947182" y="2646581"/>
            <a:ext cx="3633223" cy="3401575"/>
          </a:xfrm>
        </p:spPr>
      </p:pic>
      <p:sp>
        <p:nvSpPr>
          <p:cNvPr id="4" name="Slide Number Placeholder 3">
            <a:extLst>
              <a:ext uri="{FF2B5EF4-FFF2-40B4-BE49-F238E27FC236}">
                <a16:creationId xmlns:a16="http://schemas.microsoft.com/office/drawing/2014/main" id="{690AA48E-3D1A-4F9A-B43B-B614E64E1E3F}"/>
              </a:ext>
            </a:extLst>
          </p:cNvPr>
          <p:cNvSpPr>
            <a:spLocks noGrp="1"/>
          </p:cNvSpPr>
          <p:nvPr>
            <p:ph type="sldNum" sz="quarter" idx="12"/>
          </p:nvPr>
        </p:nvSpPr>
        <p:spPr/>
        <p:txBody>
          <a:bodyPr/>
          <a:lstStyle/>
          <a:p>
            <a:fld id="{F9AA3F58-F348-4ACC-AF27-6630C1E91C9F}" type="slidenum">
              <a:rPr lang="en-IN" smtClean="0"/>
              <a:pPr/>
              <a:t>35</a:t>
            </a:fld>
            <a:endParaRPr lang="en-IN" dirty="0"/>
          </a:p>
        </p:txBody>
      </p:sp>
    </p:spTree>
    <p:extLst>
      <p:ext uri="{BB962C8B-B14F-4D97-AF65-F5344CB8AC3E}">
        <p14:creationId xmlns:p14="http://schemas.microsoft.com/office/powerpoint/2010/main" val="1277317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845DC5B-1218-4D13-ADBC-E70F94D94E13}"/>
              </a:ext>
            </a:extLst>
          </p:cNvPr>
          <p:cNvSpPr>
            <a:spLocks noGrp="1"/>
          </p:cNvSpPr>
          <p:nvPr>
            <p:ph type="title"/>
          </p:nvPr>
        </p:nvSpPr>
        <p:spPr/>
        <p:txBody>
          <a:bodyPr/>
          <a:lstStyle/>
          <a:p>
            <a:pPr algn="ctr"/>
            <a:r>
              <a:rPr lang="en-US" dirty="0"/>
              <a:t>Entangling Capability of Quantum Circuits</a:t>
            </a:r>
            <a:endParaRPr lang="en-IN" dirty="0"/>
          </a:p>
        </p:txBody>
      </p:sp>
      <p:sp>
        <p:nvSpPr>
          <p:cNvPr id="9" name="Content Placeholder 8">
            <a:extLst>
              <a:ext uri="{FF2B5EF4-FFF2-40B4-BE49-F238E27FC236}">
                <a16:creationId xmlns:a16="http://schemas.microsoft.com/office/drawing/2014/main" id="{20FE98C0-55F8-40F6-A367-5C50E46BC0EA}"/>
              </a:ext>
            </a:extLst>
          </p:cNvPr>
          <p:cNvSpPr>
            <a:spLocks noGrp="1"/>
          </p:cNvSpPr>
          <p:nvPr>
            <p:ph idx="1"/>
          </p:nvPr>
        </p:nvSpPr>
        <p:spPr/>
        <p:txBody>
          <a:bodyPr>
            <a:normAutofit lnSpcReduction="10000"/>
          </a:bodyPr>
          <a:lstStyle/>
          <a:p>
            <a:pPr>
              <a:buFont typeface="Arial" panose="020B0604020202020204" pitchFamily="34" charset="0"/>
              <a:buChar char="•"/>
            </a:pPr>
            <a:r>
              <a:rPr lang="en-IN" b="1" dirty="0"/>
              <a:t>Definition</a:t>
            </a:r>
            <a:endParaRPr lang="en-IN" dirty="0"/>
          </a:p>
          <a:p>
            <a:pPr marL="742950" lvl="1" indent="-285750">
              <a:buFont typeface="Arial" panose="020B0604020202020204" pitchFamily="34" charset="0"/>
              <a:buChar char="•"/>
            </a:pPr>
            <a:r>
              <a:rPr lang="en-IN" dirty="0"/>
              <a:t>Circuit’s ability to generate multi-qubit entanglement from product (unentangled) inputs</a:t>
            </a:r>
          </a:p>
          <a:p>
            <a:pPr marL="742950" lvl="1" indent="-285750">
              <a:buFont typeface="Arial" panose="020B0604020202020204" pitchFamily="34" charset="0"/>
              <a:buChar char="•"/>
            </a:pPr>
            <a:r>
              <a:rPr lang="en-IN" dirty="0"/>
              <a:t>Fundamental for quantum advantage in ML and optimization</a:t>
            </a:r>
          </a:p>
          <a:p>
            <a:pPr>
              <a:buFont typeface="Arial" panose="020B0604020202020204" pitchFamily="34" charset="0"/>
              <a:buChar char="•"/>
            </a:pPr>
            <a:r>
              <a:rPr lang="en-IN" b="1" dirty="0"/>
              <a:t>Why It Matters</a:t>
            </a:r>
            <a:endParaRPr lang="en-IN" dirty="0"/>
          </a:p>
          <a:p>
            <a:pPr marL="742950" lvl="1" indent="-285750">
              <a:buFont typeface="Arial" panose="020B0604020202020204" pitchFamily="34" charset="0"/>
              <a:buChar char="•"/>
            </a:pPr>
            <a:r>
              <a:rPr lang="en-IN" dirty="0"/>
              <a:t>Insufficient entanglement → circuit behaves classically</a:t>
            </a:r>
          </a:p>
          <a:p>
            <a:pPr marL="742950" lvl="1" indent="-285750">
              <a:buFont typeface="Arial" panose="020B0604020202020204" pitchFamily="34" charset="0"/>
              <a:buChar char="•"/>
            </a:pPr>
            <a:r>
              <a:rPr lang="en-IN" dirty="0"/>
              <a:t>Excessive entanglement can exacerbate noise sensitivity</a:t>
            </a:r>
          </a:p>
          <a:p>
            <a:pPr>
              <a:buFont typeface="Arial" panose="020B0604020202020204" pitchFamily="34" charset="0"/>
              <a:buChar char="•"/>
            </a:pPr>
            <a:r>
              <a:rPr lang="en-IN" b="1" dirty="0"/>
              <a:t>Circuit Features</a:t>
            </a:r>
            <a:endParaRPr lang="en-IN" dirty="0"/>
          </a:p>
          <a:p>
            <a:pPr marL="742950" lvl="1" indent="-285750">
              <a:buFont typeface="Arial" panose="020B0604020202020204" pitchFamily="34" charset="0"/>
              <a:buChar char="•"/>
            </a:pPr>
            <a:r>
              <a:rPr lang="en-IN" dirty="0"/>
              <a:t>Placement of two-qubit gates (e.g., CNOT, CZ)</a:t>
            </a:r>
          </a:p>
          <a:p>
            <a:pPr marL="742950" lvl="1" indent="-285750">
              <a:buFont typeface="Arial" panose="020B0604020202020204" pitchFamily="34" charset="0"/>
              <a:buChar char="•"/>
            </a:pPr>
            <a:r>
              <a:rPr lang="en-IN" dirty="0"/>
              <a:t>Connectivity graph (linear vs. full entanglement)</a:t>
            </a:r>
          </a:p>
          <a:p>
            <a:pPr marL="742950" lvl="1" indent="-285750">
              <a:buFont typeface="Arial" panose="020B0604020202020204" pitchFamily="34" charset="0"/>
              <a:buChar char="•"/>
            </a:pPr>
            <a:r>
              <a:rPr lang="en-IN" dirty="0"/>
              <a:t>Number of entangling layers</a:t>
            </a:r>
          </a:p>
          <a:p>
            <a:endParaRPr lang="en-IN" dirty="0"/>
          </a:p>
          <a:p>
            <a:endParaRPr lang="en-IN" dirty="0"/>
          </a:p>
        </p:txBody>
      </p:sp>
      <p:sp>
        <p:nvSpPr>
          <p:cNvPr id="7" name="Slide Number Placeholder 6">
            <a:extLst>
              <a:ext uri="{FF2B5EF4-FFF2-40B4-BE49-F238E27FC236}">
                <a16:creationId xmlns:a16="http://schemas.microsoft.com/office/drawing/2014/main" id="{C61D4F7C-E972-4FA8-A731-B5766623582B}"/>
              </a:ext>
            </a:extLst>
          </p:cNvPr>
          <p:cNvSpPr>
            <a:spLocks noGrp="1"/>
          </p:cNvSpPr>
          <p:nvPr>
            <p:ph type="sldNum" sz="quarter" idx="12"/>
          </p:nvPr>
        </p:nvSpPr>
        <p:spPr/>
        <p:txBody>
          <a:bodyPr/>
          <a:lstStyle/>
          <a:p>
            <a:fld id="{F9AA3F58-F348-4ACC-AF27-6630C1E91C9F}" type="slidenum">
              <a:rPr lang="en-IN" smtClean="0"/>
              <a:t>36</a:t>
            </a:fld>
            <a:endParaRPr lang="en-IN"/>
          </a:p>
        </p:txBody>
      </p:sp>
    </p:spTree>
    <p:extLst>
      <p:ext uri="{BB962C8B-B14F-4D97-AF65-F5344CB8AC3E}">
        <p14:creationId xmlns:p14="http://schemas.microsoft.com/office/powerpoint/2010/main" val="11210106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CBCA1-0167-46DA-BC61-0586AC28B39E}"/>
              </a:ext>
            </a:extLst>
          </p:cNvPr>
          <p:cNvSpPr>
            <a:spLocks noGrp="1"/>
          </p:cNvSpPr>
          <p:nvPr>
            <p:ph type="title"/>
          </p:nvPr>
        </p:nvSpPr>
        <p:spPr/>
        <p:txBody>
          <a:bodyPr/>
          <a:lstStyle/>
          <a:p>
            <a:pPr algn="ctr"/>
            <a:r>
              <a:rPr lang="en-IN" b="1" dirty="0"/>
              <a:t>Measuring Entangling Capability</a:t>
            </a:r>
            <a:endParaRPr lang="en-IN" dirty="0"/>
          </a:p>
        </p:txBody>
      </p:sp>
      <p:graphicFrame>
        <p:nvGraphicFramePr>
          <p:cNvPr id="4" name="Table 4">
            <a:extLst>
              <a:ext uri="{FF2B5EF4-FFF2-40B4-BE49-F238E27FC236}">
                <a16:creationId xmlns:a16="http://schemas.microsoft.com/office/drawing/2014/main" id="{F48B5B48-3299-40A5-8273-4E408AB5B1EA}"/>
              </a:ext>
            </a:extLst>
          </p:cNvPr>
          <p:cNvGraphicFramePr>
            <a:graphicFrameLocks noGrp="1"/>
          </p:cNvGraphicFramePr>
          <p:nvPr>
            <p:ph idx="1"/>
            <p:extLst>
              <p:ext uri="{D42A27DB-BD31-4B8C-83A1-F6EECF244321}">
                <p14:modId xmlns:p14="http://schemas.microsoft.com/office/powerpoint/2010/main" val="2488173429"/>
              </p:ext>
            </p:extLst>
          </p:nvPr>
        </p:nvGraphicFramePr>
        <p:xfrm>
          <a:off x="838200" y="1825625"/>
          <a:ext cx="10515600" cy="3089884"/>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190419610"/>
                    </a:ext>
                  </a:extLst>
                </a:gridCol>
                <a:gridCol w="2103120">
                  <a:extLst>
                    <a:ext uri="{9D8B030D-6E8A-4147-A177-3AD203B41FA5}">
                      <a16:colId xmlns:a16="http://schemas.microsoft.com/office/drawing/2014/main" val="4273619029"/>
                    </a:ext>
                  </a:extLst>
                </a:gridCol>
                <a:gridCol w="2103120">
                  <a:extLst>
                    <a:ext uri="{9D8B030D-6E8A-4147-A177-3AD203B41FA5}">
                      <a16:colId xmlns:a16="http://schemas.microsoft.com/office/drawing/2014/main" val="842900794"/>
                    </a:ext>
                  </a:extLst>
                </a:gridCol>
                <a:gridCol w="2103120">
                  <a:extLst>
                    <a:ext uri="{9D8B030D-6E8A-4147-A177-3AD203B41FA5}">
                      <a16:colId xmlns:a16="http://schemas.microsoft.com/office/drawing/2014/main" val="1287304565"/>
                    </a:ext>
                  </a:extLst>
                </a:gridCol>
                <a:gridCol w="2103120">
                  <a:extLst>
                    <a:ext uri="{9D8B030D-6E8A-4147-A177-3AD203B41FA5}">
                      <a16:colId xmlns:a16="http://schemas.microsoft.com/office/drawing/2014/main" val="1662976460"/>
                    </a:ext>
                  </a:extLst>
                </a:gridCol>
              </a:tblGrid>
              <a:tr h="424102">
                <a:tc>
                  <a:txBody>
                    <a:bodyPr/>
                    <a:lstStyle/>
                    <a:p>
                      <a:r>
                        <a:rPr lang="en-IN" sz="1400" dirty="0"/>
                        <a:t>Measure</a:t>
                      </a:r>
                    </a:p>
                  </a:txBody>
                  <a:tcPr anchor="ctr"/>
                </a:tc>
                <a:tc>
                  <a:txBody>
                    <a:bodyPr/>
                    <a:lstStyle/>
                    <a:p>
                      <a:r>
                        <a:rPr lang="en-US" sz="1400" dirty="0"/>
                        <a:t>What It Tells You</a:t>
                      </a:r>
                    </a:p>
                  </a:txBody>
                  <a:tcPr anchor="ctr"/>
                </a:tc>
                <a:tc>
                  <a:txBody>
                    <a:bodyPr/>
                    <a:lstStyle/>
                    <a:p>
                      <a:r>
                        <a:rPr lang="en-IN" sz="1400"/>
                        <a:t>How You Measure It</a:t>
                      </a:r>
                    </a:p>
                  </a:txBody>
                  <a:tcPr anchor="ctr"/>
                </a:tc>
                <a:tc>
                  <a:txBody>
                    <a:bodyPr/>
                    <a:lstStyle/>
                    <a:p>
                      <a:r>
                        <a:rPr lang="en-IN" sz="1400"/>
                        <a:t>Good For</a:t>
                      </a:r>
                    </a:p>
                  </a:txBody>
                  <a:tcPr anchor="ctr"/>
                </a:tc>
                <a:tc>
                  <a:txBody>
                    <a:bodyPr/>
                    <a:lstStyle/>
                    <a:p>
                      <a:r>
                        <a:rPr lang="en-IN" sz="1400"/>
                        <a:t>Limitations</a:t>
                      </a:r>
                    </a:p>
                  </a:txBody>
                  <a:tcPr anchor="ctr"/>
                </a:tc>
                <a:extLst>
                  <a:ext uri="{0D108BD9-81ED-4DB2-BD59-A6C34878D82A}">
                    <a16:rowId xmlns:a16="http://schemas.microsoft.com/office/drawing/2014/main" val="948124753"/>
                  </a:ext>
                </a:extLst>
              </a:tr>
              <a:tr h="1514649">
                <a:tc>
                  <a:txBody>
                    <a:bodyPr/>
                    <a:lstStyle/>
                    <a:p>
                      <a:r>
                        <a:rPr lang="en-IN" sz="1400"/>
                        <a:t>Entanglement Entropy</a:t>
                      </a:r>
                    </a:p>
                  </a:txBody>
                  <a:tcPr anchor="ctr"/>
                </a:tc>
                <a:tc>
                  <a:txBody>
                    <a:bodyPr/>
                    <a:lstStyle/>
                    <a:p>
                      <a:r>
                        <a:rPr lang="en-US" sz="1400"/>
                        <a:t>How “mixed up” two chunks of your qubits get together</a:t>
                      </a:r>
                    </a:p>
                  </a:txBody>
                  <a:tcPr anchor="ctr"/>
                </a:tc>
                <a:tc>
                  <a:txBody>
                    <a:bodyPr/>
                    <a:lstStyle/>
                    <a:p>
                      <a:r>
                        <a:rPr lang="en-US" sz="1400"/>
                        <a:t>Cut the qubits into two groups, compute the “surprise” in one group when you ignore the other (von Neumann entropy)</a:t>
                      </a:r>
                    </a:p>
                  </a:txBody>
                  <a:tcPr anchor="ctr"/>
                </a:tc>
                <a:tc>
                  <a:txBody>
                    <a:bodyPr/>
                    <a:lstStyle/>
                    <a:p>
                      <a:r>
                        <a:rPr lang="en-US" sz="1400"/>
                        <a:t>Gauging overall “connectedness” between halves</a:t>
                      </a:r>
                    </a:p>
                  </a:txBody>
                  <a:tcPr anchor="ctr"/>
                </a:tc>
                <a:tc>
                  <a:txBody>
                    <a:bodyPr/>
                    <a:lstStyle/>
                    <a:p>
                      <a:r>
                        <a:rPr lang="en-US" sz="1400"/>
                        <a:t>Gets hard to calculate as qubit number grows; depends on where you cut</a:t>
                      </a:r>
                    </a:p>
                  </a:txBody>
                  <a:tcPr anchor="ctr"/>
                </a:tc>
                <a:extLst>
                  <a:ext uri="{0D108BD9-81ED-4DB2-BD59-A6C34878D82A}">
                    <a16:rowId xmlns:a16="http://schemas.microsoft.com/office/drawing/2014/main" val="1184228978"/>
                  </a:ext>
                </a:extLst>
              </a:tr>
              <a:tr h="1151133">
                <a:tc>
                  <a:txBody>
                    <a:bodyPr/>
                    <a:lstStyle/>
                    <a:p>
                      <a:r>
                        <a:rPr lang="en-IN" sz="1400"/>
                        <a:t>Meyer–Wallach Q-Measure</a:t>
                      </a:r>
                    </a:p>
                  </a:txBody>
                  <a:tcPr anchor="ctr"/>
                </a:tc>
                <a:tc>
                  <a:txBody>
                    <a:bodyPr/>
                    <a:lstStyle/>
                    <a:p>
                      <a:r>
                        <a:rPr lang="en-US" sz="1400"/>
                        <a:t>How much each qubit is sharing information with the rest</a:t>
                      </a:r>
                    </a:p>
                  </a:txBody>
                  <a:tcPr anchor="ctr"/>
                </a:tc>
                <a:tc>
                  <a:txBody>
                    <a:bodyPr/>
                    <a:lstStyle/>
                    <a:p>
                      <a:r>
                        <a:rPr lang="en-US" sz="1400"/>
                        <a:t>For each qubit, see how “pure” it is by itself (trace of squared reduced state), average across all qubits</a:t>
                      </a:r>
                    </a:p>
                  </a:txBody>
                  <a:tcPr anchor="ctr"/>
                </a:tc>
                <a:tc>
                  <a:txBody>
                    <a:bodyPr/>
                    <a:lstStyle/>
                    <a:p>
                      <a:r>
                        <a:rPr lang="en-US" sz="1400" dirty="0"/>
                        <a:t>Quick check of global entanglement strength</a:t>
                      </a:r>
                    </a:p>
                  </a:txBody>
                  <a:tcPr anchor="ctr"/>
                </a:tc>
                <a:tc>
                  <a:txBody>
                    <a:bodyPr/>
                    <a:lstStyle/>
                    <a:p>
                      <a:r>
                        <a:rPr lang="en-US" sz="1400" dirty="0"/>
                        <a:t>Doesn’t say which qubits are talking to which; misses detailed structure</a:t>
                      </a:r>
                    </a:p>
                  </a:txBody>
                  <a:tcPr anchor="ctr"/>
                </a:tc>
                <a:extLst>
                  <a:ext uri="{0D108BD9-81ED-4DB2-BD59-A6C34878D82A}">
                    <a16:rowId xmlns:a16="http://schemas.microsoft.com/office/drawing/2014/main" val="4028417134"/>
                  </a:ext>
                </a:extLst>
              </a:tr>
            </a:tbl>
          </a:graphicData>
        </a:graphic>
      </p:graphicFrame>
      <p:sp>
        <p:nvSpPr>
          <p:cNvPr id="3" name="Slide Number Placeholder 2">
            <a:extLst>
              <a:ext uri="{FF2B5EF4-FFF2-40B4-BE49-F238E27FC236}">
                <a16:creationId xmlns:a16="http://schemas.microsoft.com/office/drawing/2014/main" id="{1F17522E-A80A-4776-A98E-7755A0B833F2}"/>
              </a:ext>
            </a:extLst>
          </p:cNvPr>
          <p:cNvSpPr>
            <a:spLocks noGrp="1"/>
          </p:cNvSpPr>
          <p:nvPr>
            <p:ph type="sldNum" sz="quarter" idx="12"/>
          </p:nvPr>
        </p:nvSpPr>
        <p:spPr/>
        <p:txBody>
          <a:bodyPr/>
          <a:lstStyle/>
          <a:p>
            <a:fld id="{F9AA3F58-F348-4ACC-AF27-6630C1E91C9F}" type="slidenum">
              <a:rPr lang="en-IN" smtClean="0"/>
              <a:pPr/>
              <a:t>37</a:t>
            </a:fld>
            <a:endParaRPr lang="en-IN" dirty="0"/>
          </a:p>
        </p:txBody>
      </p:sp>
    </p:spTree>
    <p:extLst>
      <p:ext uri="{BB962C8B-B14F-4D97-AF65-F5344CB8AC3E}">
        <p14:creationId xmlns:p14="http://schemas.microsoft.com/office/powerpoint/2010/main" val="25776241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0CF84-7307-4DFF-8B28-B265BD7E049C}"/>
              </a:ext>
            </a:extLst>
          </p:cNvPr>
          <p:cNvSpPr>
            <a:spLocks noGrp="1"/>
          </p:cNvSpPr>
          <p:nvPr>
            <p:ph type="title"/>
          </p:nvPr>
        </p:nvSpPr>
        <p:spPr/>
        <p:txBody>
          <a:bodyPr/>
          <a:lstStyle/>
          <a:p>
            <a:pPr algn="ctr"/>
            <a:r>
              <a:rPr lang="en-IN" b="1" dirty="0"/>
              <a:t>Designing the Ansatz</a:t>
            </a:r>
          </a:p>
        </p:txBody>
      </p:sp>
      <p:sp>
        <p:nvSpPr>
          <p:cNvPr id="3" name="Content Placeholder 2">
            <a:extLst>
              <a:ext uri="{FF2B5EF4-FFF2-40B4-BE49-F238E27FC236}">
                <a16:creationId xmlns:a16="http://schemas.microsoft.com/office/drawing/2014/main" id="{15E07F3A-6ACE-4CE7-B307-0E9CDEBDCDEE}"/>
              </a:ext>
            </a:extLst>
          </p:cNvPr>
          <p:cNvSpPr>
            <a:spLocks noGrp="1"/>
          </p:cNvSpPr>
          <p:nvPr>
            <p:ph idx="1"/>
          </p:nvPr>
        </p:nvSpPr>
        <p:spPr/>
        <p:txBody>
          <a:bodyPr>
            <a:normAutofit fontScale="92500" lnSpcReduction="20000"/>
          </a:bodyPr>
          <a:lstStyle/>
          <a:p>
            <a:pPr marL="514350" indent="-514350">
              <a:buFont typeface="+mj-lt"/>
              <a:buAutoNum type="arabicPeriod"/>
            </a:pPr>
            <a:r>
              <a:rPr lang="en-IN" b="1" dirty="0"/>
              <a:t>Hardware-Efficient Ansatz</a:t>
            </a:r>
          </a:p>
          <a:p>
            <a:pPr marL="914400" lvl="1" indent="-457200">
              <a:buFont typeface="+mj-lt"/>
              <a:buAutoNum type="arabicPeriod"/>
            </a:pPr>
            <a:r>
              <a:rPr lang="en-IN" dirty="0"/>
              <a:t>Shallow circuits matched to device topology</a:t>
            </a:r>
          </a:p>
          <a:p>
            <a:pPr marL="914400" lvl="1" indent="-457200">
              <a:buFont typeface="+mj-lt"/>
              <a:buAutoNum type="arabicPeriod"/>
            </a:pPr>
            <a:r>
              <a:rPr lang="en-IN" dirty="0"/>
              <a:t>Layers of native gates (e.g. repeated RX–RZ rotations + CNOT pairs)</a:t>
            </a:r>
          </a:p>
          <a:p>
            <a:pPr marL="914400" lvl="1" indent="-457200">
              <a:buFont typeface="+mj-lt"/>
              <a:buAutoNum type="arabicPeriod"/>
            </a:pPr>
            <a:r>
              <a:rPr lang="en-IN" dirty="0"/>
              <a:t>Low depth → less noise accumulation</a:t>
            </a:r>
          </a:p>
          <a:p>
            <a:pPr marL="914400" lvl="1" indent="-457200">
              <a:buFont typeface="+mj-lt"/>
              <a:buAutoNum type="arabicPeriod"/>
            </a:pPr>
            <a:r>
              <a:rPr lang="en-IN" dirty="0"/>
              <a:t>Limited expressibility for complex problems</a:t>
            </a:r>
          </a:p>
          <a:p>
            <a:pPr marL="457200" indent="-457200">
              <a:buFont typeface="+mj-lt"/>
              <a:buAutoNum type="arabicPeriod"/>
            </a:pPr>
            <a:r>
              <a:rPr lang="en-IN" b="1" dirty="0"/>
              <a:t>Problem-Inspired Ansatz</a:t>
            </a:r>
          </a:p>
          <a:p>
            <a:pPr marL="971550" lvl="1" indent="-514350">
              <a:buFont typeface="+mj-lt"/>
              <a:buAutoNum type="arabicPeriod"/>
            </a:pPr>
            <a:r>
              <a:rPr lang="en-IN" dirty="0"/>
              <a:t>Structure reflects problem Hamiltonian or symmetries. </a:t>
            </a:r>
          </a:p>
          <a:p>
            <a:pPr marL="971550" lvl="1" indent="-514350">
              <a:buFont typeface="+mj-lt"/>
              <a:buAutoNum type="arabicPeriod"/>
            </a:pPr>
            <a:r>
              <a:rPr lang="en-IN" dirty="0"/>
              <a:t>Captures domain-specific features efficiently</a:t>
            </a:r>
          </a:p>
          <a:p>
            <a:pPr marL="971550" lvl="1" indent="-514350">
              <a:buFont typeface="+mj-lt"/>
              <a:buAutoNum type="arabicPeriod"/>
            </a:pPr>
            <a:r>
              <a:rPr lang="en-IN" dirty="0"/>
              <a:t>Often deeper → more noise, device-dependent</a:t>
            </a:r>
          </a:p>
          <a:p>
            <a:pPr marL="514350" indent="-514350">
              <a:buFont typeface="+mj-lt"/>
              <a:buAutoNum type="arabicPeriod"/>
            </a:pPr>
            <a:r>
              <a:rPr lang="en-IN" b="1" dirty="0"/>
              <a:t>Expressibility vs. Trainability Trade-Off</a:t>
            </a:r>
          </a:p>
          <a:p>
            <a:pPr marL="971550" lvl="1" indent="-514350">
              <a:buFont typeface="+mj-lt"/>
              <a:buAutoNum type="arabicPeriod"/>
            </a:pPr>
            <a:r>
              <a:rPr lang="en-IN" dirty="0"/>
              <a:t>Trainability: ease of optimizing parameters (avoiding barren plateaus)</a:t>
            </a:r>
          </a:p>
          <a:p>
            <a:pPr marL="971550" lvl="1" indent="-514350">
              <a:buFont typeface="+mj-lt"/>
              <a:buAutoNum type="arabicPeriod"/>
            </a:pPr>
            <a:r>
              <a:rPr lang="en-IN" dirty="0"/>
              <a:t>High expressibility → risk of barren plateaus (flat gradients)</a:t>
            </a:r>
          </a:p>
          <a:p>
            <a:pPr marL="971550" lvl="1" indent="-514350">
              <a:buFont typeface="+mj-lt"/>
              <a:buAutoNum type="arabicPeriod"/>
            </a:pPr>
            <a:r>
              <a:rPr lang="en-IN" dirty="0"/>
              <a:t>Shallow, constrained ansatz → easier training but less flexible</a:t>
            </a:r>
          </a:p>
        </p:txBody>
      </p:sp>
      <p:sp>
        <p:nvSpPr>
          <p:cNvPr id="4" name="Slide Number Placeholder 3">
            <a:extLst>
              <a:ext uri="{FF2B5EF4-FFF2-40B4-BE49-F238E27FC236}">
                <a16:creationId xmlns:a16="http://schemas.microsoft.com/office/drawing/2014/main" id="{2D931A49-122A-4FDF-BDBB-B479EE2CF4DB}"/>
              </a:ext>
            </a:extLst>
          </p:cNvPr>
          <p:cNvSpPr>
            <a:spLocks noGrp="1"/>
          </p:cNvSpPr>
          <p:nvPr>
            <p:ph type="sldNum" sz="quarter" idx="12"/>
          </p:nvPr>
        </p:nvSpPr>
        <p:spPr/>
        <p:txBody>
          <a:bodyPr/>
          <a:lstStyle/>
          <a:p>
            <a:fld id="{F9AA3F58-F348-4ACC-AF27-6630C1E91C9F}" type="slidenum">
              <a:rPr lang="en-IN" smtClean="0"/>
              <a:pPr/>
              <a:t>38</a:t>
            </a:fld>
            <a:endParaRPr lang="en-IN" dirty="0"/>
          </a:p>
        </p:txBody>
      </p:sp>
    </p:spTree>
    <p:extLst>
      <p:ext uri="{BB962C8B-B14F-4D97-AF65-F5344CB8AC3E}">
        <p14:creationId xmlns:p14="http://schemas.microsoft.com/office/powerpoint/2010/main" val="24105898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4BB1C-C6AB-43BE-AA1A-17E1818FA4F1}"/>
              </a:ext>
            </a:extLst>
          </p:cNvPr>
          <p:cNvSpPr>
            <a:spLocks noGrp="1"/>
          </p:cNvSpPr>
          <p:nvPr>
            <p:ph type="title"/>
          </p:nvPr>
        </p:nvSpPr>
        <p:spPr/>
        <p:txBody>
          <a:bodyPr/>
          <a:lstStyle/>
          <a:p>
            <a:pPr algn="ctr"/>
            <a:r>
              <a:rPr lang="en-IN" b="1" dirty="0"/>
              <a:t>Gradient Computation in QML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7B525B-0914-44BE-9A35-7B8F5D2CD097}"/>
                  </a:ext>
                </a:extLst>
              </p:cNvPr>
              <p:cNvSpPr>
                <a:spLocks noGrp="1"/>
              </p:cNvSpPr>
              <p:nvPr>
                <p:ph idx="1"/>
              </p:nvPr>
            </p:nvSpPr>
            <p:spPr/>
            <p:txBody>
              <a:bodyPr>
                <a:normAutofit fontScale="85000" lnSpcReduction="10000"/>
              </a:bodyPr>
              <a:lstStyle/>
              <a:p>
                <a:r>
                  <a:rPr lang="en-IN" b="1" dirty="0"/>
                  <a:t>Why You Can’t Use Backprop Directly</a:t>
                </a:r>
                <a:endParaRPr lang="en-IN" dirty="0"/>
              </a:p>
              <a:p>
                <a:pPr lvl="1"/>
                <a:r>
                  <a:rPr lang="en-US" b="1" dirty="0"/>
                  <a:t>Quantum measurements disturb the system:</a:t>
                </a:r>
                <a:r>
                  <a:rPr lang="en-US" dirty="0"/>
                  <a:t> Unlike classical neural nets, we can’t peek inside a quantum circuit without collapsing its state.</a:t>
                </a:r>
              </a:p>
              <a:p>
                <a:pPr lvl="1"/>
                <a:r>
                  <a:rPr lang="en-US" b="1" dirty="0"/>
                  <a:t>No “inside-the-circuit” values:</a:t>
                </a:r>
                <a:r>
                  <a:rPr lang="en-US" dirty="0"/>
                  <a:t> Backprop needs intermediate values (activations) to flow gradients backwards, quantum hardware only gives us final measurement results.</a:t>
                </a:r>
              </a:p>
              <a:p>
                <a:pPr lvl="1"/>
                <a:r>
                  <a:rPr lang="en-US" b="1" dirty="0"/>
                  <a:t>Probabilistic outputs:</a:t>
                </a:r>
                <a:r>
                  <a:rPr lang="en-US" dirty="0"/>
                  <a:t> Each run returns a random bit-string sample; we need many runs to estimate expectations, so classical gradient tricks don’t apply straight away.</a:t>
                </a:r>
              </a:p>
              <a:p>
                <a:r>
                  <a:rPr lang="en-IN" b="1" dirty="0"/>
                  <a:t>Parameter-Shift Rule</a:t>
                </a:r>
                <a:endParaRPr lang="en-IN" dirty="0"/>
              </a:p>
              <a:p>
                <a:pPr lvl="1"/>
                <a:r>
                  <a:rPr lang="en-IN" dirty="0"/>
                  <a:t>A gradient estimator requiring only two circuit evaluations per parameter</a:t>
                </a:r>
              </a:p>
              <a:p>
                <a:pPr lvl="1"/>
                <a:r>
                  <a:rPr lang="en-IN" dirty="0"/>
                  <a:t>For a gate </a:t>
                </a:r>
                <a14:m>
                  <m:oMath xmlns:m="http://schemas.openxmlformats.org/officeDocument/2006/math">
                    <m:r>
                      <a:rPr lang="en-US" b="0" i="1" smtClean="0">
                        <a:latin typeface="Cambria Math" panose="02040503050406030204" pitchFamily="18" charset="0"/>
                      </a:rPr>
                      <m:t>𝑈</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𝑖</m:t>
                            </m:r>
                            <m:r>
                              <a:rPr lang="en-US" b="0" i="1" smtClean="0">
                                <a:latin typeface="Cambria Math" panose="02040503050406030204" pitchFamily="18" charset="0"/>
                              </a:rPr>
                              <m:t>𝜃</m:t>
                            </m:r>
                          </m:num>
                          <m:den>
                            <m:r>
                              <a:rPr lang="en-US" b="0" i="1" smtClean="0">
                                <a:latin typeface="Cambria Math" panose="02040503050406030204" pitchFamily="18" charset="0"/>
                              </a:rPr>
                              <m:t>2</m:t>
                            </m:r>
                          </m:den>
                        </m:f>
                        <m:r>
                          <a:rPr lang="en-US" b="0" i="1" smtClean="0">
                            <a:latin typeface="Cambria Math" panose="02040503050406030204" pitchFamily="18" charset="0"/>
                          </a:rPr>
                          <m:t>𝑃</m:t>
                        </m:r>
                      </m:sup>
                    </m:sSup>
                  </m:oMath>
                </a14:m>
                <a:r>
                  <a:rPr lang="en-IN" dirty="0"/>
                  <a:t>,</a:t>
                </a:r>
              </a:p>
              <a:p>
                <a:pPr marL="457200" lvl="1" indent="0">
                  <a:buNone/>
                </a:pPr>
                <a14:m>
                  <m:oMathPara xmlns:m="http://schemas.openxmlformats.org/officeDocument/2006/math">
                    <m:oMathParaPr>
                      <m:jc m:val="centerGroup"/>
                    </m:oMathParaPr>
                    <m:oMath xmlns:m="http://schemas.openxmlformats.org/officeDocument/2006/math">
                      <m:f>
                        <m:fPr>
                          <m:ctrlPr>
                            <a:rPr lang="en-IN" i="1" smtClean="0">
                              <a:latin typeface="Cambria Math" panose="02040503050406030204" pitchFamily="18" charset="0"/>
                            </a:rPr>
                          </m:ctrlPr>
                        </m:fPr>
                        <m:num>
                          <m:r>
                            <a:rPr lang="en-IN" i="1" smtClean="0">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𝑂</m:t>
                          </m:r>
                          <m:r>
                            <a:rPr lang="en-US" b="0" i="1" smtClean="0">
                              <a:latin typeface="Cambria Math" panose="02040503050406030204" pitchFamily="18" charset="0"/>
                            </a:rPr>
                            <m:t>⟩</m:t>
                          </m:r>
                        </m:num>
                        <m:den>
                          <m:r>
                            <a:rPr lang="en-IN" i="1" smtClean="0">
                              <a:latin typeface="Cambria Math" panose="02040503050406030204" pitchFamily="18" charset="0"/>
                            </a:rPr>
                            <m:t>𝜕</m:t>
                          </m:r>
                          <m:r>
                            <a:rPr lang="en-US" b="0" i="1" smtClean="0">
                              <a:latin typeface="Cambria Math" panose="02040503050406030204" pitchFamily="18" charset="0"/>
                            </a:rPr>
                            <m:t>𝜃</m:t>
                          </m:r>
                        </m:den>
                      </m:f>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b>
                        <m:sSubPr>
                          <m:ctrlPr>
                            <a:rPr lang="en-US" b="0" i="1" smtClean="0">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𝑂</m:t>
                          </m:r>
                          <m:r>
                            <a:rPr lang="en-US" i="1">
                              <a:latin typeface="Cambria Math" panose="02040503050406030204" pitchFamily="18" charset="0"/>
                            </a:rPr>
                            <m:t>⟩</m:t>
                          </m:r>
                        </m:e>
                        <m:sub>
                          <m:r>
                            <a:rPr lang="en-US" b="0" i="1" smtClean="0">
                              <a:latin typeface="Cambria Math" panose="02040503050406030204" pitchFamily="18" charset="0"/>
                            </a:rPr>
                            <m:t>𝜃</m:t>
                          </m:r>
                          <m:r>
                            <a:rPr lang="en-US" b="0" i="1" smtClean="0">
                              <a:latin typeface="Cambria Math" panose="02040503050406030204" pitchFamily="18" charset="0"/>
                            </a:rPr>
                            <m:t>+ </m:t>
                          </m:r>
                          <m:f>
                            <m:fPr>
                              <m:type m:val="lin"/>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2</m:t>
                              </m:r>
                            </m:den>
                          </m:f>
                        </m:sub>
                      </m:sSub>
                      <m:r>
                        <a:rPr lang="en-US" b="0" i="1" smtClean="0">
                          <a:latin typeface="Cambria Math" panose="02040503050406030204" pitchFamily="18" charset="0"/>
                        </a:rPr>
                        <m:t> −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𝑂</m:t>
                          </m:r>
                          <m:r>
                            <a:rPr lang="en-US" b="0" i="1" smtClean="0">
                              <a:latin typeface="Cambria Math" panose="02040503050406030204" pitchFamily="18" charset="0"/>
                            </a:rPr>
                            <m:t>⟩</m:t>
                          </m:r>
                        </m:e>
                        <m:sub>
                          <m:r>
                            <a:rPr lang="en-US" b="0" i="1" smtClean="0">
                              <a:latin typeface="Cambria Math" panose="02040503050406030204" pitchFamily="18" charset="0"/>
                            </a:rPr>
                            <m:t>𝜃</m:t>
                          </m:r>
                          <m:r>
                            <a:rPr lang="en-US" b="0" i="1" smtClean="0">
                              <a:latin typeface="Cambria Math" panose="02040503050406030204" pitchFamily="18" charset="0"/>
                            </a:rPr>
                            <m:t>−</m:t>
                          </m:r>
                          <m:f>
                            <m:fPr>
                              <m:type m:val="lin"/>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2</m:t>
                              </m:r>
                            </m:den>
                          </m:f>
                        </m:sub>
                      </m:sSub>
                    </m:oMath>
                  </m:oMathPara>
                </a14:m>
                <a:endParaRPr lang="el-GR" dirty="0"/>
              </a:p>
              <a:p>
                <a:pPr lvl="1"/>
                <a:r>
                  <a:rPr lang="en-IN" dirty="0"/>
                  <a:t>No need for finite-difference approximations → exact gradient in ideal case</a:t>
                </a:r>
              </a:p>
              <a:p>
                <a:pPr lvl="1"/>
                <a:r>
                  <a:rPr lang="en-IN" dirty="0"/>
                  <a:t>Easily extends to multi-parameter ansatz and hybrid optimization loops</a:t>
                </a:r>
              </a:p>
              <a:p>
                <a:endParaRPr lang="en-IN" dirty="0"/>
              </a:p>
            </p:txBody>
          </p:sp>
        </mc:Choice>
        <mc:Fallback xmlns="">
          <p:sp>
            <p:nvSpPr>
              <p:cNvPr id="3" name="Content Placeholder 2">
                <a:extLst>
                  <a:ext uri="{FF2B5EF4-FFF2-40B4-BE49-F238E27FC236}">
                    <a16:creationId xmlns:a16="http://schemas.microsoft.com/office/drawing/2014/main" id="{877B525B-0914-44BE-9A35-7B8F5D2CD097}"/>
                  </a:ext>
                </a:extLst>
              </p:cNvPr>
              <p:cNvSpPr>
                <a:spLocks noGrp="1" noRot="1" noChangeAspect="1" noMove="1" noResize="1" noEditPoints="1" noAdjustHandles="1" noChangeArrowheads="1" noChangeShapeType="1" noTextEdit="1"/>
              </p:cNvSpPr>
              <p:nvPr>
                <p:ph idx="1"/>
              </p:nvPr>
            </p:nvSpPr>
            <p:spPr>
              <a:blipFill>
                <a:blip r:embed="rId2"/>
                <a:stretch>
                  <a:fillRect l="-812" t="-2661" b="-1821"/>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5B34A64B-52F2-430C-B179-F674DDB28301}"/>
              </a:ext>
            </a:extLst>
          </p:cNvPr>
          <p:cNvSpPr>
            <a:spLocks noGrp="1"/>
          </p:cNvSpPr>
          <p:nvPr>
            <p:ph type="sldNum" sz="quarter" idx="12"/>
          </p:nvPr>
        </p:nvSpPr>
        <p:spPr/>
        <p:txBody>
          <a:bodyPr/>
          <a:lstStyle/>
          <a:p>
            <a:fld id="{F9AA3F58-F348-4ACC-AF27-6630C1E91C9F}" type="slidenum">
              <a:rPr lang="en-IN" smtClean="0"/>
              <a:pPr/>
              <a:t>39</a:t>
            </a:fld>
            <a:endParaRPr lang="en-IN" dirty="0"/>
          </a:p>
        </p:txBody>
      </p:sp>
    </p:spTree>
    <p:extLst>
      <p:ext uri="{BB962C8B-B14F-4D97-AF65-F5344CB8AC3E}">
        <p14:creationId xmlns:p14="http://schemas.microsoft.com/office/powerpoint/2010/main" val="9445723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BD053-7CAC-4D9F-B41A-DD5E0C8F18EC}"/>
              </a:ext>
            </a:extLst>
          </p:cNvPr>
          <p:cNvSpPr>
            <a:spLocks noGrp="1"/>
          </p:cNvSpPr>
          <p:nvPr>
            <p:ph type="title"/>
          </p:nvPr>
        </p:nvSpPr>
        <p:spPr/>
        <p:txBody>
          <a:bodyPr/>
          <a:lstStyle/>
          <a:p>
            <a:pPr algn="ctr"/>
            <a:r>
              <a:rPr lang="en-US" b="1" dirty="0"/>
              <a:t>Parameter Shift Rule</a:t>
            </a:r>
            <a:endParaRPr lang="en-IN" b="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C6C93C-93BB-4453-A295-CE852E084A14}"/>
                  </a:ext>
                </a:extLst>
              </p:cNvPr>
              <p:cNvSpPr>
                <a:spLocks noGrp="1"/>
              </p:cNvSpPr>
              <p:nvPr>
                <p:ph idx="1"/>
              </p:nvPr>
            </p:nvSpPr>
            <p:spPr/>
            <p:txBody>
              <a:bodyPr>
                <a:normAutofit fontScale="92500" lnSpcReduction="10000"/>
              </a:bodyPr>
              <a:lstStyle/>
              <a:p>
                <a:r>
                  <a:rPr lang="en-US" dirty="0"/>
                  <a:t>Simple idea: To know how a parameter </a:t>
                </a:r>
                <a14:m>
                  <m:oMath xmlns:m="http://schemas.openxmlformats.org/officeDocument/2006/math">
                    <m:r>
                      <a:rPr lang="en-US" b="0" i="1" dirty="0" smtClean="0">
                        <a:latin typeface="Cambria Math" panose="02040503050406030204" pitchFamily="18" charset="0"/>
                      </a:rPr>
                      <m:t>𝜃</m:t>
                    </m:r>
                  </m:oMath>
                </a14:m>
                <a:r>
                  <a:rPr lang="en-US" dirty="0"/>
                  <a:t> affects the output, run the circuit twice, once with </a:t>
                </a:r>
                <a14:m>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𝛿</m:t>
                    </m:r>
                  </m:oMath>
                </a14:m>
                <a:r>
                  <a:rPr lang="en-US" dirty="0"/>
                  <a:t> and once with </a:t>
                </a:r>
                <a14:m>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𝛿</m:t>
                    </m:r>
                  </m:oMath>
                </a14:m>
                <a:r>
                  <a:rPr lang="en-US" dirty="0"/>
                  <a:t>, and compare results.</a:t>
                </a:r>
              </a:p>
              <a:p>
                <a:r>
                  <a:rPr lang="en-US" dirty="0"/>
                  <a:t>Finite differences but exact: Choosing </a:t>
                </a:r>
                <a14:m>
                  <m:oMath xmlns:m="http://schemas.openxmlformats.org/officeDocument/2006/math">
                    <m:r>
                      <a:rPr lang="en-US" b="0" i="1" smtClean="0">
                        <a:latin typeface="Cambria Math" panose="02040503050406030204" pitchFamily="18" charset="0"/>
                      </a:rPr>
                      <m:t>𝛿</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2</m:t>
                        </m:r>
                      </m:den>
                    </m:f>
                  </m:oMath>
                </a14:m>
                <a:r>
                  <a:rPr lang="en-US" dirty="0"/>
                  <a:t> (for gates like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𝑧</m:t>
                        </m:r>
                      </m:sub>
                    </m:sSub>
                  </m:oMath>
                </a14:m>
                <a:r>
                  <a:rPr lang="en-US" dirty="0"/>
                  <a:t>) gives an exact gradient formula without numerical error.</a:t>
                </a:r>
              </a:p>
              <a:p>
                <a:r>
                  <a:rPr lang="en-US" dirty="0"/>
                  <a:t>Why it works: Quantum gates are rotations; shifting the rotation angle by </a:t>
                </a:r>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2</m:t>
                        </m:r>
                      </m:den>
                    </m:f>
                    <m:r>
                      <a:rPr lang="en-US" b="0" i="1" smtClean="0">
                        <a:latin typeface="Cambria Math" panose="02040503050406030204" pitchFamily="18" charset="0"/>
                      </a:rPr>
                      <m:t> </m:t>
                    </m:r>
                  </m:oMath>
                </a14:m>
                <a:r>
                  <a:rPr lang="en-US" dirty="0"/>
                  <a:t> and averaging corresponds exactly to the derivative.</a:t>
                </a:r>
              </a:p>
              <a:p>
                <a:r>
                  <a:rPr lang="en-US" dirty="0"/>
                  <a:t>In practice:</a:t>
                </a:r>
              </a:p>
              <a:p>
                <a:pPr lvl="1"/>
                <a:r>
                  <a:rPr lang="en-US" dirty="0"/>
                  <a:t>Run circuit with </a:t>
                </a:r>
                <a14:m>
                  <m:oMath xmlns:m="http://schemas.openxmlformats.org/officeDocument/2006/math">
                    <m:r>
                      <a:rPr lang="en-US" b="0" i="1" dirty="0" smtClean="0">
                        <a:latin typeface="Cambria Math" panose="02040503050406030204" pitchFamily="18" charset="0"/>
                      </a:rPr>
                      <m:t>𝜃</m:t>
                    </m:r>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𝜋</m:t>
                        </m:r>
                      </m:num>
                      <m:den>
                        <m:r>
                          <a:rPr lang="en-US" b="0" i="1" dirty="0" smtClean="0">
                            <a:latin typeface="Cambria Math" panose="02040503050406030204" pitchFamily="18" charset="0"/>
                          </a:rPr>
                          <m:t>2</m:t>
                        </m:r>
                      </m:den>
                    </m:f>
                    <m:r>
                      <a:rPr lang="en-US" i="1" dirty="0" smtClean="0">
                        <a:latin typeface="Cambria Math" panose="02040503050406030204" pitchFamily="18" charset="0"/>
                      </a:rPr>
                      <m:t> </m:t>
                    </m:r>
                  </m:oMath>
                </a14:m>
                <a:r>
                  <a:rPr lang="en-US" dirty="0"/>
                  <a:t>→ get expectation value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m:t>
                        </m:r>
                      </m:sub>
                    </m:sSub>
                  </m:oMath>
                </a14:m>
                <a:endParaRPr lang="en-US" dirty="0"/>
              </a:p>
              <a:p>
                <a:pPr lvl="1"/>
                <a:r>
                  <a:rPr lang="en-US" dirty="0"/>
                  <a:t>Run circuit with </a:t>
                </a:r>
                <a14:m>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2</m:t>
                        </m:r>
                      </m:den>
                    </m:f>
                  </m:oMath>
                </a14:m>
                <a:r>
                  <a:rPr lang="en-US" dirty="0"/>
                  <a:t> → get expectation value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m:t>
                        </m:r>
                      </m:sub>
                    </m:sSub>
                  </m:oMath>
                </a14:m>
                <a:endParaRPr lang="en-US" dirty="0"/>
              </a:p>
              <a:p>
                <a:pPr lvl="1"/>
                <a:r>
                  <a:rPr lang="en-US" dirty="0"/>
                  <a:t>Compute gradient </a:t>
                </a:r>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m:t>
                                </m:r>
                              </m:sub>
                            </m:sSub>
                          </m:e>
                        </m:d>
                      </m:num>
                      <m:den>
                        <m:r>
                          <a:rPr lang="en-US" b="0" i="1" smtClean="0">
                            <a:latin typeface="Cambria Math" panose="02040503050406030204" pitchFamily="18" charset="0"/>
                          </a:rPr>
                          <m:t>2</m:t>
                        </m:r>
                      </m:den>
                    </m:f>
                  </m:oMath>
                </a14:m>
                <a:endParaRPr lang="en-IN" dirty="0"/>
              </a:p>
            </p:txBody>
          </p:sp>
        </mc:Choice>
        <mc:Fallback xmlns="">
          <p:sp>
            <p:nvSpPr>
              <p:cNvPr id="3" name="Content Placeholder 2">
                <a:extLst>
                  <a:ext uri="{FF2B5EF4-FFF2-40B4-BE49-F238E27FC236}">
                    <a16:creationId xmlns:a16="http://schemas.microsoft.com/office/drawing/2014/main" id="{87C6C93C-93BB-4453-A295-CE852E084A14}"/>
                  </a:ext>
                </a:extLst>
              </p:cNvPr>
              <p:cNvSpPr>
                <a:spLocks noGrp="1" noRot="1" noChangeAspect="1" noMove="1" noResize="1" noEditPoints="1" noAdjustHandles="1" noChangeArrowheads="1" noChangeShapeType="1" noTextEdit="1"/>
              </p:cNvSpPr>
              <p:nvPr>
                <p:ph idx="1"/>
              </p:nvPr>
            </p:nvSpPr>
            <p:spPr>
              <a:blipFill>
                <a:blip r:embed="rId2"/>
                <a:stretch>
                  <a:fillRect l="-928" t="-2801" r="-696"/>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CF8E4CED-0E8F-4965-80F6-3DB54437C440}"/>
              </a:ext>
            </a:extLst>
          </p:cNvPr>
          <p:cNvSpPr>
            <a:spLocks noGrp="1"/>
          </p:cNvSpPr>
          <p:nvPr>
            <p:ph type="sldNum" sz="quarter" idx="12"/>
          </p:nvPr>
        </p:nvSpPr>
        <p:spPr/>
        <p:txBody>
          <a:bodyPr/>
          <a:lstStyle/>
          <a:p>
            <a:fld id="{F9AA3F58-F348-4ACC-AF27-6630C1E91C9F}" type="slidenum">
              <a:rPr lang="en-IN" smtClean="0"/>
              <a:pPr/>
              <a:t>40</a:t>
            </a:fld>
            <a:endParaRPr lang="en-IN" dirty="0"/>
          </a:p>
        </p:txBody>
      </p:sp>
    </p:spTree>
    <p:extLst>
      <p:ext uri="{BB962C8B-B14F-4D97-AF65-F5344CB8AC3E}">
        <p14:creationId xmlns:p14="http://schemas.microsoft.com/office/powerpoint/2010/main" val="2130578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508C5-2A27-4F2E-8350-83D5E05EFEFC}"/>
              </a:ext>
            </a:extLst>
          </p:cNvPr>
          <p:cNvSpPr>
            <a:spLocks noGrp="1"/>
          </p:cNvSpPr>
          <p:nvPr>
            <p:ph type="title"/>
          </p:nvPr>
        </p:nvSpPr>
        <p:spPr/>
        <p:txBody>
          <a:bodyPr/>
          <a:lstStyle/>
          <a:p>
            <a:pPr algn="ctr"/>
            <a:r>
              <a:rPr lang="en-IN" b="1" dirty="0"/>
              <a:t>QML Workflow Overview</a:t>
            </a:r>
            <a:endParaRPr lang="en-IN" dirty="0"/>
          </a:p>
        </p:txBody>
      </p:sp>
      <p:sp>
        <p:nvSpPr>
          <p:cNvPr id="3" name="Content Placeholder 2">
            <a:extLst>
              <a:ext uri="{FF2B5EF4-FFF2-40B4-BE49-F238E27FC236}">
                <a16:creationId xmlns:a16="http://schemas.microsoft.com/office/drawing/2014/main" id="{F11D5DE8-FDC0-4364-8AF0-D3859F2092E1}"/>
              </a:ext>
            </a:extLst>
          </p:cNvPr>
          <p:cNvSpPr>
            <a:spLocks noGrp="1"/>
          </p:cNvSpPr>
          <p:nvPr>
            <p:ph idx="1"/>
          </p:nvPr>
        </p:nvSpPr>
        <p:spPr/>
        <p:txBody>
          <a:bodyPr>
            <a:normAutofit/>
          </a:bodyPr>
          <a:lstStyle/>
          <a:p>
            <a:pPr marL="285750" indent="-285750"/>
            <a:r>
              <a:rPr lang="en-IN" b="1" dirty="0"/>
              <a:t>Data Loading</a:t>
            </a:r>
            <a:r>
              <a:rPr lang="en-IN" dirty="0"/>
              <a:t>: select features (e.g. two Iris flower measurements)</a:t>
            </a:r>
          </a:p>
          <a:p>
            <a:pPr marL="285750" indent="-285750"/>
            <a:r>
              <a:rPr lang="en-IN" b="1" dirty="0"/>
              <a:t>Quantum Encoding</a:t>
            </a:r>
            <a:r>
              <a:rPr lang="en-IN" dirty="0"/>
              <a:t>: angle‐encode each feature into qubit rotations (Rx(xᵢ))</a:t>
            </a:r>
          </a:p>
          <a:p>
            <a:pPr marL="285750" indent="-285750"/>
            <a:r>
              <a:rPr lang="en-IN" b="1" dirty="0"/>
              <a:t>Variational Circuit</a:t>
            </a:r>
            <a:r>
              <a:rPr lang="en-IN" dirty="0"/>
              <a:t>: entangle &amp; rotate qubits with trainable parameters </a:t>
            </a:r>
            <a:r>
              <a:rPr lang="el-GR" dirty="0"/>
              <a:t>θ</a:t>
            </a:r>
          </a:p>
          <a:p>
            <a:pPr marL="285750" indent="-285750"/>
            <a:r>
              <a:rPr lang="en-IN" b="1" dirty="0"/>
              <a:t>Measurement</a:t>
            </a:r>
            <a:r>
              <a:rPr lang="en-IN" dirty="0"/>
              <a:t>: expectation value per qubit → raw model outputs</a:t>
            </a:r>
          </a:p>
          <a:p>
            <a:pPr marL="285750" indent="-285750"/>
            <a:r>
              <a:rPr lang="en-IN" b="1" dirty="0"/>
              <a:t>Optimization Loop</a:t>
            </a:r>
            <a:r>
              <a:rPr lang="en-IN" dirty="0"/>
              <a:t>: classical optimizer (e.g. Adam) updates </a:t>
            </a:r>
            <a:r>
              <a:rPr lang="el-GR" dirty="0"/>
              <a:t>θ </a:t>
            </a:r>
            <a:r>
              <a:rPr lang="en-IN" dirty="0"/>
              <a:t>to minimize cost</a:t>
            </a:r>
          </a:p>
          <a:p>
            <a:endParaRPr lang="en-IN" dirty="0"/>
          </a:p>
        </p:txBody>
      </p:sp>
      <p:sp>
        <p:nvSpPr>
          <p:cNvPr id="4" name="Slide Number Placeholder 3">
            <a:extLst>
              <a:ext uri="{FF2B5EF4-FFF2-40B4-BE49-F238E27FC236}">
                <a16:creationId xmlns:a16="http://schemas.microsoft.com/office/drawing/2014/main" id="{5A60E49C-7F73-44DA-8B37-55FB9E62370C}"/>
              </a:ext>
            </a:extLst>
          </p:cNvPr>
          <p:cNvSpPr>
            <a:spLocks noGrp="1"/>
          </p:cNvSpPr>
          <p:nvPr>
            <p:ph type="sldNum" sz="quarter" idx="12"/>
          </p:nvPr>
        </p:nvSpPr>
        <p:spPr/>
        <p:txBody>
          <a:bodyPr/>
          <a:lstStyle/>
          <a:p>
            <a:fld id="{F9AA3F58-F348-4ACC-AF27-6630C1E91C9F}" type="slidenum">
              <a:rPr lang="en-IN" smtClean="0"/>
              <a:pPr/>
              <a:t>41</a:t>
            </a:fld>
            <a:endParaRPr lang="en-IN" dirty="0"/>
          </a:p>
        </p:txBody>
      </p:sp>
    </p:spTree>
    <p:extLst>
      <p:ext uri="{BB962C8B-B14F-4D97-AF65-F5344CB8AC3E}">
        <p14:creationId xmlns:p14="http://schemas.microsoft.com/office/powerpoint/2010/main" val="16993643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27FDA-B879-4D38-BA7B-64D127205E31}"/>
              </a:ext>
            </a:extLst>
          </p:cNvPr>
          <p:cNvSpPr>
            <a:spLocks noGrp="1"/>
          </p:cNvSpPr>
          <p:nvPr>
            <p:ph type="title"/>
          </p:nvPr>
        </p:nvSpPr>
        <p:spPr/>
        <p:txBody>
          <a:bodyPr/>
          <a:lstStyle/>
          <a:p>
            <a:pPr algn="ctr"/>
            <a:r>
              <a:rPr lang="en-US" b="1" dirty="0"/>
              <a:t>Classical ML vs Quantum ML</a:t>
            </a:r>
            <a:endParaRPr lang="en-IN" b="1" dirty="0"/>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9B51BF88-0323-4DAA-9728-2190CBF25653}"/>
                  </a:ext>
                </a:extLst>
              </p:cNvPr>
              <p:cNvGraphicFramePr>
                <a:graphicFrameLocks noGrp="1"/>
              </p:cNvGraphicFramePr>
              <p:nvPr>
                <p:ph idx="1"/>
                <p:extLst>
                  <p:ext uri="{D42A27DB-BD31-4B8C-83A1-F6EECF244321}">
                    <p14:modId xmlns:p14="http://schemas.microsoft.com/office/powerpoint/2010/main" val="3656577462"/>
                  </p:ext>
                </p:extLst>
              </p:nvPr>
            </p:nvGraphicFramePr>
            <p:xfrm>
              <a:off x="838200" y="1825625"/>
              <a:ext cx="10515600" cy="4638366"/>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1808596254"/>
                        </a:ext>
                      </a:extLst>
                    </a:gridCol>
                    <a:gridCol w="3505200">
                      <a:extLst>
                        <a:ext uri="{9D8B030D-6E8A-4147-A177-3AD203B41FA5}">
                          <a16:colId xmlns:a16="http://schemas.microsoft.com/office/drawing/2014/main" val="2826705932"/>
                        </a:ext>
                      </a:extLst>
                    </a:gridCol>
                    <a:gridCol w="3505200">
                      <a:extLst>
                        <a:ext uri="{9D8B030D-6E8A-4147-A177-3AD203B41FA5}">
                          <a16:colId xmlns:a16="http://schemas.microsoft.com/office/drawing/2014/main" val="3882128787"/>
                        </a:ext>
                      </a:extLst>
                    </a:gridCol>
                  </a:tblGrid>
                  <a:tr h="267007">
                    <a:tc>
                      <a:txBody>
                        <a:bodyPr/>
                        <a:lstStyle/>
                        <a:p>
                          <a:pPr algn="just"/>
                          <a:r>
                            <a:rPr lang="en-IN" sz="1600" b="1" dirty="0"/>
                            <a:t>Algo</a:t>
                          </a:r>
                          <a:endParaRPr lang="en-IN" sz="1600" dirty="0"/>
                        </a:p>
                      </a:txBody>
                      <a:tcPr anchor="ctr"/>
                    </a:tc>
                    <a:tc>
                      <a:txBody>
                        <a:bodyPr/>
                        <a:lstStyle/>
                        <a:p>
                          <a:pPr algn="just"/>
                          <a:r>
                            <a:rPr lang="en-IN" sz="1600" b="1"/>
                            <a:t>Classical Time-Complexity</a:t>
                          </a:r>
                          <a:endParaRPr lang="en-IN" sz="1600"/>
                        </a:p>
                      </a:txBody>
                      <a:tcPr anchor="ctr"/>
                    </a:tc>
                    <a:tc>
                      <a:txBody>
                        <a:bodyPr/>
                        <a:lstStyle/>
                        <a:p>
                          <a:pPr algn="just"/>
                          <a:r>
                            <a:rPr lang="en-IN" sz="1600" b="1"/>
                            <a:t>Quantum Time-Complexity</a:t>
                          </a:r>
                          <a:endParaRPr lang="en-IN" sz="1600"/>
                        </a:p>
                      </a:txBody>
                      <a:tcPr anchor="ctr"/>
                    </a:tc>
                    <a:extLst>
                      <a:ext uri="{0D108BD9-81ED-4DB2-BD59-A6C34878D82A}">
                        <a16:rowId xmlns:a16="http://schemas.microsoft.com/office/drawing/2014/main" val="2300488277"/>
                      </a:ext>
                    </a:extLst>
                  </a:tr>
                  <a:tr h="855884">
                    <a:tc>
                      <a:txBody>
                        <a:bodyPr/>
                        <a:lstStyle/>
                        <a:p>
                          <a:pPr algn="just"/>
                          <a:r>
                            <a:rPr lang="en-IN" sz="1600" b="1"/>
                            <a:t>Least-Squares / Linear Regression</a:t>
                          </a:r>
                          <a:endParaRPr lang="en-IN" sz="1600"/>
                        </a:p>
                      </a:txBody>
                      <a:tcPr anchor="ctr"/>
                    </a:tc>
                    <a:tc>
                      <a:txBody>
                        <a:bodyPr/>
                        <a:lstStyle/>
                        <a:p>
                          <a:pPr algn="just"/>
                          <a:r>
                            <a:rPr lang="en-IN" sz="1600" dirty="0"/>
                            <a:t>O(N³) (dense Gaussian elimination) or ≈ O(N² log(1/</a:t>
                          </a:r>
                          <a:r>
                            <a:rPr lang="el-GR" sz="1600" dirty="0"/>
                            <a:t>ε)) </a:t>
                          </a:r>
                          <a:r>
                            <a:rPr lang="en-IN" sz="1600" dirty="0"/>
                            <a:t>for best classical iterative solvers</a:t>
                          </a:r>
                        </a:p>
                      </a:txBody>
                      <a:tcPr anchor="ctr"/>
                    </a:tc>
                    <a:tc>
                      <a:txBody>
                        <a:bodyPr/>
                        <a:lstStyle/>
                        <a:p>
                          <a:pPr algn="just"/>
                          <a:r>
                            <a:rPr lang="en-US" sz="1600" dirty="0"/>
                            <a:t>≈ O( log N · s² κ² / ε ) for an </a:t>
                          </a:r>
                          <a:r>
                            <a:rPr lang="en-US" sz="1600" i="1" dirty="0"/>
                            <a:t>s</a:t>
                          </a:r>
                          <a:r>
                            <a:rPr lang="en-US" sz="1600" dirty="0"/>
                            <a:t>-sparse, well-conditioned matrix using the HHL linear-system solver </a:t>
                          </a:r>
                        </a:p>
                      </a:txBody>
                      <a:tcPr anchor="ctr"/>
                    </a:tc>
                    <a:extLst>
                      <a:ext uri="{0D108BD9-81ED-4DB2-BD59-A6C34878D82A}">
                        <a16:rowId xmlns:a16="http://schemas.microsoft.com/office/drawing/2014/main" val="1883562393"/>
                      </a:ext>
                    </a:extLst>
                  </a:tr>
                  <a:tr h="658373">
                    <a:tc>
                      <a:txBody>
                        <a:bodyPr/>
                        <a:lstStyle/>
                        <a:p>
                          <a:pPr algn="just"/>
                          <a:r>
                            <a:rPr lang="en-IN" sz="1600" b="1"/>
                            <a:t>Principal Component Analysis (PCA)</a:t>
                          </a:r>
                          <a:endParaRPr lang="en-IN" sz="1600"/>
                        </a:p>
                      </a:txBody>
                      <a:tcPr anchor="ctr"/>
                    </a:tc>
                    <a:tc>
                      <a:txBody>
                        <a:bodyPr/>
                        <a:lstStyle/>
                        <a:p>
                          <a:pPr algn="just"/>
                          <a:r>
                            <a:rPr lang="pt-BR" sz="1600"/>
                            <a:t>O(N³) full SVD / O(N² log N) randomized low-rank SVD</a:t>
                          </a:r>
                        </a:p>
                      </a:txBody>
                      <a:tcPr anchor="ctr"/>
                    </a:tc>
                    <a:tc>
                      <a:txBody>
                        <a:bodyPr/>
                        <a:lstStyle/>
                        <a:p>
                          <a:pPr algn="just"/>
                          <a:r>
                            <a:rPr lang="pt-BR" sz="1600" dirty="0"/>
                            <a:t>≈ O( R log N ) for rank-</a:t>
                          </a:r>
                          <a:r>
                            <a:rPr lang="pt-BR" sz="1600" i="1" dirty="0"/>
                            <a:t>R</a:t>
                          </a:r>
                          <a:r>
                            <a:rPr lang="pt-BR" sz="1600" dirty="0"/>
                            <a:t> covariance encoded as a density matrix </a:t>
                          </a:r>
                        </a:p>
                      </a:txBody>
                      <a:tcPr anchor="ctr"/>
                    </a:tc>
                    <a:extLst>
                      <a:ext uri="{0D108BD9-81ED-4DB2-BD59-A6C34878D82A}">
                        <a16:rowId xmlns:a16="http://schemas.microsoft.com/office/drawing/2014/main" val="1503908921"/>
                      </a:ext>
                    </a:extLst>
                  </a:tr>
                  <a:tr h="855884">
                    <a:tc>
                      <a:txBody>
                        <a:bodyPr/>
                        <a:lstStyle/>
                        <a:p>
                          <a:pPr algn="just"/>
                          <a:r>
                            <a:rPr lang="en-IN" sz="1600" b="1"/>
                            <a:t>Kernel Support Vector Machine</a:t>
                          </a:r>
                          <a:endParaRPr lang="en-IN" sz="1600"/>
                        </a:p>
                      </a:txBody>
                      <a:tcPr anchor="ctr"/>
                    </a:tc>
                    <a:tc>
                      <a:txBody>
                        <a:bodyPr/>
                        <a:lstStyle/>
                        <a:p>
                          <a:pPr algn="just"/>
                          <a:r>
                            <a:rPr lang="en-US" sz="1600" dirty="0"/>
                            <a:t>Training: O(M²)–O(M³) (with </a:t>
                          </a:r>
                          <a:r>
                            <a:rPr lang="en-US" sz="1600" i="1" dirty="0"/>
                            <a:t>M</a:t>
                          </a:r>
                          <a:r>
                            <a:rPr lang="en-US" sz="1600" dirty="0"/>
                            <a:t> data points)</a:t>
                          </a:r>
                        </a:p>
                      </a:txBody>
                      <a:tcPr anchor="ctr"/>
                    </a:tc>
                    <a:tc>
                      <a:txBody>
                        <a:bodyPr/>
                        <a:lstStyle/>
                        <a:p>
                          <a:pPr algn="just"/>
                          <a:r>
                            <a:rPr lang="en-IN" sz="1600" dirty="0"/>
                            <a:t>Poly-logarithmic in </a:t>
                          </a:r>
                          <a:r>
                            <a:rPr lang="en-IN" sz="1600" i="1" dirty="0"/>
                            <a:t>M</a:t>
                          </a:r>
                          <a:r>
                            <a:rPr lang="en-IN" sz="1600" dirty="0"/>
                            <a:t> for hard-to-simulate quantum kernels (e.g., dual Q-SVM in Õ(M⁴·⁶⁷ / </a:t>
                          </a:r>
                          <a:r>
                            <a:rPr lang="el-GR" sz="1600" dirty="0"/>
                            <a:t>ε²) </a:t>
                          </a:r>
                          <a:r>
                            <a:rPr lang="en-IN" sz="1600" dirty="0"/>
                            <a:t>circuit calls) </a:t>
                          </a:r>
                        </a:p>
                      </a:txBody>
                      <a:tcPr anchor="ctr"/>
                    </a:tc>
                    <a:extLst>
                      <a:ext uri="{0D108BD9-81ED-4DB2-BD59-A6C34878D82A}">
                        <a16:rowId xmlns:a16="http://schemas.microsoft.com/office/drawing/2014/main" val="3632957211"/>
                      </a:ext>
                    </a:extLst>
                  </a:tr>
                  <a:tr h="658373">
                    <a:tc>
                      <a:txBody>
                        <a:bodyPr/>
                        <a:lstStyle/>
                        <a:p>
                          <a:pPr algn="just"/>
                          <a:r>
                            <a:rPr lang="en-IN" sz="1600" b="1" dirty="0"/>
                            <a:t>k-Means Clustering</a:t>
                          </a:r>
                          <a:endParaRPr lang="en-IN" sz="1600" dirty="0"/>
                        </a:p>
                      </a:txBody>
                      <a:tcPr anchor="ctr"/>
                    </a:tc>
                    <a:tc>
                      <a:txBody>
                        <a:bodyPr/>
                        <a:lstStyle/>
                        <a:p>
                          <a:pPr algn="just"/>
                          <a:r>
                            <a:rPr lang="pt-BR" sz="1600"/>
                            <a:t>O(k N d · iter) (distance calc dominates)</a:t>
                          </a:r>
                        </a:p>
                      </a:txBody>
                      <a:tcPr anchor="ctr"/>
                    </a:tc>
                    <a:tc>
                      <a:txBody>
                        <a:bodyPr/>
                        <a:lstStyle/>
                        <a:p>
                          <a:pPr algn="just"/>
                          <a14:m>
                            <m:oMath xmlns:m="http://schemas.openxmlformats.org/officeDocument/2006/math">
                              <m:acc>
                                <m:accPr>
                                  <m:chr m:val="̃"/>
                                  <m:ctrlPr>
                                    <a:rPr lang="en-US" sz="1600" i="1" dirty="0" smtClean="0">
                                      <a:latin typeface="Cambria Math" panose="02040503050406030204" pitchFamily="18" charset="0"/>
                                    </a:rPr>
                                  </m:ctrlPr>
                                </m:accPr>
                                <m:e>
                                  <m:r>
                                    <a:rPr lang="en-US" sz="1600" i="1" dirty="0" smtClean="0">
                                      <a:latin typeface="Cambria Math" panose="02040503050406030204" pitchFamily="18" charset="0"/>
                                    </a:rPr>
                                    <m:t>𝑂</m:t>
                                  </m:r>
                                </m:e>
                              </m:acc>
                              <m:d>
                                <m:dPr>
                                  <m:ctrlPr>
                                    <a:rPr lang="en-US" sz="1600" i="1" dirty="0" smtClean="0">
                                      <a:latin typeface="Cambria Math" panose="02040503050406030204" pitchFamily="18" charset="0"/>
                                    </a:rPr>
                                  </m:ctrlPr>
                                </m:dPr>
                                <m:e>
                                  <m:sSup>
                                    <m:sSupPr>
                                      <m:ctrlPr>
                                        <a:rPr lang="en-US" sz="1600" b="0" i="1" dirty="0" smtClean="0">
                                          <a:latin typeface="Cambria Math" panose="02040503050406030204" pitchFamily="18" charset="0"/>
                                        </a:rPr>
                                      </m:ctrlPr>
                                    </m:sSupPr>
                                    <m:e>
                                      <m:r>
                                        <a:rPr lang="en-US" sz="1600" i="1" dirty="0" smtClean="0">
                                          <a:latin typeface="Cambria Math" panose="02040503050406030204" pitchFamily="18" charset="0"/>
                                        </a:rPr>
                                        <m:t>𝑘</m:t>
                                      </m:r>
                                    </m:e>
                                    <m:sup>
                                      <m:f>
                                        <m:fPr>
                                          <m:ctrlPr>
                                            <a:rPr lang="en-US" sz="1600" b="0" i="1" dirty="0" smtClean="0">
                                              <a:latin typeface="Cambria Math" panose="02040503050406030204" pitchFamily="18" charset="0"/>
                                            </a:rPr>
                                          </m:ctrlPr>
                                        </m:fPr>
                                        <m:num>
                                          <m:r>
                                            <a:rPr lang="en-US" sz="1600" b="0" i="1" dirty="0" smtClean="0">
                                              <a:latin typeface="Cambria Math" panose="02040503050406030204" pitchFamily="18" charset="0"/>
                                            </a:rPr>
                                            <m:t>5</m:t>
                                          </m:r>
                                        </m:num>
                                        <m:den>
                                          <m:r>
                                            <a:rPr lang="en-US" sz="1600" b="0" i="1" dirty="0" smtClean="0">
                                              <a:latin typeface="Cambria Math" panose="02040503050406030204" pitchFamily="18" charset="0"/>
                                            </a:rPr>
                                            <m:t>2</m:t>
                                          </m:r>
                                        </m:den>
                                      </m:f>
                                    </m:sup>
                                  </m:sSup>
                                  <m:r>
                                    <a:rPr lang="en-US" sz="1600" i="1" dirty="0" smtClean="0">
                                      <a:latin typeface="Cambria Math" panose="02040503050406030204" pitchFamily="18" charset="0"/>
                                    </a:rPr>
                                    <m:t> </m:t>
                                  </m:r>
                                  <m:r>
                                    <a:rPr lang="en-US" sz="1600" i="1" dirty="0" smtClean="0">
                                      <a:latin typeface="Cambria Math" panose="02040503050406030204" pitchFamily="18" charset="0"/>
                                    </a:rPr>
                                    <m:t>𝑑</m:t>
                                  </m:r>
                                  <m:r>
                                    <a:rPr lang="en-US" sz="1600" i="1" dirty="0" smtClean="0">
                                      <a:latin typeface="Cambria Math" panose="02040503050406030204" pitchFamily="18" charset="0"/>
                                    </a:rPr>
                                    <m:t> </m:t>
                                  </m:r>
                                  <m:rad>
                                    <m:radPr>
                                      <m:degHide m:val="on"/>
                                      <m:ctrlPr>
                                        <a:rPr lang="en-US" sz="1600" b="0" i="1" dirty="0" smtClean="0">
                                          <a:latin typeface="Cambria Math" panose="02040503050406030204" pitchFamily="18" charset="0"/>
                                        </a:rPr>
                                      </m:ctrlPr>
                                    </m:radPr>
                                    <m:deg/>
                                    <m:e>
                                      <m:r>
                                        <a:rPr lang="en-US" sz="1600" i="1" dirty="0" smtClean="0">
                                          <a:latin typeface="Cambria Math" panose="02040503050406030204" pitchFamily="18" charset="0"/>
                                        </a:rPr>
                                        <m:t>𝑁</m:t>
                                      </m:r>
                                    </m:e>
                                  </m:rad>
                                  <m:r>
                                    <a:rPr lang="en-US" sz="1600" i="1" dirty="0" smtClean="0">
                                      <a:latin typeface="Cambria Math" panose="02040503050406030204" pitchFamily="18" charset="0"/>
                                    </a:rPr>
                                    <m:t>𝜀</m:t>
                                  </m:r>
                                </m:e>
                              </m:d>
                              <m:r>
                                <a:rPr lang="en-US" sz="1600" i="1" dirty="0" smtClean="0">
                                  <a:latin typeface="Cambria Math" panose="02040503050406030204" pitchFamily="18" charset="0"/>
                                </a:rPr>
                                <m:t> </m:t>
                              </m:r>
                            </m:oMath>
                          </a14:m>
                          <a:r>
                            <a:rPr lang="en-US" sz="1600" dirty="0"/>
                            <a:t>quadratic speed-up in </a:t>
                          </a:r>
                          <a:r>
                            <a:rPr lang="en-US" sz="1600" i="1" dirty="0"/>
                            <a:t>N</a:t>
                          </a:r>
                          <a:r>
                            <a:rPr lang="en-US" sz="1600" dirty="0"/>
                            <a:t> under QRAM access </a:t>
                          </a:r>
                        </a:p>
                      </a:txBody>
                      <a:tcPr anchor="ctr"/>
                    </a:tc>
                    <a:extLst>
                      <a:ext uri="{0D108BD9-81ED-4DB2-BD59-A6C34878D82A}">
                        <a16:rowId xmlns:a16="http://schemas.microsoft.com/office/drawing/2014/main" val="3024710501"/>
                      </a:ext>
                    </a:extLst>
                  </a:tr>
                  <a:tr h="460861">
                    <a:tc>
                      <a:txBody>
                        <a:bodyPr/>
                        <a:lstStyle/>
                        <a:p>
                          <a:pPr algn="just"/>
                          <a:r>
                            <a:rPr lang="en-IN" sz="1600" b="1"/>
                            <a:t>k-Nearest Neighbor Search / Classifier</a:t>
                          </a:r>
                          <a:endParaRPr lang="en-IN" sz="1600"/>
                        </a:p>
                      </a:txBody>
                      <a:tcPr anchor="ctr"/>
                    </a:tc>
                    <a:tc>
                      <a:txBody>
                        <a:bodyPr/>
                        <a:lstStyle/>
                        <a:p>
                          <a:pPr algn="just"/>
                          <a:r>
                            <a:rPr lang="en-IN" sz="1600"/>
                            <a:t>Per-query: O(N d)</a:t>
                          </a:r>
                        </a:p>
                      </a:txBody>
                      <a:tcPr anchor="ctr"/>
                    </a:tc>
                    <a:tc>
                      <a:txBody>
                        <a:bodyPr/>
                        <a:lstStyle/>
                        <a:p>
                          <a:pPr algn="just"/>
                          <a14:m>
                            <m:oMath xmlns:m="http://schemas.openxmlformats.org/officeDocument/2006/math">
                              <m:r>
                                <a:rPr lang="en-US" sz="1600" b="0" i="1" smtClean="0">
                                  <a:latin typeface="Cambria Math" panose="02040503050406030204" pitchFamily="18" charset="0"/>
                                </a:rPr>
                                <m:t>𝑂</m:t>
                              </m:r>
                              <m:r>
                                <a:rPr lang="en-US" sz="1600" b="0" i="1" smtClean="0">
                                  <a:latin typeface="Cambria Math" panose="02040503050406030204" pitchFamily="18" charset="0"/>
                                </a:rPr>
                                <m:t>(</m:t>
                              </m:r>
                              <m:rad>
                                <m:radPr>
                                  <m:degHide m:val="on"/>
                                  <m:ctrlPr>
                                    <a:rPr lang="en-US" sz="1600" b="0" i="1" smtClean="0">
                                      <a:latin typeface="Cambria Math" panose="02040503050406030204" pitchFamily="18" charset="0"/>
                                    </a:rPr>
                                  </m:ctrlPr>
                                </m:radPr>
                                <m:deg/>
                                <m:e>
                                  <m:r>
                                    <a:rPr lang="en-US" sz="1600" b="0" i="1" smtClean="0">
                                      <a:latin typeface="Cambria Math" panose="02040503050406030204" pitchFamily="18" charset="0"/>
                                    </a:rPr>
                                    <m:t>𝑁</m:t>
                                  </m:r>
                                </m:e>
                              </m:rad>
                              <m:r>
                                <a:rPr lang="en-US" sz="1600" b="0" i="1" smtClean="0">
                                  <a:latin typeface="Cambria Math" panose="02040503050406030204" pitchFamily="18" charset="0"/>
                                </a:rPr>
                                <m:t>)</m:t>
                              </m:r>
                            </m:oMath>
                          </a14:m>
                          <a:r>
                            <a:rPr lang="en-IN" sz="1600" dirty="0"/>
                            <a:t> distance-oracle queries via amplitude amplification</a:t>
                          </a:r>
                        </a:p>
                      </a:txBody>
                      <a:tcPr anchor="ctr"/>
                    </a:tc>
                    <a:extLst>
                      <a:ext uri="{0D108BD9-81ED-4DB2-BD59-A6C34878D82A}">
                        <a16:rowId xmlns:a16="http://schemas.microsoft.com/office/drawing/2014/main" val="245738065"/>
                      </a:ext>
                    </a:extLst>
                  </a:tr>
                  <a:tr h="658373">
                    <a:tc>
                      <a:txBody>
                        <a:bodyPr/>
                        <a:lstStyle/>
                        <a:p>
                          <a:pPr algn="just"/>
                          <a:r>
                            <a:rPr lang="en-IN" sz="1600" b="1" dirty="0"/>
                            <a:t>Low-Rank Recommendation (Matrix Completion)</a:t>
                          </a:r>
                          <a:endParaRPr lang="en-IN" sz="1600" dirty="0"/>
                        </a:p>
                      </a:txBody>
                      <a:tcPr anchor="ctr"/>
                    </a:tc>
                    <a:tc>
                      <a:txBody>
                        <a:bodyPr/>
                        <a:lstStyle/>
                        <a:p>
                          <a:pPr algn="just"/>
                          <a:r>
                            <a:rPr lang="en-US" sz="1600"/>
                            <a:t>At least linear in matrix size, Θ(poly(m n))</a:t>
                          </a:r>
                        </a:p>
                      </a:txBody>
                      <a:tcPr anchor="ctr"/>
                    </a:tc>
                    <a:tc>
                      <a:txBody>
                        <a:bodyPr/>
                        <a:lstStyle/>
                        <a:p>
                          <a:pPr algn="just"/>
                          <a:r>
                            <a:rPr lang="en-IN" sz="1600" dirty="0"/>
                            <a:t>poly(k) · polylog(</a:t>
                          </a:r>
                          <a:r>
                            <a:rPr lang="en-IN" sz="1600" dirty="0" err="1"/>
                            <a:t>mn</a:t>
                          </a:r>
                          <a:r>
                            <a:rPr lang="en-IN" sz="1600" dirty="0"/>
                            <a:t>) for rank-</a:t>
                          </a:r>
                          <a:r>
                            <a:rPr lang="en-IN" sz="1600" i="1" dirty="0"/>
                            <a:t>k</a:t>
                          </a:r>
                          <a:r>
                            <a:rPr lang="en-IN" sz="1600" dirty="0"/>
                            <a:t> matrices using quantum row-space projection </a:t>
                          </a:r>
                        </a:p>
                      </a:txBody>
                      <a:tcPr anchor="ctr"/>
                    </a:tc>
                    <a:extLst>
                      <a:ext uri="{0D108BD9-81ED-4DB2-BD59-A6C34878D82A}">
                        <a16:rowId xmlns:a16="http://schemas.microsoft.com/office/drawing/2014/main" val="1682179809"/>
                      </a:ext>
                    </a:extLst>
                  </a:tr>
                </a:tbl>
              </a:graphicData>
            </a:graphic>
          </p:graphicFrame>
        </mc:Choice>
        <mc:Fallback xmlns="">
          <p:graphicFrame>
            <p:nvGraphicFramePr>
              <p:cNvPr id="4" name="Table 4">
                <a:extLst>
                  <a:ext uri="{FF2B5EF4-FFF2-40B4-BE49-F238E27FC236}">
                    <a16:creationId xmlns:a16="http://schemas.microsoft.com/office/drawing/2014/main" id="{9B51BF88-0323-4DAA-9728-2190CBF25653}"/>
                  </a:ext>
                </a:extLst>
              </p:cNvPr>
              <p:cNvGraphicFramePr>
                <a:graphicFrameLocks noGrp="1"/>
              </p:cNvGraphicFramePr>
              <p:nvPr>
                <p:ph idx="1"/>
                <p:extLst>
                  <p:ext uri="{D42A27DB-BD31-4B8C-83A1-F6EECF244321}">
                    <p14:modId xmlns:p14="http://schemas.microsoft.com/office/powerpoint/2010/main" val="3656577462"/>
                  </p:ext>
                </p:extLst>
              </p:nvPr>
            </p:nvGraphicFramePr>
            <p:xfrm>
              <a:off x="838200" y="1825625"/>
              <a:ext cx="10515600" cy="4638366"/>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1808596254"/>
                        </a:ext>
                      </a:extLst>
                    </a:gridCol>
                    <a:gridCol w="3505200">
                      <a:extLst>
                        <a:ext uri="{9D8B030D-6E8A-4147-A177-3AD203B41FA5}">
                          <a16:colId xmlns:a16="http://schemas.microsoft.com/office/drawing/2014/main" val="2826705932"/>
                        </a:ext>
                      </a:extLst>
                    </a:gridCol>
                    <a:gridCol w="3505200">
                      <a:extLst>
                        <a:ext uri="{9D8B030D-6E8A-4147-A177-3AD203B41FA5}">
                          <a16:colId xmlns:a16="http://schemas.microsoft.com/office/drawing/2014/main" val="3882128787"/>
                        </a:ext>
                      </a:extLst>
                    </a:gridCol>
                  </a:tblGrid>
                  <a:tr h="335280">
                    <a:tc>
                      <a:txBody>
                        <a:bodyPr/>
                        <a:lstStyle/>
                        <a:p>
                          <a:pPr algn="just"/>
                          <a:r>
                            <a:rPr lang="en-IN" sz="1600" b="1" dirty="0"/>
                            <a:t>Algo</a:t>
                          </a:r>
                          <a:endParaRPr lang="en-IN" sz="1600" dirty="0"/>
                        </a:p>
                      </a:txBody>
                      <a:tcPr anchor="ctr"/>
                    </a:tc>
                    <a:tc>
                      <a:txBody>
                        <a:bodyPr/>
                        <a:lstStyle/>
                        <a:p>
                          <a:pPr algn="just"/>
                          <a:r>
                            <a:rPr lang="en-IN" sz="1600" b="1"/>
                            <a:t>Classical Time-Complexity</a:t>
                          </a:r>
                          <a:endParaRPr lang="en-IN" sz="1600"/>
                        </a:p>
                      </a:txBody>
                      <a:tcPr anchor="ctr"/>
                    </a:tc>
                    <a:tc>
                      <a:txBody>
                        <a:bodyPr/>
                        <a:lstStyle/>
                        <a:p>
                          <a:pPr algn="just"/>
                          <a:r>
                            <a:rPr lang="en-IN" sz="1600" b="1"/>
                            <a:t>Quantum Time-Complexity</a:t>
                          </a:r>
                          <a:endParaRPr lang="en-IN" sz="1600"/>
                        </a:p>
                      </a:txBody>
                      <a:tcPr anchor="ctr"/>
                    </a:tc>
                    <a:extLst>
                      <a:ext uri="{0D108BD9-81ED-4DB2-BD59-A6C34878D82A}">
                        <a16:rowId xmlns:a16="http://schemas.microsoft.com/office/drawing/2014/main" val="2300488277"/>
                      </a:ext>
                    </a:extLst>
                  </a:tr>
                  <a:tr h="855884">
                    <a:tc>
                      <a:txBody>
                        <a:bodyPr/>
                        <a:lstStyle/>
                        <a:p>
                          <a:pPr algn="just"/>
                          <a:r>
                            <a:rPr lang="en-IN" sz="1600" b="1"/>
                            <a:t>Least-Squares / Linear Regression</a:t>
                          </a:r>
                          <a:endParaRPr lang="en-IN" sz="1600"/>
                        </a:p>
                      </a:txBody>
                      <a:tcPr anchor="ctr"/>
                    </a:tc>
                    <a:tc>
                      <a:txBody>
                        <a:bodyPr/>
                        <a:lstStyle/>
                        <a:p>
                          <a:pPr algn="just"/>
                          <a:r>
                            <a:rPr lang="en-IN" sz="1600" dirty="0"/>
                            <a:t>O(N³) (dense Gaussian elimination) or ≈ O(N² log(1/</a:t>
                          </a:r>
                          <a:r>
                            <a:rPr lang="el-GR" sz="1600" dirty="0"/>
                            <a:t>ε)) </a:t>
                          </a:r>
                          <a:r>
                            <a:rPr lang="en-IN" sz="1600" dirty="0"/>
                            <a:t>for best classical iterative solvers</a:t>
                          </a:r>
                        </a:p>
                      </a:txBody>
                      <a:tcPr anchor="ctr"/>
                    </a:tc>
                    <a:tc>
                      <a:txBody>
                        <a:bodyPr/>
                        <a:lstStyle/>
                        <a:p>
                          <a:pPr algn="just"/>
                          <a:r>
                            <a:rPr lang="en-US" sz="1600" dirty="0"/>
                            <a:t>≈ O( log N · s² κ² / ε ) for an </a:t>
                          </a:r>
                          <a:r>
                            <a:rPr lang="en-US" sz="1600" i="1" dirty="0"/>
                            <a:t>s</a:t>
                          </a:r>
                          <a:r>
                            <a:rPr lang="en-US" sz="1600" dirty="0"/>
                            <a:t>-sparse, well-conditioned matrix using the HHL linear-system solver </a:t>
                          </a:r>
                        </a:p>
                      </a:txBody>
                      <a:tcPr anchor="ctr"/>
                    </a:tc>
                    <a:extLst>
                      <a:ext uri="{0D108BD9-81ED-4DB2-BD59-A6C34878D82A}">
                        <a16:rowId xmlns:a16="http://schemas.microsoft.com/office/drawing/2014/main" val="1883562393"/>
                      </a:ext>
                    </a:extLst>
                  </a:tr>
                  <a:tr h="658373">
                    <a:tc>
                      <a:txBody>
                        <a:bodyPr/>
                        <a:lstStyle/>
                        <a:p>
                          <a:pPr algn="just"/>
                          <a:r>
                            <a:rPr lang="en-IN" sz="1600" b="1"/>
                            <a:t>Principal Component Analysis (PCA)</a:t>
                          </a:r>
                          <a:endParaRPr lang="en-IN" sz="1600"/>
                        </a:p>
                      </a:txBody>
                      <a:tcPr anchor="ctr"/>
                    </a:tc>
                    <a:tc>
                      <a:txBody>
                        <a:bodyPr/>
                        <a:lstStyle/>
                        <a:p>
                          <a:pPr algn="just"/>
                          <a:r>
                            <a:rPr lang="pt-BR" sz="1600"/>
                            <a:t>O(N³) full SVD / O(N² log N) randomized low-rank SVD</a:t>
                          </a:r>
                        </a:p>
                      </a:txBody>
                      <a:tcPr anchor="ctr"/>
                    </a:tc>
                    <a:tc>
                      <a:txBody>
                        <a:bodyPr/>
                        <a:lstStyle/>
                        <a:p>
                          <a:pPr algn="just"/>
                          <a:r>
                            <a:rPr lang="pt-BR" sz="1600" dirty="0"/>
                            <a:t>≈ O( R log N ) for rank-</a:t>
                          </a:r>
                          <a:r>
                            <a:rPr lang="pt-BR" sz="1600" i="1" dirty="0"/>
                            <a:t>R</a:t>
                          </a:r>
                          <a:r>
                            <a:rPr lang="pt-BR" sz="1600" dirty="0"/>
                            <a:t> covariance encoded as a density matrix </a:t>
                          </a:r>
                        </a:p>
                      </a:txBody>
                      <a:tcPr anchor="ctr"/>
                    </a:tc>
                    <a:extLst>
                      <a:ext uri="{0D108BD9-81ED-4DB2-BD59-A6C34878D82A}">
                        <a16:rowId xmlns:a16="http://schemas.microsoft.com/office/drawing/2014/main" val="1503908921"/>
                      </a:ext>
                    </a:extLst>
                  </a:tr>
                  <a:tr h="855884">
                    <a:tc>
                      <a:txBody>
                        <a:bodyPr/>
                        <a:lstStyle/>
                        <a:p>
                          <a:pPr algn="just"/>
                          <a:r>
                            <a:rPr lang="en-IN" sz="1600" b="1"/>
                            <a:t>Kernel Support Vector Machine</a:t>
                          </a:r>
                          <a:endParaRPr lang="en-IN" sz="1600"/>
                        </a:p>
                      </a:txBody>
                      <a:tcPr anchor="ctr"/>
                    </a:tc>
                    <a:tc>
                      <a:txBody>
                        <a:bodyPr/>
                        <a:lstStyle/>
                        <a:p>
                          <a:pPr algn="just"/>
                          <a:r>
                            <a:rPr lang="en-US" sz="1600" dirty="0"/>
                            <a:t>Training: O(M²)–O(M³) (with </a:t>
                          </a:r>
                          <a:r>
                            <a:rPr lang="en-US" sz="1600" i="1" dirty="0"/>
                            <a:t>M</a:t>
                          </a:r>
                          <a:r>
                            <a:rPr lang="en-US" sz="1600" dirty="0"/>
                            <a:t> data points)</a:t>
                          </a:r>
                        </a:p>
                      </a:txBody>
                      <a:tcPr anchor="ctr"/>
                    </a:tc>
                    <a:tc>
                      <a:txBody>
                        <a:bodyPr/>
                        <a:lstStyle/>
                        <a:p>
                          <a:pPr algn="just"/>
                          <a:r>
                            <a:rPr lang="en-IN" sz="1600" dirty="0"/>
                            <a:t>Poly-logarithmic in </a:t>
                          </a:r>
                          <a:r>
                            <a:rPr lang="en-IN" sz="1600" i="1" dirty="0"/>
                            <a:t>M</a:t>
                          </a:r>
                          <a:r>
                            <a:rPr lang="en-IN" sz="1600" dirty="0"/>
                            <a:t> for hard-to-simulate quantum kernels (e.g., dual Q-SVM in Õ(M⁴·⁶⁷ / </a:t>
                          </a:r>
                          <a:r>
                            <a:rPr lang="el-GR" sz="1600" dirty="0"/>
                            <a:t>ε²) </a:t>
                          </a:r>
                          <a:r>
                            <a:rPr lang="en-IN" sz="1600" dirty="0"/>
                            <a:t>circuit calls) </a:t>
                          </a:r>
                        </a:p>
                      </a:txBody>
                      <a:tcPr anchor="ctr"/>
                    </a:tc>
                    <a:extLst>
                      <a:ext uri="{0D108BD9-81ED-4DB2-BD59-A6C34878D82A}">
                        <a16:rowId xmlns:a16="http://schemas.microsoft.com/office/drawing/2014/main" val="3632957211"/>
                      </a:ext>
                    </a:extLst>
                  </a:tr>
                  <a:tr h="672465">
                    <a:tc>
                      <a:txBody>
                        <a:bodyPr/>
                        <a:lstStyle/>
                        <a:p>
                          <a:pPr algn="just"/>
                          <a:r>
                            <a:rPr lang="en-IN" sz="1600" b="1" dirty="0"/>
                            <a:t>k-Means Clustering</a:t>
                          </a:r>
                          <a:endParaRPr lang="en-IN" sz="1600" dirty="0"/>
                        </a:p>
                      </a:txBody>
                      <a:tcPr anchor="ctr"/>
                    </a:tc>
                    <a:tc>
                      <a:txBody>
                        <a:bodyPr/>
                        <a:lstStyle/>
                        <a:p>
                          <a:pPr algn="just"/>
                          <a:r>
                            <a:rPr lang="pt-BR" sz="1600"/>
                            <a:t>O(k N d · iter) (distance calc dominates)</a:t>
                          </a:r>
                        </a:p>
                      </a:txBody>
                      <a:tcPr anchor="ctr"/>
                    </a:tc>
                    <a:tc>
                      <a:txBody>
                        <a:bodyPr/>
                        <a:lstStyle/>
                        <a:p>
                          <a:endParaRPr lang="en-US"/>
                        </a:p>
                      </a:txBody>
                      <a:tcPr anchor="ctr">
                        <a:blipFill>
                          <a:blip r:embed="rId3"/>
                          <a:stretch>
                            <a:fillRect l="-200348" t="-402703" r="-696" b="-191892"/>
                          </a:stretch>
                        </a:blipFill>
                      </a:tcPr>
                    </a:tc>
                    <a:extLst>
                      <a:ext uri="{0D108BD9-81ED-4DB2-BD59-A6C34878D82A}">
                        <a16:rowId xmlns:a16="http://schemas.microsoft.com/office/drawing/2014/main" val="3024710501"/>
                      </a:ext>
                    </a:extLst>
                  </a:tr>
                  <a:tr h="602107">
                    <a:tc>
                      <a:txBody>
                        <a:bodyPr/>
                        <a:lstStyle/>
                        <a:p>
                          <a:pPr algn="just"/>
                          <a:r>
                            <a:rPr lang="en-IN" sz="1600" b="1"/>
                            <a:t>k-Nearest Neighbor Search / Classifier</a:t>
                          </a:r>
                          <a:endParaRPr lang="en-IN" sz="1600"/>
                        </a:p>
                      </a:txBody>
                      <a:tcPr anchor="ctr"/>
                    </a:tc>
                    <a:tc>
                      <a:txBody>
                        <a:bodyPr/>
                        <a:lstStyle/>
                        <a:p>
                          <a:pPr algn="just"/>
                          <a:r>
                            <a:rPr lang="en-IN" sz="1600"/>
                            <a:t>Per-query: O(N d)</a:t>
                          </a:r>
                        </a:p>
                      </a:txBody>
                      <a:tcPr anchor="ctr"/>
                    </a:tc>
                    <a:tc>
                      <a:txBody>
                        <a:bodyPr/>
                        <a:lstStyle/>
                        <a:p>
                          <a:endParaRPr lang="en-US"/>
                        </a:p>
                      </a:txBody>
                      <a:tcPr anchor="ctr">
                        <a:blipFill>
                          <a:blip r:embed="rId3"/>
                          <a:stretch>
                            <a:fillRect l="-200348" t="-563636" r="-696" b="-115152"/>
                          </a:stretch>
                        </a:blipFill>
                      </a:tcPr>
                    </a:tc>
                    <a:extLst>
                      <a:ext uri="{0D108BD9-81ED-4DB2-BD59-A6C34878D82A}">
                        <a16:rowId xmlns:a16="http://schemas.microsoft.com/office/drawing/2014/main" val="245738065"/>
                      </a:ext>
                    </a:extLst>
                  </a:tr>
                  <a:tr h="658373">
                    <a:tc>
                      <a:txBody>
                        <a:bodyPr/>
                        <a:lstStyle/>
                        <a:p>
                          <a:pPr algn="just"/>
                          <a:r>
                            <a:rPr lang="en-IN" sz="1600" b="1" dirty="0"/>
                            <a:t>Low-Rank Recommendation (Matrix Completion)</a:t>
                          </a:r>
                          <a:endParaRPr lang="en-IN" sz="1600" dirty="0"/>
                        </a:p>
                      </a:txBody>
                      <a:tcPr anchor="ctr"/>
                    </a:tc>
                    <a:tc>
                      <a:txBody>
                        <a:bodyPr/>
                        <a:lstStyle/>
                        <a:p>
                          <a:pPr algn="just"/>
                          <a:r>
                            <a:rPr lang="en-US" sz="1600"/>
                            <a:t>At least linear in matrix size, Θ(poly(m n))</a:t>
                          </a:r>
                        </a:p>
                      </a:txBody>
                      <a:tcPr anchor="ctr"/>
                    </a:tc>
                    <a:tc>
                      <a:txBody>
                        <a:bodyPr/>
                        <a:lstStyle/>
                        <a:p>
                          <a:pPr algn="just"/>
                          <a:r>
                            <a:rPr lang="en-IN" sz="1600" dirty="0"/>
                            <a:t>poly(k) · polylog(</a:t>
                          </a:r>
                          <a:r>
                            <a:rPr lang="en-IN" sz="1600" dirty="0" err="1"/>
                            <a:t>mn</a:t>
                          </a:r>
                          <a:r>
                            <a:rPr lang="en-IN" sz="1600" dirty="0"/>
                            <a:t>) for rank-</a:t>
                          </a:r>
                          <a:r>
                            <a:rPr lang="en-IN" sz="1600" i="1" dirty="0"/>
                            <a:t>k</a:t>
                          </a:r>
                          <a:r>
                            <a:rPr lang="en-IN" sz="1600" dirty="0"/>
                            <a:t> matrices using quantum row-space projection </a:t>
                          </a:r>
                        </a:p>
                      </a:txBody>
                      <a:tcPr anchor="ctr"/>
                    </a:tc>
                    <a:extLst>
                      <a:ext uri="{0D108BD9-81ED-4DB2-BD59-A6C34878D82A}">
                        <a16:rowId xmlns:a16="http://schemas.microsoft.com/office/drawing/2014/main" val="1682179809"/>
                      </a:ext>
                    </a:extLst>
                  </a:tr>
                </a:tbl>
              </a:graphicData>
            </a:graphic>
          </p:graphicFrame>
        </mc:Fallback>
      </mc:AlternateContent>
      <p:sp>
        <p:nvSpPr>
          <p:cNvPr id="3" name="Slide Number Placeholder 2">
            <a:extLst>
              <a:ext uri="{FF2B5EF4-FFF2-40B4-BE49-F238E27FC236}">
                <a16:creationId xmlns:a16="http://schemas.microsoft.com/office/drawing/2014/main" id="{721F4B89-2EA5-48DE-B75E-6452F36D4EF1}"/>
              </a:ext>
            </a:extLst>
          </p:cNvPr>
          <p:cNvSpPr>
            <a:spLocks noGrp="1"/>
          </p:cNvSpPr>
          <p:nvPr>
            <p:ph type="sldNum" sz="quarter" idx="12"/>
          </p:nvPr>
        </p:nvSpPr>
        <p:spPr/>
        <p:txBody>
          <a:bodyPr/>
          <a:lstStyle/>
          <a:p>
            <a:fld id="{F9AA3F58-F348-4ACC-AF27-6630C1E91C9F}" type="slidenum">
              <a:rPr lang="en-IN" smtClean="0"/>
              <a:pPr/>
              <a:t>42</a:t>
            </a:fld>
            <a:endParaRPr lang="en-IN" dirty="0"/>
          </a:p>
        </p:txBody>
      </p:sp>
    </p:spTree>
    <p:extLst>
      <p:ext uri="{BB962C8B-B14F-4D97-AF65-F5344CB8AC3E}">
        <p14:creationId xmlns:p14="http://schemas.microsoft.com/office/powerpoint/2010/main" val="26886337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How QEML works</a:t>
            </a:r>
            <a:endParaRPr lang="en-IN" dirty="0"/>
          </a:p>
        </p:txBody>
      </p:sp>
      <p:pic>
        <p:nvPicPr>
          <p:cNvPr id="6" name="Picture Placeholder 5" descr="A diagram of a circuit&#10;&#10;Description automatically generated">
            <a:extLst>
              <a:ext uri="{FF2B5EF4-FFF2-40B4-BE49-F238E27FC236}">
                <a16:creationId xmlns:a16="http://schemas.microsoft.com/office/drawing/2014/main" id="{C9A4E100-9FE0-65CD-2B92-082750D1978D}"/>
              </a:ext>
            </a:extLst>
          </p:cNvPr>
          <p:cNvPicPr>
            <a:picLocks noGrp="1" noChangeAspect="1"/>
          </p:cNvPicPr>
          <p:nvPr>
            <p:ph type="pic" idx="1"/>
          </p:nvPr>
        </p:nvPicPr>
        <p:blipFill>
          <a:blip r:embed="rId2" cstate="print">
            <a:extLst>
              <a:ext uri="{28A0092B-C50C-407E-A947-70E740481C1C}">
                <a14:useLocalDpi xmlns:a14="http://schemas.microsoft.com/office/drawing/2010/main" val="0"/>
              </a:ext>
            </a:extLst>
          </a:blip>
          <a:stretch>
            <a:fillRect/>
          </a:stretch>
        </p:blipFill>
        <p:spPr>
          <a:xfrm>
            <a:off x="4872212" y="1974498"/>
            <a:ext cx="6480000" cy="2909004"/>
          </a:xfrm>
        </p:spPr>
      </p:pic>
      <p:sp>
        <p:nvSpPr>
          <p:cNvPr id="3" name="Content Placeholder 2"/>
          <p:cNvSpPr>
            <a:spLocks noGrp="1"/>
          </p:cNvSpPr>
          <p:nvPr>
            <p:ph type="body" sz="half" idx="2"/>
          </p:nvPr>
        </p:nvSpPr>
        <p:spPr/>
        <p:txBody>
          <a:bodyPr>
            <a:normAutofit fontScale="92500" lnSpcReduction="20000"/>
          </a:bodyPr>
          <a:lstStyle/>
          <a:p>
            <a:pPr marL="285750" indent="-285750" algn="just">
              <a:buFont typeface="Arial" panose="020B0604020202020204" pitchFamily="34" charset="0"/>
              <a:buChar char="•"/>
            </a:pPr>
            <a:r>
              <a:rPr lang="en-US" dirty="0"/>
              <a:t>Data is first encoded into quantum state.</a:t>
            </a:r>
          </a:p>
          <a:p>
            <a:pPr marL="742950" lvl="1" indent="-285750" algn="just">
              <a:buFont typeface="Arial" panose="020B0604020202020204" pitchFamily="34" charset="0"/>
              <a:buChar char="•"/>
            </a:pPr>
            <a:r>
              <a:rPr lang="en-US" dirty="0"/>
              <a:t>Preprocessing Approach: Classical data is first converted into quantum states using an initial quantum circuit, which are then used in the main quantum circuit.</a:t>
            </a:r>
          </a:p>
          <a:p>
            <a:pPr marL="742950" lvl="1" indent="-285750" algn="just">
              <a:buFont typeface="Arial" panose="020B0604020202020204" pitchFamily="34" charset="0"/>
              <a:buChar char="•"/>
            </a:pPr>
            <a:r>
              <a:rPr lang="en-US" dirty="0"/>
              <a:t>Dynamic Encoding Approach: The quantum circuit itself performs data encoding as part of its operation, potentially using parameters derived from the data in real-time.</a:t>
            </a:r>
          </a:p>
          <a:p>
            <a:pPr marL="285750" indent="-285750" algn="just">
              <a:buFont typeface="Arial" panose="020B0604020202020204" pitchFamily="34" charset="0"/>
              <a:buChar char="•"/>
            </a:pPr>
            <a:r>
              <a:rPr lang="en-US" dirty="0"/>
              <a:t>The data goes through series of gates and then the measurement is done using Pauli-Z expectation according to the number of shots we choose. </a:t>
            </a:r>
          </a:p>
          <a:p>
            <a:pPr marL="285750" indent="-285750" algn="just">
              <a:buFont typeface="Arial" panose="020B0604020202020204" pitchFamily="34" charset="0"/>
              <a:buChar char="•"/>
            </a:pPr>
            <a:r>
              <a:rPr lang="en-US" dirty="0"/>
              <a:t>The output of the measurement is the fed to the optimizer that calculates the gradients based on the loss function that we choose.</a:t>
            </a:r>
          </a:p>
          <a:p>
            <a:pPr marL="285750" indent="-285750" algn="just">
              <a:buFont typeface="Arial" panose="020B0604020202020204" pitchFamily="34" charset="0"/>
              <a:buChar char="•"/>
            </a:pPr>
            <a:r>
              <a:rPr lang="en-US" dirty="0"/>
              <a:t>The Parameters are then updated, and the cycle continues.</a:t>
            </a:r>
          </a:p>
        </p:txBody>
      </p:sp>
      <p:sp>
        <p:nvSpPr>
          <p:cNvPr id="19" name="Slide Number Placeholder 18"/>
          <p:cNvSpPr>
            <a:spLocks noGrp="1"/>
          </p:cNvSpPr>
          <p:nvPr>
            <p:ph type="sldNum" sz="quarter" idx="12"/>
          </p:nvPr>
        </p:nvSpPr>
        <p:spPr/>
        <p:txBody>
          <a:bodyPr/>
          <a:lstStyle/>
          <a:p>
            <a:fld id="{F9AA3F58-F348-4ACC-AF27-6630C1E91C9F}" type="slidenum">
              <a:rPr lang="en-IN" smtClean="0"/>
              <a:t>43</a:t>
            </a:fld>
            <a:endParaRPr lang="en-IN" dirty="0"/>
          </a:p>
        </p:txBody>
      </p:sp>
    </p:spTree>
    <p:extLst>
      <p:ext uri="{BB962C8B-B14F-4D97-AF65-F5344CB8AC3E}">
        <p14:creationId xmlns:p14="http://schemas.microsoft.com/office/powerpoint/2010/main" val="40396490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Why usually Pauli-Z expectation values are taken</a:t>
            </a:r>
            <a:endParaRPr lang="en-IN" dirty="0"/>
          </a:p>
        </p:txBody>
      </p:sp>
      <p:pic>
        <p:nvPicPr>
          <p:cNvPr id="6" name="Picture Placeholder 5" descr="A diagram of a circuit&#10;&#10;Description automatically generated">
            <a:extLst>
              <a:ext uri="{FF2B5EF4-FFF2-40B4-BE49-F238E27FC236}">
                <a16:creationId xmlns:a16="http://schemas.microsoft.com/office/drawing/2014/main" id="{C9A4E100-9FE0-65CD-2B92-082750D1978D}"/>
              </a:ext>
            </a:extLst>
          </p:cNvPr>
          <p:cNvPicPr>
            <a:picLocks noGrp="1" noChangeAspect="1"/>
          </p:cNvPicPr>
          <p:nvPr>
            <p:ph type="pic" idx="1"/>
          </p:nvPr>
        </p:nvPicPr>
        <p:blipFill>
          <a:blip r:embed="rId2" cstate="print">
            <a:extLst>
              <a:ext uri="{28A0092B-C50C-407E-A947-70E740481C1C}">
                <a14:useLocalDpi xmlns:a14="http://schemas.microsoft.com/office/drawing/2010/main" val="0"/>
              </a:ext>
            </a:extLst>
          </a:blip>
          <a:stretch>
            <a:fillRect/>
          </a:stretch>
        </p:blipFill>
        <p:spPr>
          <a:xfrm>
            <a:off x="4872212" y="1974498"/>
            <a:ext cx="6480000" cy="2909004"/>
          </a:xfrm>
        </p:spPr>
      </p:pic>
      <p:sp>
        <p:nvSpPr>
          <p:cNvPr id="3" name="Content Placeholder 2"/>
          <p:cNvSpPr>
            <a:spLocks noGrp="1"/>
          </p:cNvSpPr>
          <p:nvPr>
            <p:ph type="body" sz="half" idx="2"/>
          </p:nvPr>
        </p:nvSpPr>
        <p:spPr/>
        <p:txBody>
          <a:bodyPr>
            <a:normAutofit/>
          </a:bodyPr>
          <a:lstStyle/>
          <a:p>
            <a:pPr marL="285750" indent="-285750" algn="just">
              <a:buFont typeface="Arial" panose="020B0604020202020204" pitchFamily="34" charset="0"/>
              <a:buChar char="•"/>
            </a:pPr>
            <a:r>
              <a:rPr lang="en-US" dirty="0"/>
              <a:t>Measuring in the Z-basis allows us to directly determine the probabilities of a quantum state collapsing to ∣0⟩ or ∣1⟩, where +1 corresponds to state ∣0⟩ and -1 corresponds to state ∣1⟩ .</a:t>
            </a:r>
          </a:p>
          <a:p>
            <a:pPr marL="285750" indent="-285750" algn="just">
              <a:buFont typeface="Arial" panose="020B0604020202020204" pitchFamily="34" charset="0"/>
              <a:buChar char="•"/>
            </a:pPr>
            <a:r>
              <a:rPr lang="en-US" dirty="0"/>
              <a:t>By focusing on Pauli-Z, the process of extracting information from the quantum state is simplified, making it easier to integrate with classical machine learning algorithms.</a:t>
            </a:r>
          </a:p>
          <a:p>
            <a:pPr marL="285750" indent="-285750" algn="just">
              <a:buFont typeface="Arial" panose="020B0604020202020204" pitchFamily="34" charset="0"/>
              <a:buChar char="•"/>
            </a:pPr>
            <a:r>
              <a:rPr lang="en-US" dirty="0"/>
              <a:t>This reduces the overall error in QML applications, which is crucial given the current limitations in quantum hardware.</a:t>
            </a:r>
          </a:p>
        </p:txBody>
      </p:sp>
      <p:sp>
        <p:nvSpPr>
          <p:cNvPr id="19" name="Slide Number Placeholder 18"/>
          <p:cNvSpPr>
            <a:spLocks noGrp="1"/>
          </p:cNvSpPr>
          <p:nvPr>
            <p:ph type="sldNum" sz="quarter" idx="12"/>
          </p:nvPr>
        </p:nvSpPr>
        <p:spPr/>
        <p:txBody>
          <a:bodyPr/>
          <a:lstStyle/>
          <a:p>
            <a:fld id="{F9AA3F58-F348-4ACC-AF27-6630C1E91C9F}" type="slidenum">
              <a:rPr lang="en-IN" smtClean="0"/>
              <a:t>44</a:t>
            </a:fld>
            <a:endParaRPr lang="en-IN" dirty="0"/>
          </a:p>
        </p:txBody>
      </p:sp>
    </p:spTree>
    <p:extLst>
      <p:ext uri="{BB962C8B-B14F-4D97-AF65-F5344CB8AC3E}">
        <p14:creationId xmlns:p14="http://schemas.microsoft.com/office/powerpoint/2010/main" val="88397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How QSVM works</a:t>
            </a:r>
            <a:endParaRPr lang="en-IN" dirty="0"/>
          </a:p>
        </p:txBody>
      </p:sp>
      <p:pic>
        <p:nvPicPr>
          <p:cNvPr id="6" name="Picture Placeholder 5">
            <a:extLst>
              <a:ext uri="{FF2B5EF4-FFF2-40B4-BE49-F238E27FC236}">
                <a16:creationId xmlns:a16="http://schemas.microsoft.com/office/drawing/2014/main" id="{C9A4E100-9FE0-65CD-2B92-082750D1978D}"/>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4872212" y="2064789"/>
            <a:ext cx="6480000" cy="2728421"/>
          </a:xfrm>
        </p:spPr>
      </p:pic>
      <mc:AlternateContent xmlns:mc="http://schemas.openxmlformats.org/markup-compatibility/2006" xmlns:a14="http://schemas.microsoft.com/office/drawing/2010/main">
        <mc:Choice Requires="a14">
          <p:sp>
            <p:nvSpPr>
              <p:cNvPr id="3" name="Content Placeholder 2"/>
              <p:cNvSpPr>
                <a:spLocks noGrp="1"/>
              </p:cNvSpPr>
              <p:nvPr>
                <p:ph type="body" sz="half" idx="2"/>
              </p:nvPr>
            </p:nvSpPr>
            <p:spPr/>
            <p:txBody>
              <a:bodyPr>
                <a:normAutofit lnSpcReduction="10000"/>
              </a:bodyPr>
              <a:lstStyle/>
              <a:p>
                <a:pPr marL="285750" indent="-285750" algn="just">
                  <a:buFont typeface="Arial" panose="020B0604020202020204" pitchFamily="34" charset="0"/>
                  <a:buChar char="•"/>
                </a:pPr>
                <a:r>
                  <a:rPr lang="en-US" dirty="0"/>
                  <a:t>SVM involves a kernel function that computes the similarity or relationship between pairs of data points in a transformed feature space without explicitly performing the transformation. </a:t>
                </a:r>
              </a:p>
              <a:p>
                <a:pPr marL="285750" indent="-285750" algn="just">
                  <a:buFont typeface="Arial" panose="020B0604020202020204" pitchFamily="34" charset="0"/>
                  <a:buChar char="•"/>
                </a:pPr>
                <a:r>
                  <a:rPr lang="en-US" dirty="0"/>
                  <a:t>In QSVM the kernel function measures the similarity between quantum states, akin to the classical kernel trick.</a:t>
                </a:r>
              </a:p>
              <a:p>
                <a:pPr marL="285750" indent="-285750" algn="just">
                  <a:buFont typeface="Arial" panose="020B0604020202020204" pitchFamily="34" charset="0"/>
                  <a:buChar char="•"/>
                </a:pPr>
                <a:r>
                  <a:rPr lang="en-IN" dirty="0"/>
                  <a:t>The quantum kernel can be computed as the inner product of the quantum states:</a:t>
                </a:r>
              </a:p>
              <a:p>
                <a:endParaRPr lang="en-US"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𝐾</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𝜙</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e>
                                <m:e>
                                  <m:r>
                                    <a:rPr lang="en-US" b="0" i="1" smtClean="0">
                                      <a:latin typeface="Cambria Math" panose="02040503050406030204" pitchFamily="18" charset="0"/>
                                      <a:ea typeface="Cambria Math" panose="02040503050406030204" pitchFamily="18" charset="0"/>
                                    </a:rPr>
                                    <m:t>𝜙</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𝑗</m:t>
                                      </m:r>
                                    </m:sub>
                                  </m:sSub>
                                  <m:r>
                                    <a:rPr lang="en-US" b="0" i="1" smtClean="0">
                                      <a:latin typeface="Cambria Math" panose="02040503050406030204" pitchFamily="18" charset="0"/>
                                      <a:ea typeface="Cambria Math" panose="02040503050406030204" pitchFamily="18" charset="0"/>
                                    </a:rPr>
                                    <m:t>)</m:t>
                                  </m:r>
                                </m:e>
                              </m:d>
                            </m:e>
                          </m:d>
                        </m:e>
                        <m:sup>
                          <m:r>
                            <a:rPr lang="en-US" b="0" i="1" smtClean="0">
                              <a:latin typeface="Cambria Math" panose="02040503050406030204" pitchFamily="18" charset="0"/>
                            </a:rPr>
                            <m:t>2</m:t>
                          </m:r>
                        </m:sup>
                      </m:sSup>
                    </m:oMath>
                  </m:oMathPara>
                </a14:m>
                <a:endParaRPr lang="en-US" b="0" dirty="0"/>
              </a:p>
              <a:p>
                <a:endParaRPr lang="en-US" dirty="0"/>
              </a:p>
              <a:p>
                <a:pPr algn="ctr"/>
                <a:r>
                  <a:rPr lang="en-US" dirty="0"/>
                  <a:t>Where x</a:t>
                </a:r>
                <a:r>
                  <a:rPr lang="en-US" baseline="-25000" dirty="0"/>
                  <a:t>i</a:t>
                </a:r>
                <a:r>
                  <a:rPr lang="en-US" dirty="0"/>
                  <a:t> and </a:t>
                </a:r>
                <a:r>
                  <a:rPr lang="en-US" dirty="0" err="1"/>
                  <a:t>x</a:t>
                </a:r>
                <a:r>
                  <a:rPr lang="en-US" baseline="-25000" dirty="0" err="1"/>
                  <a:t>j</a:t>
                </a:r>
                <a:r>
                  <a:rPr lang="en-US" dirty="0"/>
                  <a:t> are the data points.</a:t>
                </a:r>
                <a:endParaRPr lang="en-IN"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type="body" sz="half" idx="2"/>
              </p:nvPr>
            </p:nvSpPr>
            <p:spPr>
              <a:blipFill rotWithShape="0">
                <a:blip r:embed="rId3"/>
                <a:stretch>
                  <a:fillRect l="-620" t="-1600" r="-775"/>
                </a:stretch>
              </a:blipFill>
            </p:spPr>
            <p:txBody>
              <a:bodyPr/>
              <a:lstStyle/>
              <a:p>
                <a:r>
                  <a:rPr lang="en-IN">
                    <a:noFill/>
                  </a:rPr>
                  <a:t> </a:t>
                </a:r>
              </a:p>
            </p:txBody>
          </p:sp>
        </mc:Fallback>
      </mc:AlternateContent>
      <p:sp>
        <p:nvSpPr>
          <p:cNvPr id="19" name="Slide Number Placeholder 18"/>
          <p:cNvSpPr>
            <a:spLocks noGrp="1"/>
          </p:cNvSpPr>
          <p:nvPr>
            <p:ph type="sldNum" sz="quarter" idx="12"/>
          </p:nvPr>
        </p:nvSpPr>
        <p:spPr/>
        <p:txBody>
          <a:bodyPr/>
          <a:lstStyle/>
          <a:p>
            <a:fld id="{F9AA3F58-F348-4ACC-AF27-6630C1E91C9F}" type="slidenum">
              <a:rPr lang="en-IN" smtClean="0"/>
              <a:t>45</a:t>
            </a:fld>
            <a:endParaRPr lang="en-IN" dirty="0"/>
          </a:p>
        </p:txBody>
      </p:sp>
    </p:spTree>
    <p:extLst>
      <p:ext uri="{BB962C8B-B14F-4D97-AF65-F5344CB8AC3E}">
        <p14:creationId xmlns:p14="http://schemas.microsoft.com/office/powerpoint/2010/main" val="16787943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How Quantum Properties can be used in SVM</a:t>
            </a:r>
            <a:endParaRPr lang="en-IN" dirty="0"/>
          </a:p>
        </p:txBody>
      </p:sp>
      <p:pic>
        <p:nvPicPr>
          <p:cNvPr id="6" name="Picture Placeholder 5">
            <a:extLst>
              <a:ext uri="{FF2B5EF4-FFF2-40B4-BE49-F238E27FC236}">
                <a16:creationId xmlns:a16="http://schemas.microsoft.com/office/drawing/2014/main" id="{C9A4E100-9FE0-65CD-2B92-082750D1978D}"/>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4872212" y="2064789"/>
            <a:ext cx="6480000" cy="2728421"/>
          </a:xfrm>
        </p:spPr>
      </p:pic>
      <p:sp>
        <p:nvSpPr>
          <p:cNvPr id="3" name="Content Placeholder 2"/>
          <p:cNvSpPr>
            <a:spLocks noGrp="1"/>
          </p:cNvSpPr>
          <p:nvPr>
            <p:ph type="body" sz="half" idx="2"/>
          </p:nvPr>
        </p:nvSpPr>
        <p:spPr/>
        <p:txBody>
          <a:bodyPr>
            <a:normAutofit/>
          </a:bodyPr>
          <a:lstStyle/>
          <a:p>
            <a:pPr marL="285750" indent="-285750" algn="just">
              <a:buFont typeface="Arial" panose="020B0604020202020204" pitchFamily="34" charset="0"/>
              <a:buChar char="•"/>
            </a:pPr>
            <a:r>
              <a:rPr lang="en-US" dirty="0"/>
              <a:t>Quantum Superposition: </a:t>
            </a:r>
          </a:p>
          <a:p>
            <a:pPr marL="742950" lvl="1" indent="-285750" algn="just">
              <a:buFont typeface="Arial" panose="020B0604020202020204" pitchFamily="34" charset="0"/>
              <a:buChar char="•"/>
            </a:pPr>
            <a:r>
              <a:rPr lang="en-US" dirty="0"/>
              <a:t>Each data point is represented by a quantum state that can be in a superposition of different basis states.</a:t>
            </a:r>
          </a:p>
          <a:p>
            <a:pPr marL="742950" lvl="1" indent="-285750" algn="just">
              <a:buFont typeface="Arial" panose="020B0604020202020204" pitchFamily="34" charset="0"/>
              <a:buChar char="•"/>
            </a:pPr>
            <a:r>
              <a:rPr lang="en-IN" dirty="0"/>
              <a:t>For instance, if you have a feature vector x = [x1,x2], you encode it into a quantum state ∣</a:t>
            </a:r>
            <a:r>
              <a:rPr lang="el-GR" dirty="0"/>
              <a:t>ψ⟩</a:t>
            </a:r>
            <a:r>
              <a:rPr lang="en-US" dirty="0"/>
              <a:t> </a:t>
            </a:r>
            <a:r>
              <a:rPr lang="el-GR" dirty="0"/>
              <a:t>=</a:t>
            </a:r>
            <a:r>
              <a:rPr lang="en-US" dirty="0"/>
              <a:t> </a:t>
            </a:r>
            <a:r>
              <a:rPr lang="el-GR" dirty="0"/>
              <a:t>α</a:t>
            </a:r>
            <a:r>
              <a:rPr lang="en-US" baseline="-25000" dirty="0"/>
              <a:t>0</a:t>
            </a:r>
            <a:r>
              <a:rPr lang="el-GR" dirty="0"/>
              <a:t>∣00⟩</a:t>
            </a:r>
            <a:r>
              <a:rPr lang="en-US" dirty="0"/>
              <a:t> </a:t>
            </a:r>
            <a:r>
              <a:rPr lang="el-GR" dirty="0"/>
              <a:t>+</a:t>
            </a:r>
            <a:r>
              <a:rPr lang="en-US" dirty="0"/>
              <a:t> </a:t>
            </a:r>
            <a:r>
              <a:rPr lang="el-GR" dirty="0"/>
              <a:t>α</a:t>
            </a:r>
            <a:r>
              <a:rPr lang="el-GR" baseline="-25000" dirty="0"/>
              <a:t>1</a:t>
            </a:r>
            <a:r>
              <a:rPr lang="el-GR" dirty="0"/>
              <a:t>∣01⟩</a:t>
            </a:r>
            <a:r>
              <a:rPr lang="en-US" dirty="0"/>
              <a:t> </a:t>
            </a:r>
            <a:r>
              <a:rPr lang="el-GR" dirty="0"/>
              <a:t>+</a:t>
            </a:r>
            <a:r>
              <a:rPr lang="en-US" dirty="0"/>
              <a:t> </a:t>
            </a:r>
            <a:r>
              <a:rPr lang="el-GR" dirty="0"/>
              <a:t>α</a:t>
            </a:r>
            <a:r>
              <a:rPr lang="el-GR" baseline="-25000" dirty="0"/>
              <a:t>2</a:t>
            </a:r>
            <a:r>
              <a:rPr lang="el-GR" dirty="0"/>
              <a:t>∣10⟩</a:t>
            </a:r>
            <a:r>
              <a:rPr lang="en-US" dirty="0"/>
              <a:t> </a:t>
            </a:r>
            <a:r>
              <a:rPr lang="el-GR" dirty="0"/>
              <a:t>+</a:t>
            </a:r>
            <a:r>
              <a:rPr lang="en-US" dirty="0"/>
              <a:t> </a:t>
            </a:r>
            <a:r>
              <a:rPr lang="el-GR" dirty="0"/>
              <a:t>α</a:t>
            </a:r>
            <a:r>
              <a:rPr lang="el-GR" baseline="-25000" dirty="0"/>
              <a:t>3</a:t>
            </a:r>
            <a:r>
              <a:rPr lang="el-GR" dirty="0"/>
              <a:t>∣11⟩, </a:t>
            </a:r>
            <a:r>
              <a:rPr lang="en-IN" dirty="0"/>
              <a:t>where </a:t>
            </a:r>
            <a:r>
              <a:rPr lang="el-GR" dirty="0"/>
              <a:t>α</a:t>
            </a:r>
            <a:r>
              <a:rPr lang="en-IN" baseline="-25000" dirty="0" err="1"/>
              <a:t>i</a:t>
            </a:r>
            <a:r>
              <a:rPr lang="en-IN" dirty="0"/>
              <a:t> are coefficients representing different feature values.</a:t>
            </a:r>
          </a:p>
          <a:p>
            <a:pPr marL="285750" indent="-285750">
              <a:buFont typeface="Arial" panose="020B0604020202020204" pitchFamily="34" charset="0"/>
              <a:buChar char="•"/>
            </a:pPr>
            <a:r>
              <a:rPr lang="en-US" dirty="0"/>
              <a:t>Quantum Entanglement:</a:t>
            </a:r>
          </a:p>
          <a:p>
            <a:pPr marL="742950" lvl="1" indent="-285750">
              <a:buFont typeface="Arial" panose="020B0604020202020204" pitchFamily="34" charset="0"/>
              <a:buChar char="•"/>
            </a:pPr>
            <a:r>
              <a:rPr lang="en-US" dirty="0"/>
              <a:t>Entangling qubits can help compute complex kernel functions that capture non-trivial relationships between data points.</a:t>
            </a:r>
          </a:p>
          <a:p>
            <a:pPr marL="742950" lvl="1" indent="-285750">
              <a:buFont typeface="Arial" panose="020B0604020202020204" pitchFamily="34" charset="0"/>
              <a:buChar char="•"/>
            </a:pPr>
            <a:r>
              <a:rPr lang="en-US" dirty="0"/>
              <a:t>Entangled data points can reveal sophisticated feature interactions and improve classification accuracy.</a:t>
            </a:r>
          </a:p>
        </p:txBody>
      </p:sp>
      <p:sp>
        <p:nvSpPr>
          <p:cNvPr id="19" name="Slide Number Placeholder 18"/>
          <p:cNvSpPr>
            <a:spLocks noGrp="1"/>
          </p:cNvSpPr>
          <p:nvPr>
            <p:ph type="sldNum" sz="quarter" idx="12"/>
          </p:nvPr>
        </p:nvSpPr>
        <p:spPr/>
        <p:txBody>
          <a:bodyPr/>
          <a:lstStyle/>
          <a:p>
            <a:fld id="{F9AA3F58-F348-4ACC-AF27-6630C1E91C9F}" type="slidenum">
              <a:rPr lang="en-IN" smtClean="0"/>
              <a:t>46</a:t>
            </a:fld>
            <a:endParaRPr lang="en-IN" dirty="0"/>
          </a:p>
        </p:txBody>
      </p:sp>
    </p:spTree>
    <p:extLst>
      <p:ext uri="{BB962C8B-B14F-4D97-AF65-F5344CB8AC3E}">
        <p14:creationId xmlns:p14="http://schemas.microsoft.com/office/powerpoint/2010/main" val="6919298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How QCNN works</a:t>
            </a:r>
            <a:endParaRPr lang="en-IN" dirty="0"/>
          </a:p>
        </p:txBody>
      </p:sp>
      <p:pic>
        <p:nvPicPr>
          <p:cNvPr id="6" name="Picture Placeholder 5">
            <a:extLst>
              <a:ext uri="{FF2B5EF4-FFF2-40B4-BE49-F238E27FC236}">
                <a16:creationId xmlns:a16="http://schemas.microsoft.com/office/drawing/2014/main" id="{C9A4E100-9FE0-65CD-2B92-082750D1978D}"/>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5070981" y="1974498"/>
            <a:ext cx="6082462" cy="2909004"/>
          </a:xfrm>
        </p:spPr>
      </p:pic>
      <p:sp>
        <p:nvSpPr>
          <p:cNvPr id="3" name="Content Placeholder 2"/>
          <p:cNvSpPr>
            <a:spLocks noGrp="1"/>
          </p:cNvSpPr>
          <p:nvPr>
            <p:ph type="body" sz="half" idx="2"/>
          </p:nvPr>
        </p:nvSpPr>
        <p:spPr/>
        <p:txBody>
          <a:bodyPr>
            <a:normAutofit fontScale="92500" lnSpcReduction="10000"/>
          </a:bodyPr>
          <a:lstStyle/>
          <a:p>
            <a:pPr marL="285750" indent="-285750" algn="just">
              <a:buFont typeface="Arial" panose="020B0604020202020204" pitchFamily="34" charset="0"/>
              <a:buChar char="•"/>
            </a:pPr>
            <a:r>
              <a:rPr lang="en-US" dirty="0"/>
              <a:t>Preprocess the images to rescale them between [0,1]. </a:t>
            </a:r>
          </a:p>
          <a:p>
            <a:pPr marL="285750" indent="-285750" algn="just">
              <a:buFont typeface="Arial" panose="020B0604020202020204" pitchFamily="34" charset="0"/>
              <a:buChar char="•"/>
            </a:pPr>
            <a:r>
              <a:rPr lang="en-US" dirty="0"/>
              <a:t>Currently Quantum Convolution can happen in two ways:</a:t>
            </a:r>
          </a:p>
          <a:p>
            <a:pPr marL="742950" lvl="1" indent="-285750" algn="just">
              <a:buFont typeface="Arial" panose="020B0604020202020204" pitchFamily="34" charset="0"/>
              <a:buChar char="•"/>
            </a:pPr>
            <a:r>
              <a:rPr lang="en-US" dirty="0"/>
              <a:t>First we convolve through the image using our kernel size and then giving that input to the quantum circuit.</a:t>
            </a:r>
          </a:p>
          <a:p>
            <a:pPr marL="742950" lvl="1" indent="-285750" algn="just">
              <a:buFont typeface="Arial" panose="020B0604020202020204" pitchFamily="34" charset="0"/>
              <a:buChar char="•"/>
            </a:pPr>
            <a:r>
              <a:rPr lang="en-US" dirty="0"/>
              <a:t>Second is to use classical convolutional operation to shrink down to useful information that can be directly processed by the quantum circuit</a:t>
            </a:r>
          </a:p>
          <a:p>
            <a:pPr marL="285750" indent="-285750" algn="just">
              <a:buFont typeface="Arial" panose="020B0604020202020204" pitchFamily="34" charset="0"/>
              <a:buChar char="•"/>
            </a:pPr>
            <a:r>
              <a:rPr lang="en-US" dirty="0"/>
              <a:t>The output is then again evaluated against the metrics that we are trying to optimize.</a:t>
            </a:r>
          </a:p>
          <a:p>
            <a:pPr marL="285750" indent="-285750" algn="just">
              <a:buFont typeface="Arial" panose="020B0604020202020204" pitchFamily="34" charset="0"/>
              <a:buChar char="•"/>
            </a:pPr>
            <a:r>
              <a:rPr lang="en-US" dirty="0"/>
              <a:t>The measurement might produce a binary result, which could correspond to a specific class label. For multi-class classification, additional post-processing of the measurement results may be required.</a:t>
            </a:r>
          </a:p>
        </p:txBody>
      </p:sp>
      <p:sp>
        <p:nvSpPr>
          <p:cNvPr id="19" name="Slide Number Placeholder 18"/>
          <p:cNvSpPr>
            <a:spLocks noGrp="1"/>
          </p:cNvSpPr>
          <p:nvPr>
            <p:ph type="sldNum" sz="quarter" idx="12"/>
          </p:nvPr>
        </p:nvSpPr>
        <p:spPr/>
        <p:txBody>
          <a:bodyPr/>
          <a:lstStyle/>
          <a:p>
            <a:fld id="{F9AA3F58-F348-4ACC-AF27-6630C1E91C9F}" type="slidenum">
              <a:rPr lang="en-IN" smtClean="0"/>
              <a:t>47</a:t>
            </a:fld>
            <a:endParaRPr lang="en-IN" dirty="0"/>
          </a:p>
        </p:txBody>
      </p:sp>
    </p:spTree>
    <p:extLst>
      <p:ext uri="{BB962C8B-B14F-4D97-AF65-F5344CB8AC3E}">
        <p14:creationId xmlns:p14="http://schemas.microsoft.com/office/powerpoint/2010/main" val="9175659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How Quantum Properties can be used in CNN</a:t>
            </a:r>
            <a:endParaRPr lang="en-IN" dirty="0"/>
          </a:p>
        </p:txBody>
      </p:sp>
      <p:pic>
        <p:nvPicPr>
          <p:cNvPr id="6" name="Picture Placeholder 5">
            <a:extLst>
              <a:ext uri="{FF2B5EF4-FFF2-40B4-BE49-F238E27FC236}">
                <a16:creationId xmlns:a16="http://schemas.microsoft.com/office/drawing/2014/main" id="{C9A4E100-9FE0-65CD-2B92-082750D1978D}"/>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5070981" y="1974498"/>
            <a:ext cx="6082462" cy="2909004"/>
          </a:xfrm>
        </p:spPr>
      </p:pic>
      <p:sp>
        <p:nvSpPr>
          <p:cNvPr id="3" name="Content Placeholder 2"/>
          <p:cNvSpPr>
            <a:spLocks noGrp="1"/>
          </p:cNvSpPr>
          <p:nvPr>
            <p:ph type="body" sz="half" idx="2"/>
          </p:nvPr>
        </p:nvSpPr>
        <p:spPr>
          <a:xfrm>
            <a:off x="839788" y="2057400"/>
            <a:ext cx="3932237" cy="4465320"/>
          </a:xfrm>
        </p:spPr>
        <p:txBody>
          <a:bodyPr>
            <a:normAutofit lnSpcReduction="10000"/>
          </a:bodyPr>
          <a:lstStyle/>
          <a:p>
            <a:pPr marL="285750" indent="-285750" algn="just">
              <a:buFont typeface="Arial" panose="020B0604020202020204" pitchFamily="34" charset="0"/>
              <a:buChar char="•"/>
            </a:pPr>
            <a:r>
              <a:rPr lang="en-US" dirty="0"/>
              <a:t>Quantum Superposition:</a:t>
            </a:r>
          </a:p>
          <a:p>
            <a:pPr marL="742950" lvl="1" indent="-285750" algn="just">
              <a:buFont typeface="Arial" panose="020B0604020202020204" pitchFamily="34" charset="0"/>
              <a:buChar char="•"/>
            </a:pPr>
            <a:r>
              <a:rPr lang="en-US" dirty="0"/>
              <a:t>By leveraging superposition, the QCNN can perform feature extraction more efficiently, processing all locations simultaneously rather than sequentially.</a:t>
            </a:r>
          </a:p>
          <a:p>
            <a:pPr marL="742950" lvl="1" indent="-285750" algn="just">
              <a:buFont typeface="Arial" panose="020B0604020202020204" pitchFamily="34" charset="0"/>
              <a:buChar char="•"/>
            </a:pPr>
            <a:r>
              <a:rPr lang="en-US" dirty="0"/>
              <a:t>This parallelism can provide a computational advantage by reducing the number of operations required to process high-dimensional data.</a:t>
            </a:r>
          </a:p>
          <a:p>
            <a:pPr marL="285750" indent="-285750" algn="just">
              <a:buFont typeface="Arial" panose="020B0604020202020204" pitchFamily="34" charset="0"/>
              <a:buChar char="•"/>
            </a:pPr>
            <a:r>
              <a:rPr lang="en-US" dirty="0"/>
              <a:t>Quantum Entanglement:</a:t>
            </a:r>
          </a:p>
          <a:p>
            <a:pPr marL="742950" lvl="1" indent="-285750" algn="just">
              <a:buFont typeface="Arial" panose="020B0604020202020204" pitchFamily="34" charset="0"/>
              <a:buChar char="•"/>
            </a:pPr>
            <a:r>
              <a:rPr lang="en-US" dirty="0"/>
              <a:t>The QCNN can model dependencies between distant regions of the input, which is particularly valuable in tasks like pattern recognition or anomaly detection.</a:t>
            </a:r>
          </a:p>
          <a:p>
            <a:pPr marL="742950" lvl="1" indent="-285750" algn="just">
              <a:buFont typeface="Arial" panose="020B0604020202020204" pitchFamily="34" charset="0"/>
              <a:buChar char="•"/>
            </a:pPr>
            <a:r>
              <a:rPr lang="en-US" dirty="0"/>
              <a:t>For example, detecting local features such as edges, textures, and shapes in MRIs or CT scan by identifying irregularities or abnormalities that may indicate tumors, even if they are not close to each other.</a:t>
            </a:r>
          </a:p>
        </p:txBody>
      </p:sp>
      <p:sp>
        <p:nvSpPr>
          <p:cNvPr id="19" name="Slide Number Placeholder 18"/>
          <p:cNvSpPr>
            <a:spLocks noGrp="1"/>
          </p:cNvSpPr>
          <p:nvPr>
            <p:ph type="sldNum" sz="quarter" idx="12"/>
          </p:nvPr>
        </p:nvSpPr>
        <p:spPr/>
        <p:txBody>
          <a:bodyPr/>
          <a:lstStyle/>
          <a:p>
            <a:fld id="{F9AA3F58-F348-4ACC-AF27-6630C1E91C9F}" type="slidenum">
              <a:rPr lang="en-IN" smtClean="0"/>
              <a:t>48</a:t>
            </a:fld>
            <a:endParaRPr lang="en-IN" dirty="0"/>
          </a:p>
        </p:txBody>
      </p:sp>
    </p:spTree>
    <p:extLst>
      <p:ext uri="{BB962C8B-B14F-4D97-AF65-F5344CB8AC3E}">
        <p14:creationId xmlns:p14="http://schemas.microsoft.com/office/powerpoint/2010/main" val="12929780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How Quantum NLP can be done </a:t>
            </a:r>
            <a:endParaRPr lang="en-IN" dirty="0"/>
          </a:p>
        </p:txBody>
      </p:sp>
      <p:pic>
        <p:nvPicPr>
          <p:cNvPr id="6" name="Picture Placeholder 5">
            <a:extLst>
              <a:ext uri="{FF2B5EF4-FFF2-40B4-BE49-F238E27FC236}">
                <a16:creationId xmlns:a16="http://schemas.microsoft.com/office/drawing/2014/main" id="{C9A4E100-9FE0-65CD-2B92-082750D1978D}"/>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tretch>
            <a:fillRect/>
          </a:stretch>
        </p:blipFill>
        <p:spPr>
          <a:xfrm>
            <a:off x="6182205" y="2115803"/>
            <a:ext cx="5123895" cy="3694782"/>
          </a:xfrm>
        </p:spPr>
      </p:pic>
      <p:sp>
        <p:nvSpPr>
          <p:cNvPr id="3" name="Content Placeholder 2"/>
          <p:cNvSpPr>
            <a:spLocks noGrp="1"/>
          </p:cNvSpPr>
          <p:nvPr>
            <p:ph type="body" sz="half" idx="2"/>
          </p:nvPr>
        </p:nvSpPr>
        <p:spPr/>
        <p:txBody>
          <a:bodyPr>
            <a:normAutofit/>
          </a:bodyPr>
          <a:lstStyle/>
          <a:p>
            <a:pPr marL="285750" indent="-285750" algn="just">
              <a:buFont typeface="Arial" panose="020B0604020202020204" pitchFamily="34" charset="0"/>
              <a:buChar char="•"/>
            </a:pPr>
            <a:r>
              <a:rPr lang="en-US" dirty="0"/>
              <a:t>Generative Pre-trained Transformer or GPT is a type of large language model which utilize probability to predict the next token one at a time according to the context of input provided.</a:t>
            </a:r>
          </a:p>
          <a:p>
            <a:pPr marL="285750" indent="-285750" algn="just">
              <a:buFont typeface="Arial" panose="020B0604020202020204" pitchFamily="34" charset="0"/>
              <a:buChar char="•"/>
            </a:pPr>
            <a:r>
              <a:rPr lang="en-US" dirty="0"/>
              <a:t>GPT calculates the attention scores of the word with the context and that allows the model to weigh the importance of different words in a sequence relative to each other. </a:t>
            </a:r>
          </a:p>
          <a:p>
            <a:pPr marL="285750" indent="-285750" algn="just">
              <a:buFont typeface="Arial" panose="020B0604020202020204" pitchFamily="34" charset="0"/>
              <a:buChar char="•"/>
            </a:pPr>
            <a:r>
              <a:rPr lang="en-US" dirty="0"/>
              <a:t>Quantum circuits could compute attention scores in parallel, leveraging quantum parallelism to process multiple sequences or contexts simultaneously.</a:t>
            </a:r>
          </a:p>
          <a:p>
            <a:pPr marL="285750" indent="-285750" algn="just">
              <a:buFont typeface="Arial" panose="020B0604020202020204" pitchFamily="34" charset="0"/>
              <a:buChar char="•"/>
            </a:pPr>
            <a:endParaRPr lang="en-US" dirty="0"/>
          </a:p>
        </p:txBody>
      </p:sp>
      <p:sp>
        <p:nvSpPr>
          <p:cNvPr id="19" name="Slide Number Placeholder 18"/>
          <p:cNvSpPr>
            <a:spLocks noGrp="1"/>
          </p:cNvSpPr>
          <p:nvPr>
            <p:ph type="sldNum" sz="quarter" idx="12"/>
          </p:nvPr>
        </p:nvSpPr>
        <p:spPr/>
        <p:txBody>
          <a:bodyPr/>
          <a:lstStyle/>
          <a:p>
            <a:fld id="{F9AA3F58-F348-4ACC-AF27-6630C1E91C9F}" type="slidenum">
              <a:rPr lang="en-IN" smtClean="0"/>
              <a:t>49</a:t>
            </a:fld>
            <a:endParaRPr lang="en-IN" dirty="0"/>
          </a:p>
        </p:txBody>
      </p:sp>
    </p:spTree>
    <p:extLst>
      <p:ext uri="{BB962C8B-B14F-4D97-AF65-F5344CB8AC3E}">
        <p14:creationId xmlns:p14="http://schemas.microsoft.com/office/powerpoint/2010/main" val="32732466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How Quantum Properties can be used in NLP</a:t>
            </a:r>
            <a:endParaRPr lang="en-IN" dirty="0"/>
          </a:p>
        </p:txBody>
      </p:sp>
      <p:pic>
        <p:nvPicPr>
          <p:cNvPr id="6" name="Picture Placeholder 5">
            <a:extLst>
              <a:ext uri="{FF2B5EF4-FFF2-40B4-BE49-F238E27FC236}">
                <a16:creationId xmlns:a16="http://schemas.microsoft.com/office/drawing/2014/main" id="{C9A4E100-9FE0-65CD-2B92-082750D1978D}"/>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tretch>
            <a:fillRect/>
          </a:stretch>
        </p:blipFill>
        <p:spPr>
          <a:xfrm>
            <a:off x="6182205" y="2115803"/>
            <a:ext cx="5123895" cy="3694782"/>
          </a:xfrm>
        </p:spPr>
      </p:pic>
      <p:sp>
        <p:nvSpPr>
          <p:cNvPr id="3" name="Content Placeholder 2"/>
          <p:cNvSpPr>
            <a:spLocks noGrp="1"/>
          </p:cNvSpPr>
          <p:nvPr>
            <p:ph type="body" sz="half" idx="2"/>
          </p:nvPr>
        </p:nvSpPr>
        <p:spPr/>
        <p:txBody>
          <a:bodyPr>
            <a:normAutofit/>
          </a:bodyPr>
          <a:lstStyle/>
          <a:p>
            <a:pPr marL="285750" indent="-285750" algn="just">
              <a:buFont typeface="Arial" panose="020B0604020202020204" pitchFamily="34" charset="0"/>
              <a:buChar char="•"/>
            </a:pPr>
            <a:r>
              <a:rPr lang="en-US" dirty="0"/>
              <a:t>Quantum Entanglement </a:t>
            </a:r>
          </a:p>
          <a:p>
            <a:pPr marL="742950" lvl="1" indent="-285750" algn="just">
              <a:buFont typeface="Arial" panose="020B0604020202020204" pitchFamily="34" charset="0"/>
              <a:buChar char="•"/>
            </a:pPr>
            <a:r>
              <a:rPr lang="en-US" dirty="0"/>
              <a:t>allows the model to capture complex dependencies and relationships between tokens</a:t>
            </a:r>
          </a:p>
          <a:p>
            <a:pPr marL="742950" lvl="1" indent="-285750" algn="just">
              <a:buFont typeface="Arial" panose="020B0604020202020204" pitchFamily="34" charset="0"/>
              <a:buChar char="•"/>
            </a:pPr>
            <a:r>
              <a:rPr lang="en-US" dirty="0"/>
              <a:t>When tokens are entangled, changes in the state of one token (e.g., through interaction with another word) directly affect the state of the entangled tokens. </a:t>
            </a:r>
          </a:p>
          <a:p>
            <a:pPr marL="285750" indent="-285750" algn="just">
              <a:buFont typeface="Arial" panose="020B0604020202020204" pitchFamily="34" charset="0"/>
              <a:buChar char="•"/>
            </a:pPr>
            <a:r>
              <a:rPr lang="en-US" dirty="0"/>
              <a:t>Quantum Superposition</a:t>
            </a:r>
          </a:p>
          <a:p>
            <a:pPr marL="742950" lvl="1" indent="-285750" algn="just">
              <a:buFont typeface="Arial" panose="020B0604020202020204" pitchFamily="34" charset="0"/>
              <a:buChar char="•"/>
            </a:pPr>
            <a:r>
              <a:rPr lang="en-US" dirty="0"/>
              <a:t>Each token can exist in a superposition of multiple meanings or contexts. </a:t>
            </a:r>
          </a:p>
          <a:p>
            <a:pPr marL="742950" lvl="1" indent="-285750" algn="just">
              <a:buFont typeface="Arial" panose="020B0604020202020204" pitchFamily="34" charset="0"/>
              <a:buChar char="•"/>
            </a:pPr>
            <a:r>
              <a:rPr lang="en-US" dirty="0"/>
              <a:t>For example, "saw" could simultaneously represent different grammatical tenses or associations, depending on context.</a:t>
            </a:r>
          </a:p>
        </p:txBody>
      </p:sp>
      <p:sp>
        <p:nvSpPr>
          <p:cNvPr id="19" name="Slide Number Placeholder 18"/>
          <p:cNvSpPr>
            <a:spLocks noGrp="1"/>
          </p:cNvSpPr>
          <p:nvPr>
            <p:ph type="sldNum" sz="quarter" idx="12"/>
          </p:nvPr>
        </p:nvSpPr>
        <p:spPr/>
        <p:txBody>
          <a:bodyPr/>
          <a:lstStyle/>
          <a:p>
            <a:fld id="{F9AA3F58-F348-4ACC-AF27-6630C1E91C9F}" type="slidenum">
              <a:rPr lang="en-IN" smtClean="0"/>
              <a:t>50</a:t>
            </a:fld>
            <a:endParaRPr lang="en-IN" dirty="0"/>
          </a:p>
        </p:txBody>
      </p:sp>
    </p:spTree>
    <p:extLst>
      <p:ext uri="{BB962C8B-B14F-4D97-AF65-F5344CB8AC3E}">
        <p14:creationId xmlns:p14="http://schemas.microsoft.com/office/powerpoint/2010/main" val="28291711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Applications of QML</a:t>
            </a:r>
            <a:endParaRPr lang="en-IN" dirty="0"/>
          </a:p>
        </p:txBody>
      </p:sp>
      <p:sp>
        <p:nvSpPr>
          <p:cNvPr id="5" name="Content Placeholder 4">
            <a:extLst>
              <a:ext uri="{FF2B5EF4-FFF2-40B4-BE49-F238E27FC236}">
                <a16:creationId xmlns:a16="http://schemas.microsoft.com/office/drawing/2014/main" id="{9F47933C-2A7D-63F1-C686-441C8434C378}"/>
              </a:ext>
            </a:extLst>
          </p:cNvPr>
          <p:cNvSpPr>
            <a:spLocks noGrp="1"/>
          </p:cNvSpPr>
          <p:nvPr>
            <p:ph idx="1"/>
          </p:nvPr>
        </p:nvSpPr>
        <p:spPr/>
        <p:txBody>
          <a:bodyPr>
            <a:normAutofit fontScale="92500" lnSpcReduction="10000"/>
          </a:bodyPr>
          <a:lstStyle/>
          <a:p>
            <a:pPr algn="just"/>
            <a:r>
              <a:rPr lang="en-US" b="1" dirty="0"/>
              <a:t>Quantum Data Classification</a:t>
            </a:r>
            <a:r>
              <a:rPr lang="en-US" dirty="0"/>
              <a:t>: In fields like finance and healthcare, where data classification is crucial, QML can enhance the speed and accuracy of categorizing data. </a:t>
            </a:r>
          </a:p>
          <a:p>
            <a:pPr algn="just"/>
            <a:r>
              <a:rPr lang="en-US" b="1" dirty="0"/>
              <a:t>Quantum Chemistry and Drug Discovery</a:t>
            </a:r>
            <a:r>
              <a:rPr lang="en-US" dirty="0"/>
              <a:t>: QML is being applied to simulate molecular structures more efficiently, aiding in the discovery of new drugs.</a:t>
            </a:r>
          </a:p>
          <a:p>
            <a:pPr algn="just"/>
            <a:r>
              <a:rPr lang="en-US" b="1" dirty="0"/>
              <a:t>Natural Language Processing (NLP)</a:t>
            </a:r>
            <a:r>
              <a:rPr lang="en-US" dirty="0"/>
              <a:t>: Quantum computing could enhance NLP tasks like translation, sentiment analysis, and summarization by processing large text datasets more efficiently.</a:t>
            </a:r>
          </a:p>
          <a:p>
            <a:pPr algn="just"/>
            <a:r>
              <a:rPr lang="en-US" b="1" dirty="0"/>
              <a:t>Advanced Cryptography and Cybersecurity</a:t>
            </a:r>
            <a:r>
              <a:rPr lang="en-US" dirty="0"/>
              <a:t>: Quantum machine learning could be used to create more secure encryption methods and detect anomalies in network traffic faster than classical systems.</a:t>
            </a:r>
            <a:endParaRPr lang="en-IN" dirty="0"/>
          </a:p>
        </p:txBody>
      </p:sp>
      <p:sp>
        <p:nvSpPr>
          <p:cNvPr id="18" name="Slide Number Placeholder 17"/>
          <p:cNvSpPr>
            <a:spLocks noGrp="1"/>
          </p:cNvSpPr>
          <p:nvPr>
            <p:ph type="sldNum" sz="quarter" idx="12"/>
          </p:nvPr>
        </p:nvSpPr>
        <p:spPr/>
        <p:txBody>
          <a:bodyPr/>
          <a:lstStyle/>
          <a:p>
            <a:fld id="{F9AA3F58-F348-4ACC-AF27-6630C1E91C9F}" type="slidenum">
              <a:rPr lang="en-IN" smtClean="0"/>
              <a:pPr/>
              <a:t>51</a:t>
            </a:fld>
            <a:endParaRPr lang="en-IN" dirty="0"/>
          </a:p>
        </p:txBody>
      </p:sp>
    </p:spTree>
    <p:extLst>
      <p:ext uri="{BB962C8B-B14F-4D97-AF65-F5344CB8AC3E}">
        <p14:creationId xmlns:p14="http://schemas.microsoft.com/office/powerpoint/2010/main" val="20837409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12554-A7FC-47E7-8334-2332C4314213}"/>
              </a:ext>
            </a:extLst>
          </p:cNvPr>
          <p:cNvSpPr>
            <a:spLocks noGrp="1"/>
          </p:cNvSpPr>
          <p:nvPr>
            <p:ph type="title"/>
          </p:nvPr>
        </p:nvSpPr>
        <p:spPr/>
        <p:txBody>
          <a:bodyPr/>
          <a:lstStyle/>
          <a:p>
            <a:pPr algn="ctr"/>
            <a:r>
              <a:rPr lang="en-IN" b="1" dirty="0"/>
              <a:t>Limitations &amp; Open Challenges</a:t>
            </a:r>
          </a:p>
        </p:txBody>
      </p:sp>
      <p:sp>
        <p:nvSpPr>
          <p:cNvPr id="3" name="Content Placeholder 2">
            <a:extLst>
              <a:ext uri="{FF2B5EF4-FFF2-40B4-BE49-F238E27FC236}">
                <a16:creationId xmlns:a16="http://schemas.microsoft.com/office/drawing/2014/main" id="{5990D0FD-C241-44B4-9223-0C8CC3E03E34}"/>
              </a:ext>
            </a:extLst>
          </p:cNvPr>
          <p:cNvSpPr>
            <a:spLocks noGrp="1"/>
          </p:cNvSpPr>
          <p:nvPr>
            <p:ph idx="1"/>
          </p:nvPr>
        </p:nvSpPr>
        <p:spPr/>
        <p:txBody>
          <a:bodyPr>
            <a:normAutofit/>
          </a:bodyPr>
          <a:lstStyle/>
          <a:p>
            <a:r>
              <a:rPr lang="en-IN" b="1" dirty="0"/>
              <a:t>Scalability</a:t>
            </a:r>
          </a:p>
          <a:p>
            <a:pPr lvl="1"/>
            <a:r>
              <a:rPr lang="en-IN" b="1" dirty="0"/>
              <a:t>Qubit Count &amp; Coherence</a:t>
            </a:r>
            <a:r>
              <a:rPr lang="en-IN" dirty="0"/>
              <a:t>: Current NISQ devices top out at a few dozen qubits with less coherence times, limiting algorithm depth and data size.</a:t>
            </a:r>
          </a:p>
          <a:p>
            <a:pPr lvl="1"/>
            <a:r>
              <a:rPr lang="en-IN" b="1" dirty="0"/>
              <a:t>Error Correction Overhead</a:t>
            </a:r>
            <a:r>
              <a:rPr lang="en-IN" dirty="0"/>
              <a:t>: Achieving fault tolerance requires encoding logical qubits via parity codes, with overhead growing exponentially in physical.</a:t>
            </a:r>
          </a:p>
          <a:p>
            <a:pPr lvl="1"/>
            <a:r>
              <a:rPr lang="en-IN" b="1" dirty="0"/>
              <a:t>Hardware Engineering: </a:t>
            </a:r>
            <a:r>
              <a:rPr lang="en-IN" dirty="0"/>
              <a:t>Scaling beyond tens of qubits demands complex cryogenics and control electronics that introduce latency and thermal noise. </a:t>
            </a:r>
          </a:p>
          <a:p>
            <a:pPr lvl="1"/>
            <a:r>
              <a:rPr lang="en-IN" b="1" dirty="0"/>
              <a:t>Practical Speedups</a:t>
            </a:r>
            <a:r>
              <a:rPr lang="en-IN" dirty="0"/>
              <a:t>: Theoretical quantum advantage often vanishes on real hardware due to limited qubit counts and high error rates. </a:t>
            </a:r>
          </a:p>
        </p:txBody>
      </p:sp>
      <p:sp>
        <p:nvSpPr>
          <p:cNvPr id="4" name="Slide Number Placeholder 3">
            <a:extLst>
              <a:ext uri="{FF2B5EF4-FFF2-40B4-BE49-F238E27FC236}">
                <a16:creationId xmlns:a16="http://schemas.microsoft.com/office/drawing/2014/main" id="{A090D8A0-823A-490B-BD57-2CBD5080A441}"/>
              </a:ext>
            </a:extLst>
          </p:cNvPr>
          <p:cNvSpPr>
            <a:spLocks noGrp="1"/>
          </p:cNvSpPr>
          <p:nvPr>
            <p:ph type="sldNum" sz="quarter" idx="12"/>
          </p:nvPr>
        </p:nvSpPr>
        <p:spPr/>
        <p:txBody>
          <a:bodyPr/>
          <a:lstStyle/>
          <a:p>
            <a:fld id="{F9AA3F58-F348-4ACC-AF27-6630C1E91C9F}" type="slidenum">
              <a:rPr lang="en-IN" smtClean="0"/>
              <a:pPr/>
              <a:t>52</a:t>
            </a:fld>
            <a:endParaRPr lang="en-IN" dirty="0"/>
          </a:p>
        </p:txBody>
      </p:sp>
    </p:spTree>
    <p:extLst>
      <p:ext uri="{BB962C8B-B14F-4D97-AF65-F5344CB8AC3E}">
        <p14:creationId xmlns:p14="http://schemas.microsoft.com/office/powerpoint/2010/main" val="26392972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EE95C-4052-4222-BCC1-157DA913C4D6}"/>
              </a:ext>
            </a:extLst>
          </p:cNvPr>
          <p:cNvSpPr>
            <a:spLocks noGrp="1"/>
          </p:cNvSpPr>
          <p:nvPr>
            <p:ph type="title"/>
          </p:nvPr>
        </p:nvSpPr>
        <p:spPr/>
        <p:txBody>
          <a:bodyPr/>
          <a:lstStyle/>
          <a:p>
            <a:pPr algn="ctr"/>
            <a:r>
              <a:rPr lang="en-IN" b="1" dirty="0"/>
              <a:t>Limitations &amp; Open Challenges</a:t>
            </a:r>
            <a:endParaRPr lang="en-IN" dirty="0"/>
          </a:p>
        </p:txBody>
      </p:sp>
      <p:sp>
        <p:nvSpPr>
          <p:cNvPr id="3" name="Content Placeholder 2">
            <a:extLst>
              <a:ext uri="{FF2B5EF4-FFF2-40B4-BE49-F238E27FC236}">
                <a16:creationId xmlns:a16="http://schemas.microsoft.com/office/drawing/2014/main" id="{EDAA569C-CB52-464E-B175-66220F52AC3C}"/>
              </a:ext>
            </a:extLst>
          </p:cNvPr>
          <p:cNvSpPr>
            <a:spLocks noGrp="1"/>
          </p:cNvSpPr>
          <p:nvPr>
            <p:ph idx="1"/>
          </p:nvPr>
        </p:nvSpPr>
        <p:spPr/>
        <p:txBody>
          <a:bodyPr>
            <a:normAutofit/>
          </a:bodyPr>
          <a:lstStyle/>
          <a:p>
            <a:r>
              <a:rPr lang="en-IN" b="1" dirty="0"/>
              <a:t>Barren Plateaus</a:t>
            </a:r>
          </a:p>
          <a:p>
            <a:pPr lvl="1"/>
            <a:r>
              <a:rPr lang="en-IN" b="1" dirty="0"/>
              <a:t>Vanishing Gradients</a:t>
            </a:r>
            <a:r>
              <a:rPr lang="en-IN" dirty="0"/>
              <a:t>: Randomly initialized variational circuits exhibit exponentially flat loss landscapes, requiring exponentially many evaluations to find a descent direction.</a:t>
            </a:r>
          </a:p>
          <a:p>
            <a:pPr lvl="1"/>
            <a:r>
              <a:rPr lang="en-IN" b="1" dirty="0"/>
              <a:t>Depth &amp; Connectivity Effects</a:t>
            </a:r>
            <a:r>
              <a:rPr lang="en-IN" dirty="0"/>
              <a:t>: Even shallow circuits with global cost functions can enter barren regions, making ansatz design crucial.</a:t>
            </a:r>
          </a:p>
          <a:p>
            <a:pPr lvl="1"/>
            <a:r>
              <a:rPr lang="en-IN" b="1" dirty="0"/>
              <a:t>Mitigation Efforts</a:t>
            </a:r>
            <a:r>
              <a:rPr lang="en-IN" dirty="0"/>
              <a:t>: Layer wise training and structured ansatzes show promise but no universal cure exists; optimization remains a research frontier.</a:t>
            </a:r>
          </a:p>
          <a:p>
            <a:pPr lvl="1"/>
            <a:r>
              <a:rPr lang="en-IN" b="1" dirty="0"/>
              <a:t>Noise-Induced Plateaus</a:t>
            </a:r>
            <a:r>
              <a:rPr lang="en-IN" dirty="0"/>
              <a:t>: Real-device noise exacerbates gradient decay, demanding sophisticated error‐mitigation techniques alongside algorithmic fixes</a:t>
            </a:r>
          </a:p>
          <a:p>
            <a:endParaRPr lang="en-IN" dirty="0"/>
          </a:p>
        </p:txBody>
      </p:sp>
      <p:sp>
        <p:nvSpPr>
          <p:cNvPr id="4" name="Slide Number Placeholder 3">
            <a:extLst>
              <a:ext uri="{FF2B5EF4-FFF2-40B4-BE49-F238E27FC236}">
                <a16:creationId xmlns:a16="http://schemas.microsoft.com/office/drawing/2014/main" id="{AC26A449-360A-45E7-8CEA-0D40C1383600}"/>
              </a:ext>
            </a:extLst>
          </p:cNvPr>
          <p:cNvSpPr>
            <a:spLocks noGrp="1"/>
          </p:cNvSpPr>
          <p:nvPr>
            <p:ph type="sldNum" sz="quarter" idx="12"/>
          </p:nvPr>
        </p:nvSpPr>
        <p:spPr/>
        <p:txBody>
          <a:bodyPr/>
          <a:lstStyle/>
          <a:p>
            <a:fld id="{F9AA3F58-F348-4ACC-AF27-6630C1E91C9F}" type="slidenum">
              <a:rPr lang="en-IN" smtClean="0"/>
              <a:pPr/>
              <a:t>53</a:t>
            </a:fld>
            <a:endParaRPr lang="en-IN" dirty="0"/>
          </a:p>
        </p:txBody>
      </p:sp>
    </p:spTree>
    <p:extLst>
      <p:ext uri="{BB962C8B-B14F-4D97-AF65-F5344CB8AC3E}">
        <p14:creationId xmlns:p14="http://schemas.microsoft.com/office/powerpoint/2010/main" val="8813414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FDCCE-F0B3-4B73-BFAF-839B1A55EB9B}"/>
              </a:ext>
            </a:extLst>
          </p:cNvPr>
          <p:cNvSpPr>
            <a:spLocks noGrp="1"/>
          </p:cNvSpPr>
          <p:nvPr>
            <p:ph type="title"/>
          </p:nvPr>
        </p:nvSpPr>
        <p:spPr/>
        <p:txBody>
          <a:bodyPr/>
          <a:lstStyle/>
          <a:p>
            <a:pPr algn="ctr"/>
            <a:r>
              <a:rPr lang="en-IN" b="1" dirty="0"/>
              <a:t>Limitations &amp; Open Challenges</a:t>
            </a:r>
            <a:endParaRPr lang="en-IN" dirty="0"/>
          </a:p>
        </p:txBody>
      </p:sp>
      <p:sp>
        <p:nvSpPr>
          <p:cNvPr id="3" name="Content Placeholder 2">
            <a:extLst>
              <a:ext uri="{FF2B5EF4-FFF2-40B4-BE49-F238E27FC236}">
                <a16:creationId xmlns:a16="http://schemas.microsoft.com/office/drawing/2014/main" id="{C0D44062-3004-4520-8C9C-7D65CE4BFFFE}"/>
              </a:ext>
            </a:extLst>
          </p:cNvPr>
          <p:cNvSpPr>
            <a:spLocks noGrp="1"/>
          </p:cNvSpPr>
          <p:nvPr>
            <p:ph idx="1"/>
          </p:nvPr>
        </p:nvSpPr>
        <p:spPr/>
        <p:txBody>
          <a:bodyPr>
            <a:normAutofit lnSpcReduction="10000"/>
          </a:bodyPr>
          <a:lstStyle/>
          <a:p>
            <a:r>
              <a:rPr lang="en-IN" b="1" dirty="0"/>
              <a:t>Data Loading Bottlenecks</a:t>
            </a:r>
          </a:p>
          <a:p>
            <a:pPr lvl="1"/>
            <a:r>
              <a:rPr lang="en-IN" b="1" dirty="0"/>
              <a:t>Quantum Data Encoding</a:t>
            </a:r>
            <a:r>
              <a:rPr lang="en-IN" dirty="0"/>
              <a:t>: Mapping an N-dimensional classical vector into qubits typically costs O(N) gates or relies on QRAM, which is still largely theoretical.</a:t>
            </a:r>
          </a:p>
          <a:p>
            <a:pPr lvl="1"/>
            <a:r>
              <a:rPr lang="en-IN" b="1" dirty="0"/>
              <a:t>High-Dimensional Inputs</a:t>
            </a:r>
            <a:r>
              <a:rPr lang="en-IN" dirty="0"/>
              <a:t>: Unstructured datasets (images, text embeddings) drastically increase circuit depth and gate count for amplitude or angle encoding.</a:t>
            </a:r>
          </a:p>
          <a:p>
            <a:pPr lvl="1"/>
            <a:r>
              <a:rPr lang="en-IN" b="1" dirty="0"/>
              <a:t>Classical–Quantum I/O</a:t>
            </a:r>
            <a:r>
              <a:rPr lang="en-IN" dirty="0"/>
              <a:t>: Hybrid QML workflows loop between classical optimizers and quantum measurements, creating transfer bottlenecks that negate potential speedups.</a:t>
            </a:r>
          </a:p>
          <a:p>
            <a:pPr lvl="1"/>
            <a:r>
              <a:rPr lang="en-IN" b="1" dirty="0"/>
              <a:t>Advanced Loading Schemes</a:t>
            </a:r>
            <a:r>
              <a:rPr lang="en-IN" dirty="0"/>
              <a:t>: Techniques like quantum GANs or Boltzmann machines can streamline loading but introduce extra circuit complexity and resource demands</a:t>
            </a:r>
          </a:p>
          <a:p>
            <a:endParaRPr lang="en-IN" dirty="0"/>
          </a:p>
        </p:txBody>
      </p:sp>
      <p:sp>
        <p:nvSpPr>
          <p:cNvPr id="4" name="Slide Number Placeholder 3">
            <a:extLst>
              <a:ext uri="{FF2B5EF4-FFF2-40B4-BE49-F238E27FC236}">
                <a16:creationId xmlns:a16="http://schemas.microsoft.com/office/drawing/2014/main" id="{3BD47251-8513-44FE-97F2-15A5994DF66E}"/>
              </a:ext>
            </a:extLst>
          </p:cNvPr>
          <p:cNvSpPr>
            <a:spLocks noGrp="1"/>
          </p:cNvSpPr>
          <p:nvPr>
            <p:ph type="sldNum" sz="quarter" idx="12"/>
          </p:nvPr>
        </p:nvSpPr>
        <p:spPr/>
        <p:txBody>
          <a:bodyPr/>
          <a:lstStyle/>
          <a:p>
            <a:fld id="{F9AA3F58-F348-4ACC-AF27-6630C1E91C9F}" type="slidenum">
              <a:rPr lang="en-IN" smtClean="0"/>
              <a:pPr/>
              <a:t>54</a:t>
            </a:fld>
            <a:endParaRPr lang="en-IN" dirty="0"/>
          </a:p>
        </p:txBody>
      </p:sp>
    </p:spTree>
    <p:extLst>
      <p:ext uri="{BB962C8B-B14F-4D97-AF65-F5344CB8AC3E}">
        <p14:creationId xmlns:p14="http://schemas.microsoft.com/office/powerpoint/2010/main" val="24212681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Resources for QML</a:t>
            </a:r>
            <a:endParaRPr lang="en-IN" dirty="0"/>
          </a:p>
        </p:txBody>
      </p:sp>
      <p:sp>
        <p:nvSpPr>
          <p:cNvPr id="5" name="Content Placeholder 4">
            <a:extLst>
              <a:ext uri="{FF2B5EF4-FFF2-40B4-BE49-F238E27FC236}">
                <a16:creationId xmlns:a16="http://schemas.microsoft.com/office/drawing/2014/main" id="{9F47933C-2A7D-63F1-C686-441C8434C378}"/>
              </a:ext>
            </a:extLst>
          </p:cNvPr>
          <p:cNvSpPr>
            <a:spLocks noGrp="1"/>
          </p:cNvSpPr>
          <p:nvPr>
            <p:ph idx="1"/>
          </p:nvPr>
        </p:nvSpPr>
        <p:spPr/>
        <p:txBody>
          <a:bodyPr>
            <a:normAutofit lnSpcReduction="10000"/>
          </a:bodyPr>
          <a:lstStyle/>
          <a:p>
            <a:pPr algn="just"/>
            <a:r>
              <a:rPr lang="en-US" dirty="0"/>
              <a:t>Quantum ML – YouTube Channel</a:t>
            </a:r>
          </a:p>
          <a:p>
            <a:pPr algn="just"/>
            <a:r>
              <a:rPr lang="en-US" dirty="0"/>
              <a:t>Research Papers by Maria </a:t>
            </a:r>
            <a:r>
              <a:rPr lang="en-US" dirty="0" err="1"/>
              <a:t>Schuld</a:t>
            </a:r>
            <a:r>
              <a:rPr lang="en-US" dirty="0"/>
              <a:t> and Seth </a:t>
            </a:r>
            <a:r>
              <a:rPr lang="en-US" dirty="0" err="1"/>
              <a:t>Lyyod</a:t>
            </a:r>
            <a:endParaRPr lang="en-US" dirty="0"/>
          </a:p>
          <a:p>
            <a:pPr algn="just"/>
            <a:r>
              <a:rPr lang="en-US" dirty="0"/>
              <a:t>Quantum Machine Intelligence – Springer Journal</a:t>
            </a:r>
          </a:p>
          <a:p>
            <a:pPr algn="just"/>
            <a:r>
              <a:rPr lang="en-US" dirty="0"/>
              <a:t>IBM Quantum Experience and </a:t>
            </a:r>
            <a:r>
              <a:rPr lang="en-US" dirty="0" err="1"/>
              <a:t>Qiskit</a:t>
            </a:r>
            <a:r>
              <a:rPr lang="en-US" dirty="0"/>
              <a:t> Textbook</a:t>
            </a:r>
          </a:p>
          <a:p>
            <a:pPr algn="just"/>
            <a:r>
              <a:rPr lang="en-IN" dirty="0" err="1"/>
              <a:t>Qiskit</a:t>
            </a:r>
            <a:r>
              <a:rPr lang="en-IN" dirty="0"/>
              <a:t> Machine Learning and </a:t>
            </a:r>
            <a:r>
              <a:rPr lang="en-IN" dirty="0" err="1"/>
              <a:t>Pennylane</a:t>
            </a:r>
            <a:r>
              <a:rPr lang="en-IN" dirty="0"/>
              <a:t> libraries.</a:t>
            </a:r>
          </a:p>
          <a:p>
            <a:pPr algn="just"/>
            <a:r>
              <a:rPr lang="en-IN" dirty="0"/>
              <a:t>Quantum Machine Learning: </a:t>
            </a:r>
            <a:r>
              <a:rPr lang="en-IN" i="1" dirty="0"/>
              <a:t>What Quantum Computing Means to Data Mining (Peter </a:t>
            </a:r>
            <a:r>
              <a:rPr lang="en-IN" i="1" dirty="0" err="1"/>
              <a:t>Wittek</a:t>
            </a:r>
            <a:r>
              <a:rPr lang="en-IN" i="1" dirty="0"/>
              <a:t>)</a:t>
            </a:r>
          </a:p>
          <a:p>
            <a:pPr algn="just"/>
            <a:r>
              <a:rPr lang="en-US" b="1" i="1" dirty="0"/>
              <a:t>A Practical Guide to Quantum Machine Learning and Quantum Optimization: Hands-on Approach to Modern Quantum Algorithms. </a:t>
            </a:r>
            <a:r>
              <a:rPr lang="en-IN" dirty="0"/>
              <a:t>Elías F. </a:t>
            </a:r>
            <a:r>
              <a:rPr lang="en-IN" dirty="0" err="1"/>
              <a:t>Combarro</a:t>
            </a:r>
            <a:r>
              <a:rPr lang="en-IN" dirty="0"/>
              <a:t> Fernández-</a:t>
            </a:r>
            <a:r>
              <a:rPr lang="en-IN" dirty="0" err="1"/>
              <a:t>Combarro</a:t>
            </a:r>
            <a:r>
              <a:rPr lang="en-IN" dirty="0"/>
              <a:t> Álvarez. </a:t>
            </a:r>
            <a:r>
              <a:rPr lang="en-IN" dirty="0" err="1"/>
              <a:t>packt</a:t>
            </a:r>
            <a:r>
              <a:rPr lang="en-IN" dirty="0"/>
              <a:t> publishing</a:t>
            </a:r>
            <a:r>
              <a:rPr lang="en-US" i="1" dirty="0"/>
              <a:t> </a:t>
            </a:r>
            <a:endParaRPr lang="en-IN" i="1" dirty="0"/>
          </a:p>
          <a:p>
            <a:pPr algn="just"/>
            <a:endParaRPr lang="en-IN" dirty="0"/>
          </a:p>
        </p:txBody>
      </p:sp>
      <p:sp>
        <p:nvSpPr>
          <p:cNvPr id="18" name="Slide Number Placeholder 17"/>
          <p:cNvSpPr>
            <a:spLocks noGrp="1"/>
          </p:cNvSpPr>
          <p:nvPr>
            <p:ph type="sldNum" sz="quarter" idx="12"/>
          </p:nvPr>
        </p:nvSpPr>
        <p:spPr/>
        <p:txBody>
          <a:bodyPr/>
          <a:lstStyle/>
          <a:p>
            <a:fld id="{F9AA3F58-F348-4ACC-AF27-6630C1E91C9F}" type="slidenum">
              <a:rPr lang="en-IN" smtClean="0"/>
              <a:pPr/>
              <a:t>55</a:t>
            </a:fld>
            <a:endParaRPr lang="en-IN" dirty="0"/>
          </a:p>
        </p:txBody>
      </p:sp>
    </p:spTree>
    <p:extLst>
      <p:ext uri="{BB962C8B-B14F-4D97-AF65-F5344CB8AC3E}">
        <p14:creationId xmlns:p14="http://schemas.microsoft.com/office/powerpoint/2010/main" val="5874399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a:t>Thank You</a:t>
            </a:r>
            <a:endParaRPr lang="en-IN" dirty="0"/>
          </a:p>
        </p:txBody>
      </p:sp>
    </p:spTree>
    <p:extLst>
      <p:ext uri="{BB962C8B-B14F-4D97-AF65-F5344CB8AC3E}">
        <p14:creationId xmlns:p14="http://schemas.microsoft.com/office/powerpoint/2010/main" val="20041441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15882</TotalTime>
  <Words>4744</Words>
  <Application>Microsoft Office PowerPoint</Application>
  <PresentationFormat>Widescreen</PresentationFormat>
  <Paragraphs>496</Paragraphs>
  <Slides>56</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Arial</vt:lpstr>
      <vt:lpstr>Calibri</vt:lpstr>
      <vt:lpstr>Calibri Light</vt:lpstr>
      <vt:lpstr>Cambria Math</vt:lpstr>
      <vt:lpstr>Office Theme</vt:lpstr>
      <vt:lpstr>Quantum Machine Learning</vt:lpstr>
      <vt:lpstr>Agenda</vt:lpstr>
      <vt:lpstr>What is Machine Learning ?</vt:lpstr>
      <vt:lpstr>Machine Learning Defined Mathematically</vt:lpstr>
      <vt:lpstr>Types of Machine Learning Algorithms</vt:lpstr>
      <vt:lpstr>Supervised Learning</vt:lpstr>
      <vt:lpstr>Unsupervised Learning</vt:lpstr>
      <vt:lpstr>Reinforcement Learning</vt:lpstr>
      <vt:lpstr>Bottlenecks of Classical Machine Learning</vt:lpstr>
      <vt:lpstr>Bottlenecks of Classical Machine Learning</vt:lpstr>
      <vt:lpstr>Quantum Machine Learning</vt:lpstr>
      <vt:lpstr>Why do we need QML</vt:lpstr>
      <vt:lpstr>Initialization of Qubits</vt:lpstr>
      <vt:lpstr>The Challenge: Translating Classical to Quantum</vt:lpstr>
      <vt:lpstr>Why Encoding Matters</vt:lpstr>
      <vt:lpstr>Method 1 – Amplitude Encoding</vt:lpstr>
      <vt:lpstr>Method 2 – Angle Encoding</vt:lpstr>
      <vt:lpstr>Method 3 – Basis Encoding</vt:lpstr>
      <vt:lpstr>Encoding Comparison</vt:lpstr>
      <vt:lpstr>How to Choose</vt:lpstr>
      <vt:lpstr>What Are Feature Maps?</vt:lpstr>
      <vt:lpstr>Circuit Mechanics of Feature Maps</vt:lpstr>
      <vt:lpstr>Pauli Feature Maps</vt:lpstr>
      <vt:lpstr>Pauli Feature Maps</vt:lpstr>
      <vt:lpstr>ZZ Feature Maps</vt:lpstr>
      <vt:lpstr>ZZ Feature Maps</vt:lpstr>
      <vt:lpstr>Basic Encoding vs. Feature Maps</vt:lpstr>
      <vt:lpstr>Trainable (Parameterized) Quantum Circuits</vt:lpstr>
      <vt:lpstr>Building Blocks of Quantum ML</vt:lpstr>
      <vt:lpstr>Parameterized Quantum Circuits</vt:lpstr>
      <vt:lpstr>PQC vs VQC</vt:lpstr>
      <vt:lpstr>A Typical VQC used for QML</vt:lpstr>
      <vt:lpstr>Expressibility of Quantum Circuits</vt:lpstr>
      <vt:lpstr>Expressibility of Quantum Circuits</vt:lpstr>
      <vt:lpstr>Expressibility of Quantum Circuits</vt:lpstr>
      <vt:lpstr>Entangling Capability of Quantum Circuits</vt:lpstr>
      <vt:lpstr>Measuring Entangling Capability</vt:lpstr>
      <vt:lpstr>Designing the Ansatz</vt:lpstr>
      <vt:lpstr>Gradient Computation in QML</vt:lpstr>
      <vt:lpstr>Parameter Shift Rule</vt:lpstr>
      <vt:lpstr>QML Workflow Overview</vt:lpstr>
      <vt:lpstr>Classical ML vs Quantum ML</vt:lpstr>
      <vt:lpstr>How QEML works</vt:lpstr>
      <vt:lpstr>Why usually Pauli-Z expectation values are taken</vt:lpstr>
      <vt:lpstr>How QSVM works</vt:lpstr>
      <vt:lpstr>How Quantum Properties can be used in SVM</vt:lpstr>
      <vt:lpstr>How QCNN works</vt:lpstr>
      <vt:lpstr>How Quantum Properties can be used in CNN</vt:lpstr>
      <vt:lpstr>How Quantum NLP can be done </vt:lpstr>
      <vt:lpstr>How Quantum Properties can be used in NLP</vt:lpstr>
      <vt:lpstr>Applications of QML</vt:lpstr>
      <vt:lpstr>Limitations &amp; Open Challenges</vt:lpstr>
      <vt:lpstr>Limitations &amp; Open Challenges</vt:lpstr>
      <vt:lpstr>Limitations &amp; Open Challenges</vt:lpstr>
      <vt:lpstr>Resources for QML</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Sachin</dc:creator>
  <cp:lastModifiedBy>Sachin Namdeo</cp:lastModifiedBy>
  <cp:revision>126</cp:revision>
  <dcterms:created xsi:type="dcterms:W3CDTF">2024-08-13T08:09:11Z</dcterms:created>
  <dcterms:modified xsi:type="dcterms:W3CDTF">2025-10-01T14:52:46Z</dcterms:modified>
</cp:coreProperties>
</file>