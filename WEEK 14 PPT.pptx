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77" r:id="rId4"/>
    <p:sldId id="278" r:id="rId5"/>
    <p:sldId id="279" r:id="rId6"/>
    <p:sldId id="280" r:id="rId7"/>
    <p:sldId id="281" r:id="rId8"/>
    <p:sldId id="282" r:id="rId9"/>
    <p:sldId id="283" r:id="rId10"/>
    <p:sldId id="284" r:id="rId11"/>
    <p:sldId id="285" r:id="rId12"/>
    <p:sldId id="291" r:id="rId13"/>
    <p:sldId id="292" r:id="rId14"/>
    <p:sldId id="293" r:id="rId15"/>
    <p:sldId id="294" r:id="rId16"/>
    <p:sldId id="295" r:id="rId17"/>
    <p:sldId id="296" r:id="rId18"/>
    <p:sldId id="308" r:id="rId19"/>
    <p:sldId id="310" r:id="rId20"/>
    <p:sldId id="309" r:id="rId21"/>
    <p:sldId id="303" r:id="rId22"/>
    <p:sldId id="265" r:id="rId23"/>
    <p:sldId id="266" r:id="rId24"/>
    <p:sldId id="264" r:id="rId25"/>
    <p:sldId id="289" r:id="rId26"/>
    <p:sldId id="311" r:id="rId27"/>
    <p:sldId id="312" r:id="rId28"/>
    <p:sldId id="290" r:id="rId29"/>
    <p:sldId id="271" r:id="rId30"/>
    <p:sldId id="299" r:id="rId31"/>
    <p:sldId id="272" r:id="rId32"/>
    <p:sldId id="307" r:id="rId33"/>
    <p:sldId id="275" r:id="rId34"/>
    <p:sldId id="276" r:id="rId35"/>
    <p:sldId id="297" r:id="rId36"/>
    <p:sldId id="298" r:id="rId37"/>
    <p:sldId id="300" r:id="rId38"/>
    <p:sldId id="301" r:id="rId39"/>
    <p:sldId id="302" r:id="rId40"/>
    <p:sldId id="304" r:id="rId41"/>
    <p:sldId id="305" r:id="rId42"/>
    <p:sldId id="306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2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9BC61A-0C2E-4969-85DA-5C8EFD243B16}" type="datetimeFigureOut">
              <a:rPr lang="en-IN" smtClean="0"/>
              <a:t>07-10-2025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045F57-A670-4CC4-A1DD-179BD2CB134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9613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5D423-7366-49C3-893F-7D60866DC8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434B03-2D9E-4F0B-8A5E-9A8AE4BBDD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A5890-74F0-4E84-9468-94331755B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851BF7-C33B-40AF-A103-287DDD189AB1}" type="datetime1">
              <a:rPr lang="en-IN" smtClean="0"/>
              <a:t>07-10-2025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A655A-ED64-4BEB-B604-85A1142BF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B74FA6-52B4-4D78-A9DD-8CEE4999C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05491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FE14C-97EA-4B3F-B520-694D69871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AF279-360B-4229-9A4A-34C4E7EDC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ECC87-0489-4EE5-B8FA-447DE9621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0DBB3-1354-4FBF-9710-A837FB8B0DF2}" type="datetime1">
              <a:rPr lang="en-IN" smtClean="0"/>
              <a:t>07-10-2025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D6BEAD-7122-48DF-9D92-ABC5DAD34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CF3DB-0AB5-49EF-BF4B-3A0DEE18B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4517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2A66D-4310-40C1-8C8A-C3D08CF6F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126FA7-5974-4F42-8588-E36E7A89D6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2279DD-4042-4D17-9BA3-F5B8616FA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8CC89-2004-48AC-ABC8-6F93F06A037B}" type="datetime1">
              <a:rPr lang="en-IN" smtClean="0"/>
              <a:t>07-10-2025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A98AB2-7F0C-4ACB-8303-7DBD677BB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45DDC7-D078-4F6A-A15A-39B7A070C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48980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C22E7-3E00-405A-B401-8EF4F9888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10A7C8-8011-4EA0-9707-5D4744C736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2E7D0B-6438-4DC8-BCED-24A5191D6B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EF428B-A4AC-4D19-BE25-54C2AB7F3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3556BC-69E8-48C1-9127-8F39C7DB8AC9}" type="datetime1">
              <a:rPr lang="en-IN" smtClean="0"/>
              <a:t>07-10-2025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DD3A0D-6957-41F4-B785-089FD2CC5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A7BAE7-ABEB-4427-8711-4A97715BB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4105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1F040-A411-4E6B-98F4-29ED9A7E6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982821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5D78E8-C987-4EFF-9C11-480CCFB621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83F13C-A2B7-4B22-B1E3-FE6F3EF398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CD8A17-5833-4064-A568-DC360B8775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98E19F-D26B-4C1C-B2DC-C5AD82579A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15576C-2371-4ED2-8968-F9CF1256B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93AF4-0E02-4FF2-AD49-9562406EBBE4}" type="datetime1">
              <a:rPr lang="en-IN" smtClean="0"/>
              <a:t>07-10-2025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EB895E-8675-4473-A8B9-5D888CE19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668E68-5EE2-4824-B093-85E402331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2084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8171E-BC19-4D52-AE15-470510AFF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FD73CC-8C04-48BF-AB9A-8ADD849A3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F4166B-78DC-44C6-9AEF-E6D76A3A89A5}" type="datetime1">
              <a:rPr lang="en-IN" smtClean="0"/>
              <a:t>07-10-2025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65D641-AD06-41EB-AC00-D14B5CAA0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6F09A5-149E-41E8-A823-030C57B8F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42359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E88FFF-8C4D-4F0A-9157-31783DD3C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1FAE6-D6AD-4B3A-8AC4-8BBA3D20AB42}" type="datetime1">
              <a:rPr lang="en-IN" smtClean="0"/>
              <a:t>07-10-2025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DD5235-70B2-4669-9E63-4ED4CD248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889A4E-9DF7-45FD-9352-99187028F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1534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5A39B-3325-4489-A4B6-C055C9F8C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17B2A-C8B7-44E5-851E-B29A31BA4D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155700"/>
            <a:ext cx="6172200" cy="47053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D43776-04B9-4685-AA94-1B36F2C848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19372D-3810-4812-A213-289E30871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A8D712-0029-4D93-B9A1-8DFF402B2E3E}" type="datetime1">
              <a:rPr lang="en-IN" smtClean="0"/>
              <a:t>07-10-2025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E73CE8-00C7-4202-A2DF-850509F9C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8D9D78-FD69-42AA-B734-5FB352E13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2271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62D17-627A-4542-B23C-F864E0748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9804B6-8DAA-46D8-8D79-D44B9A3D93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130300"/>
            <a:ext cx="6172200" cy="47307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4A4FE-A0A6-4A2C-8FC1-44321566D8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1F245D-5DA2-4F6F-9281-C409DE27C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DE015-381A-478C-BDB5-73A9903F91F6}" type="datetime1">
              <a:rPr lang="en-IN" smtClean="0"/>
              <a:t>07-10-2025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184211-ECFD-449F-8D77-B87F426A8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70000-CFE7-45F0-A93C-E3B6D82D0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34831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25842-6135-4EAD-9D16-E7284CBA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59629C-0551-4BD6-8330-481180FD9A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FE7EA9-4ECC-4FE9-B00D-975FA2537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8BFC76-C8AF-45A3-AF69-D7B2D8C35212}" type="datetime1">
              <a:rPr lang="en-IN" smtClean="0"/>
              <a:t>07-10-2025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D0932-E6D3-45BC-87F0-4AF73E5D5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2DFDBD-A615-41AA-9751-BA4A28889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7641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227EF7-24A7-443B-91AD-3ACD5623C1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249949-EFD5-44BB-9DF5-73EC843837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9DED4E-4073-4158-B389-25833CEAA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AEC1F-F9D5-479B-BFD4-3DF341B184E2}" type="datetime1">
              <a:rPr lang="en-IN" smtClean="0"/>
              <a:t>07-10-2025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E448F4-A72E-4CAE-8A64-2B52439C9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975685-039F-47FB-8CA6-A973FACD2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3023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A84F1C-C843-412C-A07F-857DD2D31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8456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E3D5A0-E774-4DE8-B274-546771CB2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F0A0E9-7D2B-492B-B86F-97255751E5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48B7FC-C85B-4643-BA57-3425FDFBF435}" type="datetime1">
              <a:rPr lang="en-IN" smtClean="0"/>
              <a:t>07-10-2025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6AF8F9-FF0E-47E3-81F5-1D8E8BE8D6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51C7B0-B209-469E-8977-C48C5C926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A44A4F-A82D-4CE4-A479-AF51176D115C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6E7DCD0-FCEB-4065-9A69-9BFC39F0996F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786638" y="546790"/>
            <a:ext cx="1134323" cy="812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346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quantum-journal.org/papers/q-2024-01-11-1225/" TargetMode="External"/><Relationship Id="rId2" Type="http://schemas.openxmlformats.org/officeDocument/2006/relationships/hyperlink" Target="https://link.aps.org/doi/10.1103/PhysRevLett.113.130503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1.png"/><Relationship Id="rId4" Type="http://schemas.openxmlformats.org/officeDocument/2006/relationships/hyperlink" Target="https://jmlr.org/papers/volume18/15-025/15-025.pdf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proceedings.neurips.cc/paper/2021/file/69adc1e107f7f7d035d7baf04342e1ca-Paper.pdf?utm_source=chatgpt.com" TargetMode="External"/><Relationship Id="rId3" Type="http://schemas.openxmlformats.org/officeDocument/2006/relationships/hyperlink" Target="https://link.aps.org/doi/10.1103/PhysRevLett.122.040504?utm_source=chatgpt.com" TargetMode="External"/><Relationship Id="rId7" Type="http://schemas.openxmlformats.org/officeDocument/2006/relationships/image" Target="../media/image180.png"/><Relationship Id="rId2" Type="http://schemas.openxmlformats.org/officeDocument/2006/relationships/hyperlink" Target="https://scikit-learn.org/stable/modules/svm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ink.aps.org/doi/10.1103/PhysRevResearch.3.033221" TargetMode="External"/><Relationship Id="rId11" Type="http://schemas.openxmlformats.org/officeDocument/2006/relationships/hyperlink" Target="https://scikit-learn.org/stable/modules/svm.html" TargetMode="External"/><Relationship Id="rId5" Type="http://schemas.openxmlformats.org/officeDocument/2006/relationships/hyperlink" Target="https://link.aps.org/doi/10.1103/PhysRevLett.113.130503?utm_source=chatgpt.com" TargetMode="External"/><Relationship Id="rId10" Type="http://schemas.openxmlformats.org/officeDocument/2006/relationships/hyperlink" Target="https://link.aps.org/doi/10.1103/PhysRevResearch.3.033221" TargetMode="External"/><Relationship Id="rId4" Type="http://schemas.openxmlformats.org/officeDocument/2006/relationships/hyperlink" Target="https://proceedings.neurips.cc/paper/2021/file/69adc1e107f7f7d035d7baf04342e1ca-Paper.pdf?utm_source=chatgpt.com" TargetMode="External"/><Relationship Id="rId9" Type="http://schemas.openxmlformats.org/officeDocument/2006/relationships/hyperlink" Target="https://link.aps.org/doi/10.1103/PhysRevLett.113.130503?utm_source=chatgpt.com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quantum-journal.org/papers/q-2024-01-11-1225/" TargetMode="External"/><Relationship Id="rId13" Type="http://schemas.openxmlformats.org/officeDocument/2006/relationships/hyperlink" Target="https://link.aps.org/doi/10.1103/PhysRevLett.113.130503?utm_source=chatgpt.com" TargetMode="External"/><Relationship Id="rId3" Type="http://schemas.openxmlformats.org/officeDocument/2006/relationships/hyperlink" Target="https://proceedings.neurips.cc/paper/2021/file/69adc1e107f7f7d035d7baf04342e1ca-Paper.pdf?utm_source=chatgpt.com" TargetMode="External"/><Relationship Id="rId7" Type="http://schemas.openxmlformats.org/officeDocument/2006/relationships/hyperlink" Target="https://jmlr.org/papers/volume18/15-025/15-025.pdf?utm_source=chatgpt.com" TargetMode="External"/><Relationship Id="rId12" Type="http://schemas.openxmlformats.org/officeDocument/2006/relationships/image" Target="../media/image190.png"/><Relationship Id="rId2" Type="http://schemas.openxmlformats.org/officeDocument/2006/relationships/hyperlink" Target="https://scikit-learn.org/stable/modules/svm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qiskit-community.github.io/qiskit-machine-learning/tutorials/07_pegasos_qsvc.html" TargetMode="External"/><Relationship Id="rId11" Type="http://schemas.openxmlformats.org/officeDocument/2006/relationships/hyperlink" Target="https://link.aps.org/doi/10.1103/PhysRevResearch.3.033221" TargetMode="External"/><Relationship Id="rId5" Type="http://schemas.openxmlformats.org/officeDocument/2006/relationships/hyperlink" Target="https://link.aps.org/doi/10.1103/PhysRevLett.113.130503?utm_source=chatgpt.com" TargetMode="External"/><Relationship Id="rId10" Type="http://schemas.openxmlformats.org/officeDocument/2006/relationships/hyperlink" Target="https://proceedings.neurips.cc/paper/2021/file/69adc1e107f7f7d035d7baf04342e1ca-Paper.pdf?utm_source=chatgpt.com" TargetMode="External"/><Relationship Id="rId4" Type="http://schemas.openxmlformats.org/officeDocument/2006/relationships/hyperlink" Target="https://link.aps.org/doi/10.1103/PhysRevResearch.3.033221" TargetMode="External"/><Relationship Id="rId9" Type="http://schemas.openxmlformats.org/officeDocument/2006/relationships/hyperlink" Target="https://scikit-learn.org/stable/modules/svm.html" TargetMode="External"/><Relationship Id="rId14" Type="http://schemas.openxmlformats.org/officeDocument/2006/relationships/hyperlink" Target="https://quantum-journal.org/papers/q-2024-01-11-1225/" TargetMode="Externa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112.08506?utm_source=chatgpt.com" TargetMode="External"/><Relationship Id="rId7" Type="http://schemas.openxmlformats.org/officeDocument/2006/relationships/hyperlink" Target="https://epjquantumtechnology.springeropen.com/articles/10.1140/epjqt/s40507-024-00259-5?utm_source=chatgpt.com" TargetMode="External"/><Relationship Id="rId2" Type="http://schemas.openxmlformats.org/officeDocument/2006/relationships/hyperlink" Target="https://papers.neurips.cc/paper/8667-q-means-a-quantum-algorithm-for-unsupervised-machine-learning.pdf?utm_source=chatgpt.co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pdf/2112.08506?utm_source=chatgpt.com" TargetMode="External"/><Relationship Id="rId5" Type="http://schemas.openxmlformats.org/officeDocument/2006/relationships/image" Target="../media/image220.png"/><Relationship Id="rId4" Type="http://schemas.openxmlformats.org/officeDocument/2006/relationships/hyperlink" Target="https://epjquantumtechnology.springeropen.com/articles/10.1140/epjqt/s40507-024-00259-5?utm_source=chatgpt.com" TargetMode="Externa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hyperlink" Target="https://papers.neurips.cc/paper/8667-q-means-a-quantum-algorithm-for-unsupervised-machine-learning.pdf?utm_source=chatgpt.com" TargetMode="External"/><Relationship Id="rId3" Type="http://schemas.openxmlformats.org/officeDocument/2006/relationships/hyperlink" Target="https://royalsocietypublishing.org/doi/10.1098/rspa.2017.0551?utm_source=chatgpt.com" TargetMode="External"/><Relationship Id="rId7" Type="http://schemas.openxmlformats.org/officeDocument/2006/relationships/hyperlink" Target="https://royalsocietypublishing.org/doi/10.1098/rspa.2017.0551?utm_source=chatgpt.com" TargetMode="External"/><Relationship Id="rId2" Type="http://schemas.openxmlformats.org/officeDocument/2006/relationships/hyperlink" Target="https://quantumalgorithms.org/quantum-computing-and-quantum-algorithms.html?utm_source=chatgpt.com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0.png"/><Relationship Id="rId5" Type="http://schemas.openxmlformats.org/officeDocument/2006/relationships/hyperlink" Target="https://arxiv.org/abs/1807.04271?utm_source=chatgpt.com" TargetMode="External"/><Relationship Id="rId4" Type="http://schemas.openxmlformats.org/officeDocument/2006/relationships/hyperlink" Target="https://papers.neurips.cc/paper/8667-q-means-a-quantum-algorithm-for-unsupervised-machine-learning.pdf?utm_source=chatgpt.com" TargetMode="External"/><Relationship Id="rId9" Type="http://schemas.openxmlformats.org/officeDocument/2006/relationships/hyperlink" Target="https://arxiv.org/abs/1807.04271?utm_source=chatgpt.com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112.08506?utm_source=chatgpt.com" TargetMode="External"/><Relationship Id="rId2" Type="http://schemas.openxmlformats.org/officeDocument/2006/relationships/hyperlink" Target="https://papers.neurips.cc/paper/8667-q-means-a-quantum-algorithm-for-unsupervised-machine-learning.pdf?utm_source=chatgpt.com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royalsocietypublishing.org/doi/10.1098/rspa.2017.0551?utm_source=chatgpt.com" TargetMode="External"/><Relationship Id="rId4" Type="http://schemas.openxmlformats.org/officeDocument/2006/relationships/hyperlink" Target="https://link.aps.org/doi/10.1103/PhysRevLett.100.160501?utm_source=chatgpt.com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375C3-B2E1-4C51-99CC-FC657C12CC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QSVM &amp; QKMeans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88F8CA-EE59-4001-B59A-6B68EC87FF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Sachin Namdeo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16137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BF73C-549D-44AD-B8BB-463BD1F1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Agenda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4886D-9BBE-4B84-B7D0-E07FB88CAD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dirty="0"/>
              <a:t>Quantum Support Vector Machine (QSVM)</a:t>
            </a:r>
          </a:p>
          <a:p>
            <a:pPr lvl="1"/>
            <a:r>
              <a:rPr lang="en-IN" dirty="0"/>
              <a:t>Introduction to QSVM</a:t>
            </a:r>
          </a:p>
          <a:p>
            <a:pPr lvl="1"/>
            <a:r>
              <a:rPr lang="en-IN" dirty="0"/>
              <a:t>Support Vector Machine (SVM) – Concept Refresher</a:t>
            </a:r>
          </a:p>
          <a:p>
            <a:pPr lvl="1"/>
            <a:r>
              <a:rPr lang="en-IN" dirty="0"/>
              <a:t>QSVM Workflow</a:t>
            </a:r>
          </a:p>
          <a:p>
            <a:pPr lvl="1"/>
            <a:r>
              <a:rPr lang="en-IN" dirty="0"/>
              <a:t>Kernel-Based QSVM – Basic Concepts</a:t>
            </a:r>
          </a:p>
          <a:p>
            <a:pPr lvl="1"/>
            <a:r>
              <a:rPr lang="en-IN" dirty="0"/>
              <a:t>Hamiltonian-Based QSVM (</a:t>
            </a:r>
            <a:r>
              <a:rPr lang="en-IN" i="1" dirty="0"/>
              <a:t>Iris Dataset Case Study</a:t>
            </a:r>
            <a:r>
              <a:rPr lang="en-IN" dirty="0"/>
              <a:t>)</a:t>
            </a:r>
          </a:p>
          <a:p>
            <a:pPr lvl="1"/>
            <a:r>
              <a:rPr lang="en-IN" dirty="0"/>
              <a:t>Classical vs Quantum QSVM – Comparison</a:t>
            </a:r>
          </a:p>
          <a:p>
            <a:pPr lvl="1"/>
            <a:r>
              <a:rPr lang="en-IN" dirty="0"/>
              <a:t>QSVM Merits, Demerits &amp; Future Prospects</a:t>
            </a:r>
          </a:p>
          <a:p>
            <a:r>
              <a:rPr lang="en-IN" b="1" dirty="0"/>
              <a:t>Quantum K-Means (</a:t>
            </a:r>
            <a:r>
              <a:rPr lang="en-IN" b="1" dirty="0" err="1"/>
              <a:t>QKMeans</a:t>
            </a:r>
            <a:r>
              <a:rPr lang="en-IN" b="1" dirty="0"/>
              <a:t>)</a:t>
            </a:r>
          </a:p>
          <a:p>
            <a:pPr lvl="1"/>
            <a:r>
              <a:rPr lang="en-IN" dirty="0"/>
              <a:t>Introduction to </a:t>
            </a:r>
            <a:r>
              <a:rPr lang="en-IN" dirty="0" err="1"/>
              <a:t>QKMeans</a:t>
            </a:r>
            <a:endParaRPr lang="en-IN" dirty="0"/>
          </a:p>
          <a:p>
            <a:pPr lvl="1"/>
            <a:r>
              <a:rPr lang="en-IN" dirty="0" err="1"/>
              <a:t>KMeans</a:t>
            </a:r>
            <a:r>
              <a:rPr lang="en-IN" dirty="0"/>
              <a:t> – Basic Concepts &amp; Refresher</a:t>
            </a:r>
          </a:p>
          <a:p>
            <a:pPr lvl="1"/>
            <a:r>
              <a:rPr lang="en-IN" dirty="0" err="1"/>
              <a:t>QKMeans</a:t>
            </a:r>
            <a:r>
              <a:rPr lang="en-IN" dirty="0"/>
              <a:t> Workflow</a:t>
            </a:r>
          </a:p>
          <a:p>
            <a:pPr lvl="1"/>
            <a:r>
              <a:rPr lang="en-IN" dirty="0"/>
              <a:t>Classical vs Quantum </a:t>
            </a:r>
            <a:r>
              <a:rPr lang="en-IN" dirty="0" err="1"/>
              <a:t>KMeans</a:t>
            </a:r>
            <a:r>
              <a:rPr lang="en-IN" dirty="0"/>
              <a:t> – Comparison</a:t>
            </a:r>
          </a:p>
          <a:p>
            <a:pPr lvl="1"/>
            <a:r>
              <a:rPr lang="en-IN" dirty="0" err="1"/>
              <a:t>QKMeans</a:t>
            </a:r>
            <a:r>
              <a:rPr lang="en-IN" dirty="0"/>
              <a:t> Merits, Demerits &amp; Future Prospects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D95669-FC7F-47CA-B33E-45F908BF7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3576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B9E8D-F7E0-4EEE-A570-790393D57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Quantum Support Vector Machines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52DF6-1DE3-42BB-B23A-70481E8F9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IN" dirty="0"/>
              <a:t>Quantum Support Vector Machines (QSVMs) represent an innovative fusion of quantum computing and classical machine learning, designed to harness the computational advantages of quantum mechanics for complex classification tasks.</a:t>
            </a:r>
          </a:p>
          <a:p>
            <a:pPr algn="just"/>
            <a:r>
              <a:rPr lang="en-US" dirty="0"/>
              <a:t>A key component of QSVMs is quantum kernel estimation, which maps data into complex quantum feature spaces.</a:t>
            </a:r>
          </a:p>
          <a:p>
            <a:pPr algn="just"/>
            <a:r>
              <a:rPr lang="en-US" dirty="0"/>
              <a:t>This approach enables the model to identify intricate relationships within the data that might be missed by classical methods, enhancing classification performance, especially in high-dimensional scenarios.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03C747-F21B-42FB-9019-FAA1F5818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1953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B16AF-564C-4F45-BE50-D0321DAF6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Support Vector Machine - </a:t>
            </a:r>
            <a:r>
              <a:rPr lang="en-IN" b="1" dirty="0"/>
              <a:t>Concept Refresher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F1D7CE29-24BF-4E58-8FB2-D294A96AED03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2972" y="1804402"/>
            <a:ext cx="5776346" cy="3249195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0C688E-5286-45CC-9A99-3BF285547307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839788" y="2057400"/>
                <a:ext cx="4405980" cy="3811588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en-US" dirty="0"/>
                  <a:t>A </a:t>
                </a:r>
                <a:r>
                  <a:rPr lang="en-US" b="1" dirty="0"/>
                  <a:t>Support Vector Machine (SVM)</a:t>
                </a:r>
                <a:r>
                  <a:rPr lang="en-US" dirty="0"/>
                  <a:t> is a margin-</a:t>
                </a:r>
                <a:r>
                  <a:rPr lang="en-US" dirty="0" err="1"/>
                  <a:t>maximising</a:t>
                </a:r>
                <a:r>
                  <a:rPr lang="en-US" dirty="0"/>
                  <a:t> classifier that seeks the hyper-plane giving the largest separation between classes. </a:t>
                </a:r>
              </a:p>
              <a:p>
                <a:pPr algn="just"/>
                <a:r>
                  <a:rPr lang="en-US" dirty="0"/>
                  <a:t>Only the points on the margin, the </a:t>
                </a:r>
                <a:r>
                  <a:rPr lang="en-US" b="1" dirty="0"/>
                  <a:t>support vectors</a:t>
                </a:r>
                <a:r>
                  <a:rPr lang="en-US" dirty="0"/>
                  <a:t> influence the solution.</a:t>
                </a:r>
              </a:p>
              <a:p>
                <a:pPr algn="just"/>
                <a:r>
                  <a:rPr lang="en-IN" dirty="0"/>
                  <a:t>Kernel trick: replace inner product ⟨</a:t>
                </a:r>
                <a:r>
                  <a:rPr lang="en-IN" dirty="0" err="1"/>
                  <a:t>xᵢ,x</a:t>
                </a:r>
                <a:r>
                  <a:rPr lang="en-IN" dirty="0"/>
                  <a:t>ⱼ⟩ with a kernel K(</a:t>
                </a:r>
                <a:r>
                  <a:rPr lang="en-IN" dirty="0" err="1"/>
                  <a:t>xᵢ,x</a:t>
                </a:r>
                <a:r>
                  <a:rPr lang="en-IN" dirty="0"/>
                  <a:t>ⱼ) to work in an implicit high-dimensional feature space without ever computing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IN" dirty="0"/>
                  <a:t> explicitly.</a:t>
                </a:r>
              </a:p>
              <a:p>
                <a:pPr algn="just"/>
                <a:r>
                  <a:rPr lang="en-IN" dirty="0"/>
                  <a:t>Popular kernels: Linear, Polynomial, Radial Basis Function (RBF), Sigmoid.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0C688E-5286-45CC-9A99-3BF2855473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839788" y="2057400"/>
                <a:ext cx="4405980" cy="3811588"/>
              </a:xfrm>
              <a:blipFill>
                <a:blip r:embed="rId3"/>
                <a:stretch>
                  <a:fillRect l="-830" t="-1120" r="-69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4020D5-62EC-42E6-A569-5E9918826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3329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B16AF-564C-4F45-BE50-D0321DAF6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Support Vector Machine - </a:t>
            </a:r>
            <a:r>
              <a:rPr lang="en-IN" b="1" dirty="0"/>
              <a:t>Concept Refresher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0C688E-5286-45CC-9A99-3BF2855473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/>
                <a:r>
                  <a:rPr lang="en-IN" dirty="0"/>
                  <a:t>Dual decision function</a:t>
                </a:r>
              </a:p>
              <a:p>
                <a:pPr marL="0" indent="0" algn="just">
                  <a:buNone/>
                </a:pPr>
                <a:endParaRPr lang="en-US" b="0" i="1" dirty="0"/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e>
                                  </m:nary>
                                </m:e>
                              </m:nary>
                            </m:e>
                          </m:nary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≥0,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IN" dirty="0"/>
              </a:p>
              <a:p>
                <a:pPr marL="0" indent="0" algn="just">
                  <a:buNone/>
                </a:pPr>
                <a:r>
                  <a:rPr lang="en-IN" dirty="0"/>
                  <a:t>  with Lagrange multipliers </a:t>
                </a:r>
                <a:r>
                  <a:rPr lang="el-GR" dirty="0"/>
                  <a:t>α</a:t>
                </a:r>
                <a:r>
                  <a:rPr lang="en-IN" dirty="0"/>
                  <a:t>ᵢ ≥ 0 only for support vectors.</a:t>
                </a:r>
              </a:p>
              <a:p>
                <a:pPr algn="just"/>
                <a:r>
                  <a:rPr lang="en-IN" dirty="0"/>
                  <a:t>Convex objective ⇒ unique global optimum; well-studied generalisation bounds.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0C688E-5286-45CC-9A99-3BF2855473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15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B54B7C-DD01-404F-B434-2D0A97108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8176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E93DE-E72E-473B-AFFD-9CAC306B8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Merits of Classical SVMs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F10A82-01A7-46A6-B0D2-6DC20D6BB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IN" dirty="0"/>
              <a:t>Proven strong generalisation through margin maximisation.</a:t>
            </a:r>
          </a:p>
          <a:p>
            <a:pPr algn="just"/>
            <a:r>
              <a:rPr lang="en-IN" dirty="0"/>
              <a:t>Handles high-dimensional feature spaces gracefully via kernels.</a:t>
            </a:r>
          </a:p>
          <a:p>
            <a:pPr algn="just"/>
            <a:r>
              <a:rPr lang="en-IN" dirty="0"/>
              <a:t>Works well on small-to-medium, clean datasets, delivering state-of-the-art accuracy in many domains.</a:t>
            </a:r>
          </a:p>
          <a:p>
            <a:pPr algn="just"/>
            <a:r>
              <a:rPr lang="en-IN" dirty="0"/>
              <a:t>Flexible kernel choice lets practitioners model complex non-linear decision boundaries.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049788-D86F-4265-85E5-AD97F59BD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5658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E93DE-E72E-473B-AFFD-9CAC306B8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Demerits of Classical SVMs</a:t>
            </a:r>
            <a:endParaRPr lang="en-IN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F10A82-01A7-46A6-B0D2-6DC20D6BB5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/>
                <a:r>
                  <a:rPr lang="en-IN" b="1" dirty="0"/>
                  <a:t>Fixed</a:t>
                </a:r>
                <a:r>
                  <a:rPr lang="en-IN" dirty="0"/>
                  <a:t> </a:t>
                </a:r>
                <a:r>
                  <a:rPr lang="en-IN" b="1" dirty="0"/>
                  <a:t>Kernel</a:t>
                </a:r>
                <a:r>
                  <a:rPr lang="en-IN" dirty="0"/>
                  <a:t> </a:t>
                </a:r>
                <a:r>
                  <a:rPr lang="en-IN" b="1" dirty="0"/>
                  <a:t>Choices</a:t>
                </a:r>
                <a:r>
                  <a:rPr lang="en-IN" dirty="0"/>
                  <a:t>: Predefined kernels (RBF, polynomial) may not capture complex data structures.</a:t>
                </a:r>
              </a:p>
              <a:p>
                <a:pPr algn="just"/>
                <a:r>
                  <a:rPr lang="en-IN" b="1" dirty="0"/>
                  <a:t>Scalability</a:t>
                </a:r>
                <a:r>
                  <a:rPr lang="en-IN" dirty="0"/>
                  <a:t> </a:t>
                </a:r>
                <a:r>
                  <a:rPr lang="en-IN" b="1" dirty="0"/>
                  <a:t>Issues</a:t>
                </a:r>
                <a:r>
                  <a:rPr lang="en-IN" dirty="0"/>
                  <a:t>: Training time grows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en-IN" dirty="0"/>
                  <a:t> with number of samples, limiting large datasets.</a:t>
                </a:r>
              </a:p>
              <a:p>
                <a:pPr algn="just"/>
                <a:r>
                  <a:rPr lang="en-IN" b="1" dirty="0"/>
                  <a:t>Manual</a:t>
                </a:r>
                <a:r>
                  <a:rPr lang="en-IN" dirty="0"/>
                  <a:t> </a:t>
                </a:r>
                <a:r>
                  <a:rPr lang="en-IN" b="1" dirty="0"/>
                  <a:t>Feature</a:t>
                </a:r>
                <a:r>
                  <a:rPr lang="en-IN" dirty="0"/>
                  <a:t> </a:t>
                </a:r>
                <a:r>
                  <a:rPr lang="en-IN" b="1" dirty="0"/>
                  <a:t>Engineering</a:t>
                </a:r>
                <a:r>
                  <a:rPr lang="en-IN" dirty="0"/>
                  <a:t>: Relies on domain expertise to design effective mappings.</a:t>
                </a:r>
              </a:p>
              <a:p>
                <a:pPr algn="just"/>
                <a:r>
                  <a:rPr lang="en-IN" b="1" dirty="0"/>
                  <a:t>Hyperparameter</a:t>
                </a:r>
                <a:r>
                  <a:rPr lang="en-IN" dirty="0"/>
                  <a:t> </a:t>
                </a:r>
                <a:r>
                  <a:rPr lang="en-IN" b="1" dirty="0"/>
                  <a:t>Sensitivity</a:t>
                </a:r>
                <a:r>
                  <a:rPr lang="en-IN" dirty="0"/>
                  <a:t>: Performance heavily depends on selecting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l-GR" dirty="0"/>
                  <a:t>, </a:t>
                </a:r>
                <a:r>
                  <a:rPr lang="en-IN" dirty="0"/>
                  <a:t>and kernel parameters.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F10A82-01A7-46A6-B0D2-6DC20D6BB5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15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B051D7-855A-4C04-ACD5-00A2DD0A8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5250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19E02-707C-41D9-A25D-F492C6657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QSVM Workflow</a:t>
            </a:r>
            <a:endParaRPr lang="en-IN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0F156C-3F16-4B33-B54B-6A45BCE95A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/>
                <a:r>
                  <a:rPr lang="en-IN" b="1" dirty="0"/>
                  <a:t>Data</a:t>
                </a:r>
                <a:r>
                  <a:rPr lang="en-IN" dirty="0"/>
                  <a:t> </a:t>
                </a:r>
                <a:r>
                  <a:rPr lang="en-IN" b="1" dirty="0"/>
                  <a:t>Preparation</a:t>
                </a:r>
                <a:r>
                  <a:rPr lang="en-IN" dirty="0"/>
                  <a:t>: Normalize and split into training/testing sets</a:t>
                </a:r>
              </a:p>
              <a:p>
                <a:pPr algn="just"/>
                <a:endParaRPr lang="en-IN" b="1" dirty="0"/>
              </a:p>
              <a:p>
                <a:pPr algn="just"/>
                <a:r>
                  <a:rPr lang="en-IN" b="1" dirty="0"/>
                  <a:t>Quantum</a:t>
                </a:r>
                <a:r>
                  <a:rPr lang="en-IN" dirty="0"/>
                  <a:t> </a:t>
                </a:r>
                <a:r>
                  <a:rPr lang="en-IN" b="1" dirty="0"/>
                  <a:t>Encoding</a:t>
                </a:r>
                <a:r>
                  <a:rPr lang="en-IN" dirty="0"/>
                  <a:t>: Apply feature map circuit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N" dirty="0"/>
                  <a:t> to embed each input into a quantum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IN" dirty="0"/>
                  <a:t>.</a:t>
                </a:r>
              </a:p>
              <a:p>
                <a:pPr algn="just"/>
                <a:endParaRPr lang="en-IN" b="1" dirty="0"/>
              </a:p>
              <a:p>
                <a:pPr algn="just"/>
                <a:r>
                  <a:rPr lang="en-IN" b="1" dirty="0"/>
                  <a:t>Kernel</a:t>
                </a:r>
                <a:r>
                  <a:rPr lang="en-IN" dirty="0"/>
                  <a:t> </a:t>
                </a:r>
                <a:r>
                  <a:rPr lang="en-IN" b="1" dirty="0"/>
                  <a:t>Matrix</a:t>
                </a:r>
                <a:r>
                  <a:rPr lang="en-IN" dirty="0"/>
                  <a:t> </a:t>
                </a:r>
                <a:r>
                  <a:rPr lang="en-IN" b="1" dirty="0"/>
                  <a:t>Measurement</a:t>
                </a:r>
                <a:r>
                  <a:rPr lang="en-IN" dirty="0"/>
                  <a:t>: For each pair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IN" dirty="0"/>
                  <a:t>, evaluate 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IN" dirty="0"/>
              </a:p>
              <a:p>
                <a:pPr marL="0" indent="0" algn="just">
                  <a:buNone/>
                </a:pPr>
                <a:r>
                  <a:rPr lang="en-IN" dirty="0"/>
                  <a:t>     Use quantum hardware to estimate overlaps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0F156C-3F16-4B33-B54B-6A45BCE95A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15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346203-489E-46A1-8DFF-8F6FD2A95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25544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494B6-76A8-4957-877A-8AA4D96BC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QSVM Workflow</a:t>
            </a:r>
            <a:endParaRPr lang="en-IN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521155-65FA-41D2-BB77-BEA04710A0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algn="just"/>
                <a:r>
                  <a:rPr lang="en-IN" b="1" dirty="0"/>
                  <a:t>Classical</a:t>
                </a:r>
                <a:r>
                  <a:rPr lang="en-IN" dirty="0"/>
                  <a:t> </a:t>
                </a:r>
                <a:r>
                  <a:rPr lang="en-IN" b="1" dirty="0"/>
                  <a:t>Optimization</a:t>
                </a:r>
                <a:r>
                  <a:rPr lang="en-IN" dirty="0"/>
                  <a:t>: Solve SVM QP problem</a:t>
                </a:r>
              </a:p>
              <a:p>
                <a:pPr marL="0" indent="0" algn="just">
                  <a:buNone/>
                </a:pPr>
                <a:r>
                  <a:rPr lang="en-US" b="0" dirty="0"/>
                  <a:t>			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</m:sSub>
                              </m:e>
                            </m:nary>
                          </m:e>
                        </m:nary>
                      </m:e>
                    </m:func>
                  </m:oMath>
                </a14:m>
                <a:r>
                  <a:rPr lang="en-IN" dirty="0"/>
                  <a:t>​ </a:t>
                </a:r>
              </a:p>
              <a:p>
                <a:pPr marL="0" indent="0" algn="just">
                  <a:buNone/>
                </a:pPr>
                <a:r>
                  <a:rPr lang="en-IN" dirty="0"/>
                  <a:t>     Identify support vectors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e>
                    </m:d>
                  </m:oMath>
                </a14:m>
                <a:endParaRPr lang="en-IN" dirty="0"/>
              </a:p>
              <a:p>
                <a:pPr algn="just"/>
                <a:endParaRPr lang="en-IN" b="1" dirty="0"/>
              </a:p>
              <a:p>
                <a:pPr algn="just"/>
                <a:r>
                  <a:rPr lang="en-IN" b="1" dirty="0"/>
                  <a:t>Model</a:t>
                </a:r>
                <a:r>
                  <a:rPr lang="en-IN" dirty="0"/>
                  <a:t> </a:t>
                </a:r>
                <a:r>
                  <a:rPr lang="en-IN" b="1" dirty="0"/>
                  <a:t>Deployment</a:t>
                </a:r>
                <a:r>
                  <a:rPr lang="en-IN" dirty="0"/>
                  <a:t> </a:t>
                </a:r>
                <a:r>
                  <a:rPr lang="en-IN" b="1" dirty="0"/>
                  <a:t>&amp;</a:t>
                </a:r>
                <a:r>
                  <a:rPr lang="en-IN" dirty="0"/>
                  <a:t> </a:t>
                </a:r>
                <a:r>
                  <a:rPr lang="en-IN" b="1" dirty="0"/>
                  <a:t>Prediction</a:t>
                </a:r>
                <a:r>
                  <a:rPr lang="en-IN" dirty="0"/>
                  <a:t>: Compute decision function 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𝑠𝑖𝑔𝑛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en-IN" dirty="0"/>
              </a:p>
              <a:p>
                <a:pPr marL="0" indent="0" algn="just">
                  <a:buNone/>
                </a:pPr>
                <a:r>
                  <a:rPr lang="en-IN" dirty="0"/>
                  <a:t>    Classify new samples using quantum-evaluated kernels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521155-65FA-41D2-BB77-BEA04710A0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b="-182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DF91A-B154-47E3-947F-3EF7B78A7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44477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90501-F50D-42A7-801E-22DD2501B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Fidelity</a:t>
            </a:r>
            <a:endParaRPr lang="en-IN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86EA96-C1F6-4FC3-9AE9-8D61FD021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algn="just"/>
                <a:r>
                  <a:rPr lang="en-US" b="1" dirty="0"/>
                  <a:t>Definition: </a:t>
                </a:r>
                <a:r>
                  <a:rPr lang="en-US" dirty="0"/>
                  <a:t>A measure of similarity (overlap) between two quantum states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⟩) 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⟩)</m:t>
                    </m:r>
                  </m:oMath>
                </a14:m>
                <a:r>
                  <a:rPr lang="en-IN" dirty="0"/>
                  <a:t>.</a:t>
                </a:r>
              </a:p>
              <a:p>
                <a:pPr algn="just"/>
                <a:endParaRPr lang="en-IN" b="1" dirty="0"/>
              </a:p>
              <a:p>
                <a:pPr algn="just"/>
                <a:r>
                  <a:rPr lang="en-IN" b="1" dirty="0"/>
                  <a:t>Mathematical Formulation: </a:t>
                </a:r>
              </a:p>
              <a:p>
                <a:pPr marL="0" indent="0" algn="just">
                  <a:buNone/>
                </a:pPr>
                <a:r>
                  <a:rPr lang="en-IN" b="1" dirty="0"/>
                  <a:t>		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⟩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⟩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⟨"/>
                                <m:endChr m:val="⟩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IN" dirty="0"/>
                  <a:t> </a:t>
                </a:r>
              </a:p>
              <a:p>
                <a:pPr marL="457200" lvl="1" indent="0" algn="just">
                  <a:buNone/>
                </a:pPr>
                <a:r>
                  <a:rPr lang="en-IN" dirty="0"/>
                  <a:t>(Ranges from 0 (orthogonal states) to 1 (identical states)</a:t>
                </a:r>
              </a:p>
              <a:p>
                <a:pPr algn="just"/>
                <a:endParaRPr lang="en-US" b="1" dirty="0"/>
              </a:p>
              <a:p>
                <a:pPr algn="just"/>
                <a:r>
                  <a:rPr lang="en-US" b="1" dirty="0"/>
                  <a:t>Interpretation:</a:t>
                </a:r>
                <a:endParaRPr lang="en-US" dirty="0"/>
              </a:p>
              <a:p>
                <a:pPr lvl="1" algn="just"/>
                <a:r>
                  <a:rPr lang="en-US" b="1" dirty="0"/>
                  <a:t>High fidelity</a:t>
                </a:r>
                <a:r>
                  <a:rPr lang="en-US" dirty="0"/>
                  <a:t> ⇒ states are not distinguishable (States are similar).</a:t>
                </a:r>
              </a:p>
              <a:p>
                <a:pPr lvl="1" algn="just"/>
                <a:r>
                  <a:rPr lang="en-US" b="1" dirty="0"/>
                  <a:t>Low fidelity</a:t>
                </a:r>
                <a:r>
                  <a:rPr lang="en-US" dirty="0"/>
                  <a:t> ⇒ states are easily distinguishable (States are not similar).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86EA96-C1F6-4FC3-9AE9-8D61FD021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r="-115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BD23B2-B0FD-49EB-84FA-D1FEBB7CF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2927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153F2-44E8-44A0-92DD-D7B42C328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Measuring Fidelity using SWAP Test</a:t>
            </a:r>
            <a:endParaRPr lang="en-IN" b="1" dirty="0"/>
          </a:p>
        </p:txBody>
      </p:sp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3FDE49D7-9C75-48BA-BB49-5170865C1EBD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683" y="1453892"/>
            <a:ext cx="3968504" cy="3950216"/>
          </a:xfr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866FA6-C938-4F71-888F-6A60A7CFA2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837530" cy="3811588"/>
          </a:xfrm>
        </p:spPr>
        <p:txBody>
          <a:bodyPr>
            <a:norm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b="1" dirty="0"/>
              <a:t>Core Idea:</a:t>
            </a:r>
            <a:r>
              <a:rPr lang="en-US" dirty="0"/>
              <a:t> Prepare copies of the states, entangle them with an ancilla via H–controlled-SWAP–H; ancilla outcome encodes their overlap (2P(0)−1).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b="1" dirty="0"/>
              <a:t>Resource Cost:</a:t>
            </a:r>
            <a:r>
              <a:rPr lang="en-US" dirty="0"/>
              <a:t> </a:t>
            </a:r>
            <a:r>
              <a:rPr lang="en-IN" dirty="0"/>
              <a:t>One ancilla qubit + two n-qubit data registers; </a:t>
            </a:r>
            <a:r>
              <a:rPr lang="en-US" dirty="0"/>
              <a:t>overall circuit depth ≈ feature-map depth + 3 layers.</a:t>
            </a:r>
            <a:endParaRPr lang="en-IN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b="1" dirty="0"/>
              <a:t>Typical Use-case:</a:t>
            </a:r>
            <a:r>
              <a:rPr lang="en-US" dirty="0"/>
              <a:t> Exact fidelity of two </a:t>
            </a:r>
            <a:r>
              <a:rPr lang="en-US" i="1" dirty="0"/>
              <a:t>pure</a:t>
            </a:r>
            <a:r>
              <a:rPr lang="en-US" dirty="0"/>
              <a:t> states in small-qubit experiments.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b="1" dirty="0"/>
              <a:t>Pros:</a:t>
            </a:r>
            <a:r>
              <a:rPr lang="en-US" dirty="0"/>
              <a:t> Hardware-agnostic; conceptually simple; overlap obtained directly.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b="1" dirty="0"/>
              <a:t>Cons:</a:t>
            </a:r>
            <a:r>
              <a:rPr lang="en-US" dirty="0"/>
              <a:t> Requires preparation of both samples at the same time, doubling qubit needs; as the number of data qubits grows, the circuit gets deeper and harder to run.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F04C8A-3666-44BB-ADF4-BB56EF0E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1268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153F2-44E8-44A0-92DD-D7B42C328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Destructive SWAP Test (Bit-string Comparison)</a:t>
            </a:r>
            <a:endParaRPr lang="en-IN" b="1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71CE81BA-068E-4724-8BB5-479026B39BF8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2375" y="1403796"/>
            <a:ext cx="5708013" cy="4206509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65B010A-52C4-4B43-8114-9757751FAAEF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839788" y="2057400"/>
                <a:ext cx="4229517" cy="3811588"/>
              </a:xfrm>
            </p:spPr>
            <p:txBody>
              <a:bodyPr>
                <a:normAutofit lnSpcReduction="10000"/>
              </a:bodyPr>
              <a:lstStyle/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en-US" b="1" dirty="0"/>
                  <a:t>Core Idea:</a:t>
                </a:r>
                <a:r>
                  <a:rPr lang="en-US" dirty="0"/>
                  <a:t> Measure both state registers directly in Z-basis; fidelity = P(all bit-strings identical).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en-US" b="1" dirty="0"/>
                  <a:t>Resource Cost:</a:t>
                </a:r>
                <a:r>
                  <a:rPr lang="en-US" dirty="0"/>
                  <a:t>  2 state copies/shot, 0 ancillas, 0 entangling gates, Depth ≈ read-out only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en-US" b="1" dirty="0"/>
                  <a:t>Typical Use-case:</a:t>
                </a:r>
                <a:r>
                  <a:rPr lang="en-US" dirty="0"/>
                  <a:t> Gate-depth-constrained NISQ experiments to validate variational states.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en-US" b="1" dirty="0"/>
                  <a:t>Pros:</a:t>
                </a:r>
                <a:r>
                  <a:rPr lang="en-US" dirty="0"/>
                  <a:t> Ultra-shallow &amp; hardware-agnostic, No controlled-SWAP overhead, Easy to parallelize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en-US" b="1" dirty="0"/>
                  <a:t>Cons: </a:t>
                </a:r>
                <a:r>
                  <a:rPr lang="en-US" dirty="0"/>
                  <a:t>Destructive (consumes states), High shot count for large systems, Gives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⟨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⟩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only (no phase info)</a:t>
                </a:r>
                <a:endParaRPr lang="en-IN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65B010A-52C4-4B43-8114-9757751FAA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839788" y="2057400"/>
                <a:ext cx="4229517" cy="3811588"/>
              </a:xfrm>
              <a:blipFill>
                <a:blip r:embed="rId3"/>
                <a:stretch>
                  <a:fillRect l="-576" t="-1600" r="-72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D993D7-6C59-460F-8558-5F8900D3B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9386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153F2-44E8-44A0-92DD-D7B42C328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Measuring Fidelity using Hadamard / Inner-Product Test </a:t>
            </a:r>
            <a:endParaRPr lang="en-IN" b="1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D6E06048-D96B-4087-99FE-84200BBEA2F9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48218" y="3429000"/>
            <a:ext cx="4663449" cy="2481334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65B010A-52C4-4B43-8114-9757751FAAEF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839788" y="2057400"/>
                <a:ext cx="3932237" cy="3811588"/>
              </a:xfrm>
            </p:spPr>
            <p:txBody>
              <a:bodyPr>
                <a:normAutofit fontScale="92500" lnSpcReduction="10000"/>
              </a:bodyPr>
              <a:lstStyle/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en-US" b="1" dirty="0"/>
                  <a:t>Core Idea:</a:t>
                </a:r>
                <a:r>
                  <a:rPr lang="en-US" dirty="0"/>
                  <a:t> </a:t>
                </a:r>
                <a:r>
                  <a:rPr lang="en-IN" dirty="0"/>
                  <a:t>Controlled-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IN" dirty="0"/>
                  <a:t> from ancilla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|+⟩</m:t>
                    </m:r>
                  </m:oMath>
                </a14:m>
                <a:r>
                  <a:rPr lang="en-IN" dirty="0"/>
                  <a:t> to work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IN" dirty="0"/>
                  <a:t>, measure ancilla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N" dirty="0"/>
                  <a:t>, then apply random Clifford and measure work qubits for classical shadow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en-US" b="1" dirty="0"/>
                  <a:t>Resource Cost:</a:t>
                </a:r>
                <a:r>
                  <a:rPr lang="en-US" dirty="0"/>
                  <a:t> One ancilla; only one copy of the state, but controlled unitary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†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must be implemented.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en-US" b="1" dirty="0"/>
                  <a:t>Typical Use-case:</a:t>
                </a:r>
                <a:r>
                  <a:rPr lang="en-US" dirty="0"/>
                  <a:t> Variational-algorithm runs where you need to check how well your current state matches a target or compare two related circuits. 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en-US" b="1" dirty="0"/>
                  <a:t>Pros: </a:t>
                </a:r>
                <a:r>
                  <a:rPr lang="en-US" dirty="0"/>
                  <a:t>Highly qubit-efficient n+1; works directly with circuit descriptions, not pre-loaded states.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en-US" b="1" dirty="0"/>
                  <a:t>Cons: </a:t>
                </a:r>
                <a:r>
                  <a:rPr lang="en-US" dirty="0"/>
                  <a:t>Requires two separate runs for real and imaginary parts; cannot operate on unknown "black-box" states.</a:t>
                </a:r>
                <a:endParaRPr lang="en-IN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65B010A-52C4-4B43-8114-9757751FAA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839788" y="2057400"/>
                <a:ext cx="3932237" cy="3811588"/>
              </a:xfrm>
              <a:blipFill>
                <a:blip r:embed="rId3"/>
                <a:stretch>
                  <a:fillRect l="-465" t="-1440" r="-62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6BA18C7-0B22-4B84-AAF0-B3FC3BEFD9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48218" y="1013323"/>
            <a:ext cx="4078232" cy="241567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60F1B7-30A6-4404-B85F-0283E61A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7386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38BC0-5681-4F67-A482-7FCF5B8BC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Types of Quantum Kernels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68776-D927-4354-94E3-A5F340E419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IN" b="1" dirty="0"/>
              <a:t>Fidelity-Based Quantum Kernels</a:t>
            </a:r>
            <a:r>
              <a:rPr lang="en-IN" dirty="0"/>
              <a:t>: </a:t>
            </a:r>
            <a:r>
              <a:rPr lang="en-US" dirty="0"/>
              <a:t>Quantum state overlap as a similarity measure.</a:t>
            </a:r>
          </a:p>
          <a:p>
            <a:pPr algn="just"/>
            <a:r>
              <a:rPr lang="en-IN" b="1" dirty="0"/>
              <a:t>Entanglement-Enhanced Kernels</a:t>
            </a:r>
            <a:r>
              <a:rPr lang="en-IN" dirty="0"/>
              <a:t>: </a:t>
            </a:r>
            <a:r>
              <a:rPr lang="en-US" dirty="0"/>
              <a:t>Using feature maps with entangled qubits to generate feature correlations.</a:t>
            </a:r>
          </a:p>
          <a:p>
            <a:pPr algn="just"/>
            <a:r>
              <a:rPr lang="en-IN" b="1" i="0" dirty="0">
                <a:effectLst/>
              </a:rPr>
              <a:t>Variational Quantum Kernels</a:t>
            </a:r>
            <a:r>
              <a:rPr lang="en-IN" i="0" dirty="0">
                <a:effectLst/>
              </a:rPr>
              <a:t>: </a:t>
            </a:r>
            <a:r>
              <a:rPr lang="en-US" dirty="0"/>
              <a:t>Using parametrized quantum circuits as feature maps with trainable parameters to adapt the kernel to data.</a:t>
            </a:r>
          </a:p>
          <a:p>
            <a:pPr algn="just"/>
            <a:endParaRPr lang="en-IN" b="1" i="0" dirty="0">
              <a:effectLst/>
            </a:endParaRPr>
          </a:p>
          <a:p>
            <a:pPr marL="0" indent="0" algn="just">
              <a:buNone/>
            </a:pPr>
            <a:endParaRPr lang="en-IN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DDBFCF-C872-4CFC-9E90-79D6DA199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62647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FEE4C-FC90-4FE5-970E-F6A0DAAF8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Fidelity Based Quantum Kernel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D49BFE3-0388-47AE-9761-9BE87A511DA6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182" y="1262130"/>
            <a:ext cx="5241196" cy="4432072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4A16FB2-9C2B-4819-8D6C-1ACBCA58B437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839788" y="2057400"/>
                <a:ext cx="4422023" cy="3811588"/>
              </a:xfrm>
            </p:spPr>
            <p:txBody>
              <a:bodyPr>
                <a:normAutofit/>
              </a:bodyPr>
              <a:lstStyle/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en-IN" b="1" dirty="0"/>
                  <a:t>Definition: </a:t>
                </a:r>
                <a:r>
                  <a:rPr lang="en-IN" dirty="0"/>
                  <a:t>A </a:t>
                </a:r>
                <a:r>
                  <a:rPr lang="en-IN" b="1" dirty="0"/>
                  <a:t>fidelity-based quantum kernel</a:t>
                </a:r>
                <a:r>
                  <a:rPr lang="en-IN" dirty="0"/>
                  <a:t> is a similarity function for kernel machines (e.g., SVM, kernel ridge regression) defined as the </a:t>
                </a:r>
                <a:r>
                  <a:rPr lang="en-IN" b="1" dirty="0"/>
                  <a:t>squared state overlap</a:t>
                </a:r>
                <a:r>
                  <a:rPr lang="en-IN" dirty="0"/>
                  <a:t> between two quantum-encoded data points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endParaRPr lang="en-US" b="0" i="1" dirty="0"/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IN" dirty="0"/>
              </a:p>
              <a:p>
                <a:pPr lvl="1" algn="just"/>
                <a:r>
                  <a:rPr lang="en-IN" dirty="0"/>
                  <a:t>where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⟩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</m:oMath>
                </a14:m>
                <a:r>
                  <a:rPr lang="en-US" dirty="0"/>
                  <a:t> is the quantum state prepared by a feature-map circuit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</m:oMath>
                </a14:m>
                <a:r>
                  <a:rPr lang="en-IN" dirty="0"/>
                  <a:t>.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en-US" dirty="0"/>
                  <a:t>Because the kernel is just a fidelity (a probability), it is </a:t>
                </a:r>
                <a:r>
                  <a:rPr lang="en-US" b="1" dirty="0"/>
                  <a:t>guaranteed positive-semidefinite</a:t>
                </a:r>
                <a:r>
                  <a:rPr lang="en-US" dirty="0"/>
                  <a:t>, satisfying Mercer’s condition and making it drop-in compatible with classical kernel algorithms.</a:t>
                </a:r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4A16FB2-9C2B-4819-8D6C-1ACBCA58B4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839788" y="2057400"/>
                <a:ext cx="4422023" cy="3811588"/>
              </a:xfrm>
              <a:blipFill>
                <a:blip r:embed="rId3"/>
                <a:stretch>
                  <a:fillRect l="-552" t="-1120" r="-69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5901F4-3B3D-4A50-B4A2-630DC49E8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08886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C5AEE-39C0-40E7-9BB2-AD42FE3B1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Entanglement Based Quantum Kernel</a:t>
            </a:r>
            <a:endParaRPr lang="en-IN" b="1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D728DCC0-5A1B-4ACF-BB86-60CC0AD9C5CD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7722" y="1415487"/>
            <a:ext cx="6177698" cy="4027026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57792F-D242-4CFA-8A0F-9017720D2305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839788" y="2057400"/>
                <a:ext cx="4197433" cy="3811588"/>
              </a:xfrm>
            </p:spPr>
            <p:txBody>
              <a:bodyPr>
                <a:normAutofit/>
              </a:bodyPr>
              <a:lstStyle/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en-IN" dirty="0"/>
                  <a:t>Quantum kernels whose feature map explicitly creates multipartite entanglement, either by</a:t>
                </a:r>
              </a:p>
              <a:p>
                <a:pPr marL="742950" lvl="1" indent="-285750" algn="just">
                  <a:buFont typeface="Arial" panose="020B0604020202020204" pitchFamily="34" charset="0"/>
                  <a:buChar char="•"/>
                </a:pPr>
                <a:r>
                  <a:rPr lang="en-IN" dirty="0"/>
                  <a:t>Entangling gates inside the data-encoding circuit, or</a:t>
                </a:r>
              </a:p>
              <a:p>
                <a:pPr marL="742950" lvl="1" indent="-285750" algn="just">
                  <a:buFont typeface="Arial" panose="020B0604020202020204" pitchFamily="34" charset="0"/>
                  <a:buChar char="•"/>
                </a:pPr>
                <a:r>
                  <a:rPr lang="en-IN" dirty="0"/>
                  <a:t>Entangled starter states (GHZ, Cluster, W) on which data-dependent rotations are applied.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en-IN" dirty="0"/>
                  <a:t>Kernel value: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endParaRPr lang="en-US" b="0" i="1" dirty="0"/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𝐸𝐵𝑄𝐾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⊗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</m:sSup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𝑈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†</m:t>
                                          </m:r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p>
                                            <m:s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′</m:t>
                                              </m:r>
                                            </m:sup>
                                          </m:sSup>
                                        </m:e>
                                      </m:d>
                                    </m:e>
                                  </m:d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⊗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IN" dirty="0"/>
              </a:p>
              <a:p>
                <a:pPr lvl="1" algn="just"/>
                <a:endParaRPr lang="en-US" dirty="0"/>
              </a:p>
              <a:p>
                <a:pPr lvl="1" algn="just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contains entanglers. The overlap is measured with a SWAP‐test or fidelity circuit.</a:t>
                </a:r>
              </a:p>
              <a:p>
                <a:pPr marL="0" indent="0" algn="just">
                  <a:buNone/>
                </a:pPr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57792F-D242-4CFA-8A0F-9017720D23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839788" y="2057400"/>
                <a:ext cx="4197433" cy="3811588"/>
              </a:xfrm>
              <a:blipFill>
                <a:blip r:embed="rId3"/>
                <a:stretch>
                  <a:fillRect l="-581" t="-1120" r="-72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CCDB0B-E695-4C2D-A0C8-FF996BACE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10671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F56B3-3A11-4C4C-8B15-65DEF3B9F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Variational Quantum Kernel</a:t>
            </a:r>
            <a:endParaRPr lang="en-IN" b="1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1A786E77-D381-4F5F-8C2A-DDA56BF4E78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2254450"/>
            <a:ext cx="7309728" cy="2349099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CC7CBE-1B93-4467-A966-1C0422B34CD1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/>
            <p:txBody>
              <a:bodyPr>
                <a:normAutofit/>
              </a:bodyPr>
              <a:lstStyle/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en-IN" dirty="0"/>
                  <a:t>A </a:t>
                </a:r>
                <a:r>
                  <a:rPr lang="en-IN" b="1" dirty="0"/>
                  <a:t>Variational Quantum Kernel (VQK)</a:t>
                </a:r>
                <a:r>
                  <a:rPr lang="en-IN" dirty="0"/>
                  <a:t> is a </a:t>
                </a:r>
                <a:r>
                  <a:rPr lang="en-IN" i="1" dirty="0"/>
                  <a:t>trainable</a:t>
                </a:r>
                <a:r>
                  <a:rPr lang="en-IN" dirty="0"/>
                  <a:t> quantum kernel in which the data‐embedding circuit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endParaRPr lang="en-US" b="0" i="1" dirty="0"/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𝑣𝑎𝑟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IN" dirty="0"/>
              </a:p>
              <a:p>
                <a:pPr lvl="1"/>
                <a:endParaRPr lang="en-IN" dirty="0"/>
              </a:p>
              <a:p>
                <a:pPr lvl="1"/>
                <a:r>
                  <a:rPr lang="en-IN" dirty="0"/>
                  <a:t>contains a set of adjustable parameters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l-GR" dirty="0"/>
                  <a:t>.</a:t>
                </a:r>
                <a:br>
                  <a:rPr lang="el-GR" dirty="0"/>
                </a:br>
                <a:endParaRPr lang="en-US" dirty="0"/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en-IN" dirty="0"/>
                  <a:t>By optimising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l-GR" dirty="0"/>
                  <a:t> </a:t>
                </a:r>
                <a:r>
                  <a:rPr lang="en-IN" dirty="0"/>
                  <a:t>on a labelled training set, the kernel function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endParaRPr lang="en-US" b="0" i="1" dirty="0"/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⟩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IN" dirty="0"/>
              </a:p>
              <a:p>
                <a:pPr lvl="1" algn="just"/>
                <a:r>
                  <a:rPr lang="en-US" dirty="0"/>
                  <a:t>is </a:t>
                </a:r>
                <a:r>
                  <a:rPr lang="en-US" i="1" dirty="0"/>
                  <a:t>learned</a:t>
                </a:r>
                <a:r>
                  <a:rPr lang="en-US" dirty="0"/>
                  <a:t> to maximize task-relevant similarity, yielding a Quantum SVM that adapts its feature space to the problem.</a:t>
                </a:r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CC7CBE-1B93-4467-A966-1C0422B34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blipFill>
                <a:blip r:embed="rId3"/>
                <a:stretch>
                  <a:fillRect l="-620" t="-1120" r="-775" b="-144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56A459-DB50-447D-B967-179496FFA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24502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8184FA1-BD85-4A71-8BCA-51BCDAE80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Hamiltonian Way To QSVM (Iris Dataset)</a:t>
            </a:r>
            <a:endParaRPr lang="en-IN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A9A32D6-E322-4A92-943B-D2B759EF58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IN" b="1" dirty="0"/>
                  <a:t>Task: </a:t>
                </a:r>
                <a:r>
                  <a:rPr lang="en-IN" dirty="0"/>
                  <a:t>3-class Iris classification (</a:t>
                </a:r>
                <a:r>
                  <a:rPr lang="en-IN" dirty="0" err="1"/>
                  <a:t>setosa</a:t>
                </a:r>
                <a:r>
                  <a:rPr lang="en-IN" dirty="0"/>
                  <a:t>, versicolor, virginica).</a:t>
                </a:r>
              </a:p>
              <a:p>
                <a:r>
                  <a:rPr lang="en-IN" b="1" dirty="0"/>
                  <a:t>Idea: </a:t>
                </a:r>
                <a:r>
                  <a:rPr lang="en-IN" dirty="0"/>
                  <a:t>Encode features on qubits with a ZZ feature map, then use a trainable circuit to push amplitude onto the correct label state.</a:t>
                </a:r>
              </a:p>
              <a:p>
                <a:r>
                  <a:rPr lang="en-IN" b="1" dirty="0"/>
                  <a:t>Prediction:</a:t>
                </a:r>
                <a:r>
                  <a:rPr lang="en-IN" dirty="0"/>
                  <a:t> the label state with highest probability (or lowest energy under a cost Hamiltonian).</a:t>
                </a:r>
              </a:p>
              <a:p>
                <a:r>
                  <a:rPr lang="en-IN" b="1" dirty="0"/>
                  <a:t>Registers:</a:t>
                </a:r>
              </a:p>
              <a:p>
                <a:pPr lvl="1"/>
                <a:r>
                  <a:rPr lang="en-IN" b="1" dirty="0"/>
                  <a:t>Data register: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IN" dirty="0"/>
                  <a:t> qubits (1 per feature you pick; 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IN" dirty="0"/>
                  <a:t>).</a:t>
                </a:r>
              </a:p>
              <a:p>
                <a:pPr lvl="1"/>
                <a:r>
                  <a:rPr lang="en-IN" b="1" dirty="0"/>
                  <a:t>Label register: </a:t>
                </a:r>
                <a:r>
                  <a:rPr lang="en-IN" dirty="0"/>
                  <a:t>2 qubits to represent 3 classes as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00,01,10</m:t>
                        </m:r>
                      </m:e>
                    </m:d>
                  </m:oMath>
                </a14:m>
                <a:r>
                  <a:rPr lang="en-IN" dirty="0"/>
                  <a:t> (ignore 11).</a:t>
                </a:r>
              </a:p>
              <a:p>
                <a:r>
                  <a:rPr lang="en-IN" b="1" dirty="0"/>
                  <a:t>Variables:</a:t>
                </a:r>
                <a:r>
                  <a:rPr lang="en-IN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IN" dirty="0"/>
                  <a:t> (features),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IN" dirty="0"/>
                  <a:t> (number of data qubits),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l-GR" dirty="0"/>
                  <a:t> (</a:t>
                </a:r>
                <a:r>
                  <a:rPr lang="en-IN" dirty="0"/>
                  <a:t>ZZ interaction strength),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l-GR" dirty="0"/>
                  <a:t> (</a:t>
                </a:r>
                <a:r>
                  <a:rPr lang="en-IN" dirty="0"/>
                  <a:t>trainable parameters of the variational block), 	​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IN" dirty="0"/>
                  <a:t> (energy assigned to label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IN" dirty="0"/>
                  <a:t>).</a:t>
                </a:r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A9A32D6-E322-4A92-943B-D2B759EF58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1" r="-144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3B44D5-55AC-4F64-AD7E-03C55EF2B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41266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CD2B-9847-42F3-B793-B0883F870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Cost Hamiltonian</a:t>
            </a:r>
            <a:endParaRPr lang="en-IN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A90957-362F-4E80-A317-8F9D3FF012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IN" dirty="0"/>
                  <a:t>We assign an energy to each valid label basis state:</a:t>
                </a:r>
              </a:p>
              <a:p>
                <a:endParaRPr lang="en-IN" dirty="0"/>
              </a:p>
              <a:p>
                <a:pPr lvl="1"/>
                <a:r>
                  <a:rPr lang="en-IN" b="1" dirty="0"/>
                  <a:t>Label encoding:</a:t>
                </a:r>
                <a:r>
                  <a:rPr lang="en-IN" dirty="0"/>
                  <a:t> </a:t>
                </a:r>
                <a:r>
                  <a:rPr lang="en-IN" dirty="0" err="1"/>
                  <a:t>setosa</a:t>
                </a:r>
                <a:r>
                  <a:rPr lang="en-IN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→00</m:t>
                    </m:r>
                  </m:oMath>
                </a14:m>
                <a:r>
                  <a:rPr lang="en-IN" dirty="0"/>
                  <a:t>, versicolor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→01</m:t>
                    </m:r>
                  </m:oMath>
                </a14:m>
                <a:r>
                  <a:rPr lang="en-IN" dirty="0"/>
                  <a:t>, virginica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→10</m:t>
                    </m:r>
                  </m:oMath>
                </a14:m>
                <a:r>
                  <a:rPr lang="en-IN" dirty="0"/>
                  <a:t>.</a:t>
                </a:r>
              </a:p>
              <a:p>
                <a:pPr lvl="1"/>
                <a:endParaRPr lang="en-IN" dirty="0"/>
              </a:p>
              <a:p>
                <a:pPr lvl="1"/>
                <a:r>
                  <a:rPr lang="en-IN" b="1" dirty="0"/>
                  <a:t>Cost Hamiltonian on labels:</a:t>
                </a:r>
                <a:endParaRPr lang="en-IN" dirty="0"/>
              </a:p>
              <a:p>
                <a:pPr marL="457200" lvl="1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en-US" b="0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00</m:t>
                        </m:r>
                      </m:e>
                    </m:d>
                    <m:d>
                      <m:dPr>
                        <m:begChr m:val="⟨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begChr m:val="|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d>
                      <m:dPr>
                        <m:begChr m:val="⟨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begChr m:val="|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d>
                      <m:dPr>
                        <m:begChr m:val="⟨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IN" dirty="0"/>
                  <a:t> (ignore ∣11⟩). </a:t>
                </a:r>
              </a:p>
              <a:p>
                <a:pPr marL="457200" lvl="1" indent="0">
                  <a:buNone/>
                </a:pPr>
                <a:endParaRPr lang="en-IN" dirty="0"/>
              </a:p>
              <a:p>
                <a:pPr lvl="1"/>
                <a:r>
                  <a:rPr lang="en-IN" b="1" dirty="0"/>
                  <a:t>Usual choice: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IN" dirty="0"/>
                  <a:t> (just to order them)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A90957-362F-4E80-A317-8F9D3FF012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A8543-4C92-4572-8FB5-B6228593D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19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20563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89149-EE53-4727-8978-7B3F89D99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Full model circuit (data + label)</a:t>
            </a:r>
            <a:endParaRPr lang="en-IN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D3C8EA-1CE4-4BDB-A23B-CEA443C87F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>
                  <a:buFont typeface="+mj-lt"/>
                  <a:buAutoNum type="arabicPeriod"/>
                </a:pPr>
                <a:r>
                  <a:rPr lang="en-IN" b="1" dirty="0"/>
                  <a:t>Prepare data: </a:t>
                </a:r>
                <a:r>
                  <a:rPr lang="en-IN" dirty="0"/>
                  <a:t>Use ZZ Feature map to encode data</a:t>
                </a:r>
              </a:p>
              <a:p>
                <a:pPr>
                  <a:buFont typeface="+mj-lt"/>
                  <a:buAutoNum type="arabicPeriod"/>
                </a:pPr>
                <a:r>
                  <a:rPr lang="en-IN" b="1" dirty="0"/>
                  <a:t>Init label: </a:t>
                </a:r>
                <a:r>
                  <a:rPr lang="en-IN" dirty="0"/>
                  <a:t>.</a:t>
                </a:r>
              </a:p>
              <a:p>
                <a:pPr>
                  <a:buFont typeface="+mj-lt"/>
                  <a:buAutoNum type="arabicPeriod"/>
                </a:pPr>
                <a:r>
                  <a:rPr lang="en-IN" b="1" dirty="0"/>
                  <a:t>Variational block:</a:t>
                </a:r>
                <a:r>
                  <a:rPr lang="en-IN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IN" dirty="0"/>
                  <a:t> (trainable) Typical layer:</a:t>
                </a:r>
              </a:p>
              <a:p>
                <a:pPr marL="742950" lvl="1" indent="-285750">
                  <a:buFont typeface="+mj-lt"/>
                  <a:buAutoNum type="arabicPeriod"/>
                </a:pPr>
                <a:r>
                  <a:rPr lang="el-GR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𝑅𝑌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IN" dirty="0"/>
                  <a:t> on each label qubit.</a:t>
                </a:r>
              </a:p>
              <a:p>
                <a:pPr marL="742950" lvl="1" indent="-285750">
                  <a:buFont typeface="+mj-lt"/>
                  <a:buAutoNum type="arabicPeriod"/>
                </a:pPr>
                <a:r>
                  <a:rPr lang="en-IN" dirty="0"/>
                  <a:t>Controlled rotations from each </a:t>
                </a:r>
                <a:r>
                  <a:rPr lang="en-IN" b="1" dirty="0"/>
                  <a:t>data qubit</a:t>
                </a:r>
                <a:r>
                  <a:rPr lang="en-IN" dirty="0"/>
                  <a:t> into </a:t>
                </a:r>
                <a:r>
                  <a:rPr lang="en-IN" b="1" dirty="0"/>
                  <a:t>label qubits</a:t>
                </a:r>
                <a:r>
                  <a:rPr lang="en-IN" dirty="0"/>
                  <a:t> (e.g., CRY).</a:t>
                </a:r>
              </a:p>
              <a:p>
                <a:pPr marL="742950" lvl="1" indent="-285750">
                  <a:buFont typeface="+mj-lt"/>
                  <a:buAutoNum type="arabicPeriod"/>
                </a:pPr>
                <a:r>
                  <a:rPr lang="en-IN" dirty="0"/>
                  <a:t>Some entanglers among label qubits (e.g., CZ).</a:t>
                </a:r>
              </a:p>
              <a:p>
                <a:pPr marL="742950" lvl="1" indent="-285750">
                  <a:buFont typeface="+mj-lt"/>
                  <a:buAutoNum type="arabicPeriod"/>
                </a:pPr>
                <a:r>
                  <a:rPr lang="en-IN" dirty="0"/>
                  <a:t>Stack 2–3 such layers.</a:t>
                </a:r>
              </a:p>
              <a:p>
                <a:pPr>
                  <a:buFont typeface="+mj-lt"/>
                  <a:buAutoNum type="arabicPeriod"/>
                </a:pPr>
                <a:r>
                  <a:rPr lang="en-US" b="1" dirty="0"/>
                  <a:t> Cost stage (readout)</a:t>
                </a:r>
                <a:r>
                  <a:rPr lang="en-US" dirty="0"/>
                  <a:t> on </a:t>
                </a:r>
                <a:r>
                  <a:rPr lang="en-US" b="1" dirty="0"/>
                  <a:t>label qubits only</a:t>
                </a:r>
              </a:p>
              <a:p>
                <a:pPr lvl="1">
                  <a:buFont typeface="+mj-lt"/>
                  <a:buAutoNum type="arabicPeriod"/>
                </a:pPr>
                <a:r>
                  <a:rPr lang="en-IN" dirty="0"/>
                  <a:t>Treat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∈{00,01,10}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d>
                      <m:dPr>
                        <m:begChr m:val="⟨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IN" dirty="0"/>
                  <a:t> as the measurement operator.</a:t>
                </a:r>
              </a:p>
              <a:p>
                <a:pPr lvl="1">
                  <a:buFont typeface="+mj-lt"/>
                  <a:buAutoNum type="arabicPeriod"/>
                </a:pPr>
                <a:r>
                  <a:rPr lang="en-IN" dirty="0"/>
                  <a:t>Evaluate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⟨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IN" dirty="0"/>
                  <a:t> from Z-expectations of the two label qubits.</a:t>
                </a:r>
              </a:p>
              <a:p>
                <a:pPr lvl="1">
                  <a:buFont typeface="+mj-lt"/>
                  <a:buAutoNum type="arabicPeriod"/>
                </a:pPr>
                <a:r>
                  <a:rPr lang="en-US" dirty="0"/>
                  <a:t>Loss: this energy (or cross-entropy from the measured label probabilities).</a:t>
                </a:r>
              </a:p>
              <a:p>
                <a:pPr lvl="1">
                  <a:buFont typeface="+mj-lt"/>
                  <a:buAutoNum type="arabicPeriod"/>
                </a:pPr>
                <a:r>
                  <a:rPr lang="en-US" dirty="0"/>
                  <a:t>Update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via parameter-shift.</a:t>
                </a:r>
                <a:endParaRPr lang="en-IN" dirty="0"/>
              </a:p>
              <a:p>
                <a:pPr lvl="1">
                  <a:buFont typeface="+mj-lt"/>
                  <a:buAutoNum type="arabicPeriod"/>
                </a:pPr>
                <a:endParaRPr lang="en-IN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D3C8EA-1CE4-4BDB-A23B-CEA443C87F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01" t="-364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C1CD5-68D2-4017-BB10-0ADF6ABC0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43489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58004-B043-452A-B64A-F882BFCE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Comparison of Classical SVM vs QSVM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16AAD113-1A25-4C1A-85FB-13F105D7C101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046691247"/>
                  </p:ext>
                </p:extLst>
              </p:nvPr>
            </p:nvGraphicFramePr>
            <p:xfrm>
              <a:off x="550333" y="1825625"/>
              <a:ext cx="11144364" cy="44551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86091">
                      <a:extLst>
                        <a:ext uri="{9D8B030D-6E8A-4147-A177-3AD203B41FA5}">
                          <a16:colId xmlns:a16="http://schemas.microsoft.com/office/drawing/2014/main" val="2796153571"/>
                        </a:ext>
                      </a:extLst>
                    </a:gridCol>
                    <a:gridCol w="2786091">
                      <a:extLst>
                        <a:ext uri="{9D8B030D-6E8A-4147-A177-3AD203B41FA5}">
                          <a16:colId xmlns:a16="http://schemas.microsoft.com/office/drawing/2014/main" val="3142923549"/>
                        </a:ext>
                      </a:extLst>
                    </a:gridCol>
                    <a:gridCol w="2786091">
                      <a:extLst>
                        <a:ext uri="{9D8B030D-6E8A-4147-A177-3AD203B41FA5}">
                          <a16:colId xmlns:a16="http://schemas.microsoft.com/office/drawing/2014/main" val="4220361999"/>
                        </a:ext>
                      </a:extLst>
                    </a:gridCol>
                    <a:gridCol w="2786091">
                      <a:extLst>
                        <a:ext uri="{9D8B030D-6E8A-4147-A177-3AD203B41FA5}">
                          <a16:colId xmlns:a16="http://schemas.microsoft.com/office/drawing/2014/main" val="67310089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IN"/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/>
                            <a:t>Classical SVM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/>
                            <a:t>QSVM — theory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/>
                            <a:t>QSVM — practice (NISQ)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84355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IN" sz="1600" b="1" dirty="0"/>
                            <a:t>Training-time complexity</a:t>
                          </a:r>
                          <a:endParaRPr lang="en-IN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600" dirty="0"/>
                            <a:t>Kernel SVM QP solves scale between </a:t>
                          </a:r>
                          <a14:m>
                            <m:oMath xmlns:m="http://schemas.openxmlformats.org/officeDocument/2006/math">
                              <m:r>
                                <a:rPr lang="en-IN" sz="1600" i="1" dirty="0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IN" sz="160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IN" sz="1600" i="1" dirty="0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IN" sz="1600" i="1" dirty="0" smtClean="0"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sSup>
                                <m:sSupPr>
                                  <m:ctrlPr>
                                    <a:rPr lang="en-US" sz="16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IN" sz="160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IN" sz="160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en-IN" sz="1600" dirty="0"/>
                            <a:t>) and </a:t>
                          </a:r>
                          <a14:m>
                            <m:oMath xmlns:m="http://schemas.openxmlformats.org/officeDocument/2006/math">
                              <m:r>
                                <a:rPr lang="en-IN" sz="1600" i="1" dirty="0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IN" sz="160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IN" sz="1600" i="1" dirty="0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IN" sz="1600" i="1" dirty="0" smtClean="0"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sSup>
                                <m:sSupPr>
                                  <m:ctrlPr>
                                    <a:rPr lang="en-US" sz="16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IN" sz="160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IN" sz="1600" i="1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  <m:r>
                                <a:rPr lang="en-IN" sz="160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IN" sz="1600" dirty="0"/>
                            <a:t> ( n=samples, d=features); linear SVMs scale ~</a:t>
                          </a:r>
                          <a:r>
                            <a:rPr lang="en-IN" sz="1600" baseline="0" dirty="0"/>
                            <a:t> </a:t>
                          </a:r>
                          <a:r>
                            <a:rPr lang="en-IN" sz="1600" dirty="0"/>
                            <a:t>linearly in data size.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400050" indent="-400050">
                            <a:buAutoNum type="romanLcParenBoth"/>
                          </a:pPr>
                          <a:r>
                            <a:rPr lang="en-IN" sz="1600" b="1" dirty="0"/>
                            <a:t>LS-SVM via HHL</a:t>
                          </a:r>
                          <a:r>
                            <a:rPr lang="en-IN" sz="1600" dirty="0"/>
                            <a:t>: end-to-end classification polylogarithmic in </a:t>
                          </a:r>
                          <a14:m>
                            <m:oMath xmlns:m="http://schemas.openxmlformats.org/officeDocument/2006/math">
                              <m:r>
                                <a:rPr lang="en-IN" sz="160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IN" sz="160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IN" sz="1600" i="1" dirty="0" err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oMath>
                          </a14:m>
                          <a:r>
                            <a:rPr lang="en-IN" sz="1600" dirty="0"/>
                            <a:t> given QRAM; exponential speed-up claim. </a:t>
                          </a:r>
                        </a:p>
                        <a:p>
                          <a:pPr marL="400050" indent="-400050">
                            <a:buAutoNum type="romanLcParenBoth"/>
                          </a:pPr>
                          <a:r>
                            <a:rPr lang="en-IN" sz="1600" b="1" dirty="0"/>
                            <a:t>Quantum kernel SVM</a:t>
                          </a:r>
                          <a:r>
                            <a:rPr lang="en-IN" sz="1600" dirty="0"/>
                            <a:t>: training is classical SVM on a kernel matrix; potential advantage comes from (hard-to-classically-compute) kernel entries. (</a:t>
                          </a:r>
                          <a:r>
                            <a:rPr lang="en-IN" sz="1600" dirty="0">
                              <a:hlinkClick r:id="rId2" tooltip="Quantum Support Vector Machine for Big Data Classification"/>
                            </a:rPr>
                            <a:t>Physical Review Links</a:t>
                          </a:r>
                          <a:r>
                            <a:rPr lang="en-IN" sz="1600" dirty="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600" dirty="0"/>
                            <a:t>Training dominated by many noisy kernel evaluations. With shot noise, rigorous bounds show ~ </a:t>
                          </a:r>
                          <a14:m>
                            <m:oMath xmlns:m="http://schemas.openxmlformats.org/officeDocument/2006/math">
                              <m:r>
                                <a:rPr lang="en-IN" sz="1600" i="1" dirty="0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16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6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US" sz="1600" b="0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600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  <m:sup>
                                          <m:r>
                                            <a:rPr lang="en-US" sz="1600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4.67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en-US" sz="1600" b="0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600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e>
                                        <m:sup>
                                          <m:r>
                                            <a:rPr lang="en-US" sz="1600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oMath>
                          </a14:m>
                          <a:r>
                            <a:rPr lang="en-IN" sz="1600" dirty="0"/>
                            <a:t> circuit calls for dual SVM</a:t>
                          </a:r>
                          <a:r>
                            <a:rPr lang="en-IN" sz="1600" baseline="0" dirty="0"/>
                            <a:t> </a:t>
                          </a:r>
                          <a:r>
                            <a:rPr lang="en-IN" sz="1600" dirty="0"/>
                            <a:t>( M = No.</a:t>
                          </a:r>
                          <a:r>
                            <a:rPr lang="en-IN" sz="1600" baseline="0" dirty="0"/>
                            <a:t> of </a:t>
                          </a:r>
                          <a:r>
                            <a:rPr lang="en-IN" sz="1600" dirty="0"/>
                            <a:t>training points,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en-IN" sz="1600" dirty="0"/>
                            <a:t> = solution accuracy). (</a:t>
                          </a:r>
                          <a:r>
                            <a:rPr lang="en-IN" sz="1600" dirty="0">
                              <a:hlinkClick r:id="rId3" tooltip="The complexity of quantum support vector machines – Quantum"/>
                            </a:rPr>
                            <a:t>Quantum Journal</a:t>
                          </a:r>
                          <a:r>
                            <a:rPr lang="en-IN" sz="1600" dirty="0"/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8719584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IN" sz="1600" b="1" dirty="0"/>
                            <a:t>Kernel evaluation</a:t>
                          </a:r>
                          <a:endParaRPr lang="en-IN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600" dirty="0"/>
                            <a:t>Full Gram matrix costs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1600" b="0" i="0" dirty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  <m:d>
                                <m:dPr>
                                  <m:ctrlPr>
                                    <a:rPr lang="el-GR" sz="16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6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IN" sz="1600" i="1" dirty="0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en-IN" sz="160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r>
                            <a:rPr lang="en-IN" sz="1600" dirty="0"/>
                            <a:t> entries; typical time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1600" b="0" i="0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p>
                                    <m:sSup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IN" sz="1600" dirty="0"/>
                            <a:t>;</a:t>
                          </a:r>
                          <a:r>
                            <a:rPr lang="en-IN" sz="1600" baseline="0" dirty="0"/>
                            <a:t> </a:t>
                          </a:r>
                          <a:r>
                            <a:rPr lang="en-IN" sz="1600" dirty="0"/>
                            <a:t>memory</a:t>
                          </a:r>
                          <a:r>
                            <a:rPr lang="en-IN" sz="1600" baseline="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1600" b="0" i="0" dirty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  <m:r>
                                <a:rPr lang="el-GR" sz="16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6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IN" sz="16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IN" sz="16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IN" sz="160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IN" sz="1600" dirty="0"/>
                            <a:t>. (</a:t>
                          </a:r>
                          <a:r>
                            <a:rPr lang="en-IN" sz="1600" dirty="0">
                              <a:hlinkClick r:id="rId4" tooltip="Memory Efficient Kernel Approximation"/>
                            </a:rPr>
                            <a:t>Journal of Machine Learning Research</a:t>
                          </a:r>
                          <a:r>
                            <a:rPr lang="en-IN" sz="1600" dirty="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1600" i="0" dirty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6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160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oMath>
                          </a14:m>
                          <a:r>
                            <a:rPr lang="en-US" sz="1600" dirty="0"/>
                            <a:t>overlaps under ideal assumptions.</a:t>
                          </a:r>
                          <a:endParaRPr lang="en-IN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f>
                                <m:f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d>
                                    <m:d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oMath>
                          </a14:m>
                          <a:r>
                            <a:rPr lang="en-IN" sz="1600" dirty="0"/>
                            <a:t> circuit shots + </a:t>
                          </a:r>
                          <a:r>
                            <a:rPr lang="en-IN" sz="1600" dirty="0" err="1"/>
                            <a:t>transpilation</a:t>
                          </a:r>
                          <a:r>
                            <a:rPr lang="en-IN" sz="1600" dirty="0"/>
                            <a:t>/queueing; memory still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16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sz="1600" b="0" i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oMath>
                          </a14:m>
                          <a:r>
                            <a:rPr lang="en-IN" sz="1600" dirty="0"/>
                            <a:t> 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291955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16AAD113-1A25-4C1A-85FB-13F105D7C101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046691247"/>
                  </p:ext>
                </p:extLst>
              </p:nvPr>
            </p:nvGraphicFramePr>
            <p:xfrm>
              <a:off x="550333" y="1825625"/>
              <a:ext cx="11144364" cy="44551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86091">
                      <a:extLst>
                        <a:ext uri="{9D8B030D-6E8A-4147-A177-3AD203B41FA5}">
                          <a16:colId xmlns:a16="http://schemas.microsoft.com/office/drawing/2014/main" val="2796153571"/>
                        </a:ext>
                      </a:extLst>
                    </a:gridCol>
                    <a:gridCol w="2786091">
                      <a:extLst>
                        <a:ext uri="{9D8B030D-6E8A-4147-A177-3AD203B41FA5}">
                          <a16:colId xmlns:a16="http://schemas.microsoft.com/office/drawing/2014/main" val="3142923549"/>
                        </a:ext>
                      </a:extLst>
                    </a:gridCol>
                    <a:gridCol w="2786091">
                      <a:extLst>
                        <a:ext uri="{9D8B030D-6E8A-4147-A177-3AD203B41FA5}">
                          <a16:colId xmlns:a16="http://schemas.microsoft.com/office/drawing/2014/main" val="4220361999"/>
                        </a:ext>
                      </a:extLst>
                    </a:gridCol>
                    <a:gridCol w="2786091">
                      <a:extLst>
                        <a:ext uri="{9D8B030D-6E8A-4147-A177-3AD203B41FA5}">
                          <a16:colId xmlns:a16="http://schemas.microsoft.com/office/drawing/2014/main" val="67310089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IN"/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/>
                            <a:t>Classical SVM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/>
                            <a:t>QSVM — theory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/>
                            <a:t>QSVM — practice (NISQ)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8435519"/>
                      </a:ext>
                    </a:extLst>
                  </a:tr>
                  <a:tr h="3017520">
                    <a:tc>
                      <a:txBody>
                        <a:bodyPr/>
                        <a:lstStyle/>
                        <a:p>
                          <a:r>
                            <a:rPr lang="en-IN" sz="1600" b="1" dirty="0"/>
                            <a:t>Training-time complexity</a:t>
                          </a:r>
                          <a:endParaRPr lang="en-IN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100000" t="-13306" r="-200437" b="-377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200438" t="-13306" r="-100875" b="-377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300438" t="-13306" r="-875" b="-3770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1958426"/>
                      </a:ext>
                    </a:extLst>
                  </a:tr>
                  <a:tr h="1066800">
                    <a:tc>
                      <a:txBody>
                        <a:bodyPr/>
                        <a:lstStyle/>
                        <a:p>
                          <a:r>
                            <a:rPr lang="en-IN" sz="1600" b="1" dirty="0"/>
                            <a:t>Kernel evaluation</a:t>
                          </a:r>
                          <a:endParaRPr lang="en-IN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100000" t="-321143" r="-200437" b="-6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200438" t="-321143" r="-100875" b="-6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300438" t="-321143" r="-875" b="-6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2919554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8E040D-6810-4B10-A18B-776EB9E99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21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01127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1F582-6662-4A49-9E42-8327B3E2E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Comparison of Classical SVM vs QSVM</a:t>
            </a:r>
            <a:endParaRPr lang="en-IN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D38B0D18-77EB-4321-9D85-508B78FF5B8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062655344"/>
                  </p:ext>
                </p:extLst>
              </p:nvPr>
            </p:nvGraphicFramePr>
            <p:xfrm>
              <a:off x="545430" y="2012421"/>
              <a:ext cx="11101140" cy="4272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75285">
                      <a:extLst>
                        <a:ext uri="{9D8B030D-6E8A-4147-A177-3AD203B41FA5}">
                          <a16:colId xmlns:a16="http://schemas.microsoft.com/office/drawing/2014/main" val="2801890226"/>
                        </a:ext>
                      </a:extLst>
                    </a:gridCol>
                    <a:gridCol w="2775285">
                      <a:extLst>
                        <a:ext uri="{9D8B030D-6E8A-4147-A177-3AD203B41FA5}">
                          <a16:colId xmlns:a16="http://schemas.microsoft.com/office/drawing/2014/main" val="3517568900"/>
                        </a:ext>
                      </a:extLst>
                    </a:gridCol>
                    <a:gridCol w="2775285">
                      <a:extLst>
                        <a:ext uri="{9D8B030D-6E8A-4147-A177-3AD203B41FA5}">
                          <a16:colId xmlns:a16="http://schemas.microsoft.com/office/drawing/2014/main" val="188241693"/>
                        </a:ext>
                      </a:extLst>
                    </a:gridCol>
                    <a:gridCol w="2775285">
                      <a:extLst>
                        <a:ext uri="{9D8B030D-6E8A-4147-A177-3AD203B41FA5}">
                          <a16:colId xmlns:a16="http://schemas.microsoft.com/office/drawing/2014/main" val="40064278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N" b="1" dirty="0"/>
                            <a:t>Aspect</a:t>
                          </a:r>
                          <a:endParaRPr lang="en-IN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N" b="1" dirty="0"/>
                            <a:t>Classical SVM</a:t>
                          </a:r>
                          <a:endParaRPr lang="en-IN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N" b="1" dirty="0"/>
                            <a:t>QSVM (Theory)</a:t>
                          </a:r>
                          <a:endParaRPr lang="en-IN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N" b="1" dirty="0"/>
                            <a:t>QSVM (Practice)</a:t>
                          </a:r>
                          <a:endParaRPr lang="en-IN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77629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IN" sz="1400" b="1"/>
                            <a:t>Feature-space power</a:t>
                          </a:r>
                          <a:endParaRPr lang="en-IN" sz="14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400" dirty="0"/>
                            <a:t>Kernel trick maps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↦</m:t>
                              </m:r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  <m:d>
                                <m:d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r>
                            <a:rPr lang="en-IN" sz="1400" dirty="0"/>
                            <a:t> in an RKHS, enabling linear separation there. (</a:t>
                          </a:r>
                          <a:r>
                            <a:rPr lang="en-IN" sz="1400" dirty="0">
                              <a:hlinkClick r:id="rId2" tooltip="1.4. Support Vector Machines — scikit-learn 1.7.2 documentation"/>
                            </a:rPr>
                            <a:t>Scikit-learn</a:t>
                          </a:r>
                          <a:r>
                            <a:rPr lang="en-IN" sz="1400" dirty="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Quantum feature maps embed data into a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1400" dirty="0"/>
                            <a:t>-dimensional Hilbert space; can realize feature spaces believed classically intractable. (</a:t>
                          </a:r>
                          <a:r>
                            <a:rPr lang="en-US" sz="1400" dirty="0">
                              <a:hlinkClick r:id="rId3" tooltip="Quantum Machine Learning in Feature Hilbert Spaces"/>
                            </a:rPr>
                            <a:t>Physical Review Links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Expressivity must match the task: overly expressive embeddings can hurt generalization; “power of data” shows advantage depends on data structure/labels. (</a:t>
                          </a:r>
                          <a:r>
                            <a:rPr lang="en-US" sz="1400" dirty="0" err="1">
                              <a:hlinkClick r:id="rId4" tooltip="The Inductive Bias of Quantum Kernels"/>
                            </a:rPr>
                            <a:t>NeurIPS</a:t>
                          </a:r>
                          <a:r>
                            <a:rPr lang="en-US" sz="1400" dirty="0">
                              <a:hlinkClick r:id="rId4" tooltip="The Inductive Bias of Quantum Kernels"/>
                            </a:rPr>
                            <a:t> Proceedings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4996096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IN" sz="1400" b="1"/>
                            <a:t>Speed-up claims</a:t>
                          </a:r>
                          <a:endParaRPr lang="en-IN" sz="14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400"/>
                            <a:t>No quantum claims; mature CPU/GPU solvers and kernel approximations exist.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Provable/exponential separations in crafted settings: LS-SVM with QRAM (exponential), and quantum kernels for certain distributions/tasks. (</a:t>
                          </a:r>
                          <a:r>
                            <a:rPr lang="en-US" sz="1400" dirty="0">
                              <a:hlinkClick r:id="rId5" tooltip="Quantum Support Vector Machine for Big Data Classification"/>
                            </a:rPr>
                            <a:t>Physical Review Links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No broad real-data advantage yet; demos typically match strong classical baselines on small/medium sets. (</a:t>
                          </a:r>
                          <a:r>
                            <a:rPr lang="en-US" sz="1400" dirty="0">
                              <a:hlinkClick r:id="rId6" tooltip="Application of quantum machine learning using the quantum kernel algorithm on high energy physics analysis at the LHC  |  Phys. Rev. Research"/>
                            </a:rPr>
                            <a:t>Physical Review Links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244767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IN" sz="1400" b="1"/>
                            <a:t>Accuracy</a:t>
                          </a:r>
                          <a:endParaRPr lang="en-IN" sz="14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Strong, competitive baselines; often SOTA with good kernels/tuning. (General background.) (</a:t>
                          </a:r>
                          <a:r>
                            <a:rPr lang="en-US" sz="1400" dirty="0">
                              <a:hlinkClick r:id="rId2" tooltip="1.4. Support Vector Machines — scikit-learn 1.7.2 documentation"/>
                            </a:rPr>
                            <a:t>Scikit-learn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In principle, can separate classes unreachable to classical kernels if the quantum kernel’s inductive bias matches the task. (</a:t>
                          </a:r>
                          <a:r>
                            <a:rPr lang="en-US" sz="1400" dirty="0" err="1">
                              <a:hlinkClick r:id="rId4" tooltip="The Inductive Bias of Quantum Kernels"/>
                            </a:rPr>
                            <a:t>NeurIPS</a:t>
                          </a:r>
                          <a:r>
                            <a:rPr lang="en-US" sz="1400" dirty="0">
                              <a:hlinkClick r:id="rId4" tooltip="The Inductive Bias of Quantum Kernels"/>
                            </a:rPr>
                            <a:t> Proceedings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Empirically comparable to classical methods on realistic datasets of today; hardware runs approach noiseless simulators at small scales. (</a:t>
                          </a:r>
                          <a:r>
                            <a:rPr lang="en-US" sz="1400" dirty="0">
                              <a:hlinkClick r:id="rId6" tooltip="Application of quantum machine learning using the quantum kernel algorithm on high energy physics analysis at the LHC  |  Phys. Rev. Research"/>
                            </a:rPr>
                            <a:t>Physical Review Links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1433404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D38B0D18-77EB-4321-9D85-508B78FF5B8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062655344"/>
                  </p:ext>
                </p:extLst>
              </p:nvPr>
            </p:nvGraphicFramePr>
            <p:xfrm>
              <a:off x="545430" y="2012421"/>
              <a:ext cx="11101140" cy="4272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75285">
                      <a:extLst>
                        <a:ext uri="{9D8B030D-6E8A-4147-A177-3AD203B41FA5}">
                          <a16:colId xmlns:a16="http://schemas.microsoft.com/office/drawing/2014/main" val="2801890226"/>
                        </a:ext>
                      </a:extLst>
                    </a:gridCol>
                    <a:gridCol w="2775285">
                      <a:extLst>
                        <a:ext uri="{9D8B030D-6E8A-4147-A177-3AD203B41FA5}">
                          <a16:colId xmlns:a16="http://schemas.microsoft.com/office/drawing/2014/main" val="3517568900"/>
                        </a:ext>
                      </a:extLst>
                    </a:gridCol>
                    <a:gridCol w="2775285">
                      <a:extLst>
                        <a:ext uri="{9D8B030D-6E8A-4147-A177-3AD203B41FA5}">
                          <a16:colId xmlns:a16="http://schemas.microsoft.com/office/drawing/2014/main" val="188241693"/>
                        </a:ext>
                      </a:extLst>
                    </a:gridCol>
                    <a:gridCol w="2775285">
                      <a:extLst>
                        <a:ext uri="{9D8B030D-6E8A-4147-A177-3AD203B41FA5}">
                          <a16:colId xmlns:a16="http://schemas.microsoft.com/office/drawing/2014/main" val="40064278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N" b="1" dirty="0"/>
                            <a:t>Aspect</a:t>
                          </a:r>
                          <a:endParaRPr lang="en-IN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N" b="1" dirty="0"/>
                            <a:t>Classical SVM</a:t>
                          </a:r>
                          <a:endParaRPr lang="en-IN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N" b="1" dirty="0"/>
                            <a:t>QSVM (Theory)</a:t>
                          </a:r>
                          <a:endParaRPr lang="en-IN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N" b="1" dirty="0"/>
                            <a:t>QSVM (Practice)</a:t>
                          </a:r>
                          <a:endParaRPr lang="en-IN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7762937"/>
                      </a:ext>
                    </a:extLst>
                  </a:tr>
                  <a:tr h="1371600">
                    <a:tc>
                      <a:txBody>
                        <a:bodyPr/>
                        <a:lstStyle/>
                        <a:p>
                          <a:r>
                            <a:rPr lang="en-IN" sz="1400" b="1"/>
                            <a:t>Feature-space power</a:t>
                          </a:r>
                          <a:endParaRPr lang="en-IN" sz="14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100440" t="-29333" r="-201099" b="-188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200000" t="-29333" r="-100658" b="-188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Expressivity must match the task: overly expressive embeddings can hurt generalization; “power of data” shows advantage depends on data structure/labels. (</a:t>
                          </a:r>
                          <a:r>
                            <a:rPr lang="en-US" sz="1400" dirty="0" err="1">
                              <a:hlinkClick r:id="rId8" tooltip="The Inductive Bias of Quantum Kernels"/>
                            </a:rPr>
                            <a:t>NeurIPS</a:t>
                          </a:r>
                          <a:r>
                            <a:rPr lang="en-US" sz="1400" dirty="0">
                              <a:hlinkClick r:id="rId8" tooltip="The Inductive Bias of Quantum Kernels"/>
                            </a:rPr>
                            <a:t> Proceedings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49960966"/>
                      </a:ext>
                    </a:extLst>
                  </a:tr>
                  <a:tr h="1371600">
                    <a:tc>
                      <a:txBody>
                        <a:bodyPr/>
                        <a:lstStyle/>
                        <a:p>
                          <a:r>
                            <a:rPr lang="en-IN" sz="1400" b="1"/>
                            <a:t>Speed-up claims</a:t>
                          </a:r>
                          <a:endParaRPr lang="en-IN" sz="14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400"/>
                            <a:t>No quantum claims; mature CPU/GPU solvers and kernel approximations exist.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Provable/exponential separations in crafted settings: LS-SVM with QRAM (exponential), and quantum kernels for certain distributions/tasks. (</a:t>
                          </a:r>
                          <a:r>
                            <a:rPr lang="en-US" sz="1400" dirty="0">
                              <a:hlinkClick r:id="rId9" tooltip="Quantum Support Vector Machine for Big Data Classification"/>
                            </a:rPr>
                            <a:t>Physical Review Links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No broad real-data advantage yet; demos typically match strong classical baselines on small/medium sets. (</a:t>
                          </a:r>
                          <a:r>
                            <a:rPr lang="en-US" sz="1400" dirty="0">
                              <a:hlinkClick r:id="rId10" tooltip="Application of quantum machine learning using the quantum kernel algorithm on high energy physics analysis at the LHC  |  Phys. Rev. Research"/>
                            </a:rPr>
                            <a:t>Physical Review Links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24476755"/>
                      </a:ext>
                    </a:extLst>
                  </a:tr>
                  <a:tr h="1158240">
                    <a:tc>
                      <a:txBody>
                        <a:bodyPr/>
                        <a:lstStyle/>
                        <a:p>
                          <a:r>
                            <a:rPr lang="en-IN" sz="1400" b="1"/>
                            <a:t>Accuracy</a:t>
                          </a:r>
                          <a:endParaRPr lang="en-IN" sz="14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Strong, competitive baselines; often SOTA with good kernels/tuning. (General background.) (</a:t>
                          </a:r>
                          <a:r>
                            <a:rPr lang="en-US" sz="1400" dirty="0">
                              <a:hlinkClick r:id="rId11" tooltip="1.4. Support Vector Machines — scikit-learn 1.7.2 documentation"/>
                            </a:rPr>
                            <a:t>Scikit-learn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In principle, can separate classes unreachable to classical kernels if the quantum kernel’s inductive bias matches the task. (</a:t>
                          </a:r>
                          <a:r>
                            <a:rPr lang="en-US" sz="1400" dirty="0" err="1">
                              <a:hlinkClick r:id="rId8" tooltip="The Inductive Bias of Quantum Kernels"/>
                            </a:rPr>
                            <a:t>NeurIPS</a:t>
                          </a:r>
                          <a:r>
                            <a:rPr lang="en-US" sz="1400" dirty="0">
                              <a:hlinkClick r:id="rId8" tooltip="The Inductive Bias of Quantum Kernels"/>
                            </a:rPr>
                            <a:t> Proceedings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Empirically comparable to classical methods on realistic datasets of today; hardware runs approach noiseless simulators at small scales. (</a:t>
                          </a:r>
                          <a:r>
                            <a:rPr lang="en-US" sz="1400" dirty="0">
                              <a:hlinkClick r:id="rId10" tooltip="Application of quantum machine learning using the quantum kernel algorithm on high energy physics analysis at the LHC  |  Phys. Rev. Research"/>
                            </a:rPr>
                            <a:t>Physical Review Links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1433404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EF0AFE-40CA-4C8A-B7A0-B8CBF644B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22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32556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9676B-A3C0-49D6-A895-371786F0D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9845675" cy="1263650"/>
          </a:xfrm>
        </p:spPr>
        <p:txBody>
          <a:bodyPr/>
          <a:lstStyle/>
          <a:p>
            <a:pPr algn="ctr"/>
            <a:r>
              <a:rPr lang="en-US" b="1" dirty="0"/>
              <a:t>Comparison of Classical SVM vs QSVM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062A911D-FC90-4FE3-AEFB-EE908D4845B5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638179649"/>
                  </p:ext>
                </p:extLst>
              </p:nvPr>
            </p:nvGraphicFramePr>
            <p:xfrm>
              <a:off x="630320" y="1662430"/>
              <a:ext cx="10931360" cy="4693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32840">
                      <a:extLst>
                        <a:ext uri="{9D8B030D-6E8A-4147-A177-3AD203B41FA5}">
                          <a16:colId xmlns:a16="http://schemas.microsoft.com/office/drawing/2014/main" val="885272523"/>
                        </a:ext>
                      </a:extLst>
                    </a:gridCol>
                    <a:gridCol w="2732840">
                      <a:extLst>
                        <a:ext uri="{9D8B030D-6E8A-4147-A177-3AD203B41FA5}">
                          <a16:colId xmlns:a16="http://schemas.microsoft.com/office/drawing/2014/main" val="2201596946"/>
                        </a:ext>
                      </a:extLst>
                    </a:gridCol>
                    <a:gridCol w="2732840">
                      <a:extLst>
                        <a:ext uri="{9D8B030D-6E8A-4147-A177-3AD203B41FA5}">
                          <a16:colId xmlns:a16="http://schemas.microsoft.com/office/drawing/2014/main" val="964508187"/>
                        </a:ext>
                      </a:extLst>
                    </a:gridCol>
                    <a:gridCol w="2732840">
                      <a:extLst>
                        <a:ext uri="{9D8B030D-6E8A-4147-A177-3AD203B41FA5}">
                          <a16:colId xmlns:a16="http://schemas.microsoft.com/office/drawing/2014/main" val="1084384191"/>
                        </a:ext>
                      </a:extLst>
                    </a:gridCol>
                  </a:tblGrid>
                  <a:tr h="36006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N" b="1" dirty="0"/>
                            <a:t>Aspect</a:t>
                          </a:r>
                          <a:endParaRPr lang="en-IN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N" b="1" dirty="0"/>
                            <a:t>Classical SVM</a:t>
                          </a:r>
                          <a:endParaRPr lang="en-IN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N" b="1" dirty="0"/>
                            <a:t>QSVM (Theory)</a:t>
                          </a:r>
                          <a:endParaRPr lang="en-IN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N" b="1" dirty="0"/>
                            <a:t>QSVM (Practice)</a:t>
                          </a:r>
                          <a:endParaRPr lang="en-IN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3397262"/>
                      </a:ext>
                    </a:extLst>
                  </a:tr>
                  <a:tr h="1331750">
                    <a:tc>
                      <a:txBody>
                        <a:bodyPr/>
                        <a:lstStyle/>
                        <a:p>
                          <a:r>
                            <a:rPr lang="en-IN" sz="1400" b="1" dirty="0"/>
                            <a:t>Accuracy</a:t>
                          </a:r>
                          <a:endParaRPr lang="en-IN" sz="1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Strong, competitive baselines; often SOTA with good kernels/tuning. (General background.) (</a:t>
                          </a:r>
                          <a:r>
                            <a:rPr lang="en-US" sz="1400">
                              <a:hlinkClick r:id="rId2" tooltip="1.4. Support Vector Machines — scikit-learn 1.7.2 documentation"/>
                            </a:rPr>
                            <a:t>Scikit-learn</a:t>
                          </a:r>
                          <a:r>
                            <a:rPr lang="en-US" sz="140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In principle, can separate classes unreachable to classical kernels if the quantum kernel’s inductive bias matches the task. (</a:t>
                          </a:r>
                          <a:r>
                            <a:rPr lang="en-US" sz="1400">
                              <a:hlinkClick r:id="rId3" tooltip="The Inductive Bias of Quantum Kernels"/>
                            </a:rPr>
                            <a:t>NeurIPS Proceedings</a:t>
                          </a:r>
                          <a:r>
                            <a:rPr lang="en-US" sz="140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Empirically comparable to classical methods on realistic datasets of today; hardware runs approach noiseless simulators at small scales (e.g., LHC study). (</a:t>
                          </a:r>
                          <a:r>
                            <a:rPr lang="en-US" sz="1400" dirty="0">
                              <a:hlinkClick r:id="rId4" tooltip="Application of quantum machine learning using the quantum kernel algorithm on high energy physics analysis at the LHC  |  Phys. Rev. Research"/>
                            </a:rPr>
                            <a:t>Physical Review Links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56754255"/>
                      </a:ext>
                    </a:extLst>
                  </a:tr>
                  <a:tr h="1331750">
                    <a:tc>
                      <a:txBody>
                        <a:bodyPr/>
                        <a:lstStyle/>
                        <a:p>
                          <a:r>
                            <a:rPr lang="en-IN" sz="1400" b="1"/>
                            <a:t>Hardware / resource needs</a:t>
                          </a:r>
                          <a:endParaRPr lang="en-IN" sz="14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CPU/RAM; GPU optional. Kernel SVMs need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  <m:d>
                                <m:d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r>
                            <a:rPr lang="en-US" sz="1400" dirty="0"/>
                            <a:t> memory/time for full Gram matrices (mitigated by caching/approximations). (</a:t>
                          </a:r>
                          <a:r>
                            <a:rPr lang="en-US" sz="1400" dirty="0">
                              <a:hlinkClick r:id="rId2" tooltip="1.4. Support Vector Machines — scikit-learn 1.7.2 documentation"/>
                            </a:rPr>
                            <a:t>Scikit-learn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1" dirty="0"/>
                            <a:t>LS-SVM</a:t>
                          </a:r>
                          <a:r>
                            <a:rPr lang="en-US" sz="1400" dirty="0"/>
                            <a:t> assumes QRAM and fault-tolerant gates. </a:t>
                          </a:r>
                          <a:r>
                            <a:rPr lang="en-US" sz="1400" b="1" dirty="0"/>
                            <a:t>Quantum kernel SVM</a:t>
                          </a:r>
                          <a:r>
                            <a:rPr lang="en-US" sz="1400" dirty="0"/>
                            <a:t> needs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en-US" sz="1400" dirty="0"/>
                            <a:t> qubits and shallow circuits to implement the feature map and overlap tests. (</a:t>
                          </a:r>
                          <a:r>
                            <a:rPr lang="en-US" sz="1400" dirty="0">
                              <a:hlinkClick r:id="rId5" tooltip="Quantum Support Vector Machine for Big Data Classification"/>
                            </a:rPr>
                            <a:t>Physical Review Links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400" dirty="0"/>
                            <a:t>NISQ devices with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</m:oMath>
                          </a14:m>
                          <a:r>
                            <a:rPr lang="en-IN" sz="1400" dirty="0"/>
                            <a:t> feature dimension for angle/ZZ maps, plus large shot budgets; noise control and calibration critical. (</a:t>
                          </a:r>
                          <a:r>
                            <a:rPr lang="en-IN" sz="1400" dirty="0">
                              <a:hlinkClick r:id="rId6" tooltip="Pegasos Quantum Support Vector Classifier - Qiskit Machine Learning 0.8.4"/>
                            </a:rPr>
                            <a:t>Qiskit Community</a:t>
                          </a:r>
                          <a:r>
                            <a:rPr lang="en-IN" sz="1400" dirty="0"/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879320183"/>
                      </a:ext>
                    </a:extLst>
                  </a:tr>
                  <a:tr h="1538911">
                    <a:tc>
                      <a:txBody>
                        <a:bodyPr/>
                        <a:lstStyle/>
                        <a:p>
                          <a:r>
                            <a:rPr lang="en-IN" sz="1400" b="1"/>
                            <a:t>Key limits</a:t>
                          </a:r>
                          <a:endParaRPr lang="en-IN" sz="14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Kernel methods suffer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r>
                            <a:rPr lang="en-US" sz="1400" dirty="0"/>
                            <a:t> memory/time bottlenecks; scalability often requires approximations. (</a:t>
                          </a:r>
                          <a:r>
                            <a:rPr lang="en-US" sz="1400" dirty="0">
                              <a:hlinkClick r:id="rId7" tooltip="Memory Efficient Kernel Approximation"/>
                            </a:rPr>
                            <a:t>Journal of Machine Learning Research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Many speed-ups rely on QRAM or specially structured (potentially synthetic) data; classical “de-quantization” and data-dependence results temper generic advantage claims. (</a:t>
                          </a:r>
                          <a:r>
                            <a:rPr lang="en-US" sz="1400">
                              <a:hlinkClick r:id="rId5" tooltip="Quantum Support Vector Machine for Big Data Classification"/>
                            </a:rPr>
                            <a:t>Physical Review Links</a:t>
                          </a:r>
                          <a:r>
                            <a:rPr lang="en-US" sz="140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400" dirty="0"/>
                            <a:t>Shot complexity and device noise (decoherence, SPAM) can wash out signal; generalization can degrade with overly expressive embeddings; kernel estimation overhead dominates. (</a:t>
                          </a:r>
                          <a:r>
                            <a:rPr lang="en-IN" sz="1400" dirty="0">
                              <a:hlinkClick r:id="rId8" tooltip="The complexity of quantum support vector machines – Quantum"/>
                            </a:rPr>
                            <a:t>Quantum Journal</a:t>
                          </a:r>
                          <a:r>
                            <a:rPr lang="en-IN" sz="1400" dirty="0"/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9557154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062A911D-FC90-4FE3-AEFB-EE908D4845B5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638179649"/>
                  </p:ext>
                </p:extLst>
              </p:nvPr>
            </p:nvGraphicFramePr>
            <p:xfrm>
              <a:off x="630320" y="1662430"/>
              <a:ext cx="10931360" cy="4693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32840">
                      <a:extLst>
                        <a:ext uri="{9D8B030D-6E8A-4147-A177-3AD203B41FA5}">
                          <a16:colId xmlns:a16="http://schemas.microsoft.com/office/drawing/2014/main" val="885272523"/>
                        </a:ext>
                      </a:extLst>
                    </a:gridCol>
                    <a:gridCol w="2732840">
                      <a:extLst>
                        <a:ext uri="{9D8B030D-6E8A-4147-A177-3AD203B41FA5}">
                          <a16:colId xmlns:a16="http://schemas.microsoft.com/office/drawing/2014/main" val="2201596946"/>
                        </a:ext>
                      </a:extLst>
                    </a:gridCol>
                    <a:gridCol w="2732840">
                      <a:extLst>
                        <a:ext uri="{9D8B030D-6E8A-4147-A177-3AD203B41FA5}">
                          <a16:colId xmlns:a16="http://schemas.microsoft.com/office/drawing/2014/main" val="964508187"/>
                        </a:ext>
                      </a:extLst>
                    </a:gridCol>
                    <a:gridCol w="2732840">
                      <a:extLst>
                        <a:ext uri="{9D8B030D-6E8A-4147-A177-3AD203B41FA5}">
                          <a16:colId xmlns:a16="http://schemas.microsoft.com/office/drawing/2014/main" val="1084384191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N" b="1" dirty="0"/>
                            <a:t>Aspect</a:t>
                          </a:r>
                          <a:endParaRPr lang="en-IN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N" b="1" dirty="0"/>
                            <a:t>Classical SVM</a:t>
                          </a:r>
                          <a:endParaRPr lang="en-IN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N" b="1" dirty="0"/>
                            <a:t>QSVM (Theory)</a:t>
                          </a:r>
                          <a:endParaRPr lang="en-IN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N" b="1" dirty="0"/>
                            <a:t>QSVM (Practice)</a:t>
                          </a:r>
                          <a:endParaRPr lang="en-IN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3397262"/>
                      </a:ext>
                    </a:extLst>
                  </a:tr>
                  <a:tr h="1371600">
                    <a:tc>
                      <a:txBody>
                        <a:bodyPr/>
                        <a:lstStyle/>
                        <a:p>
                          <a:r>
                            <a:rPr lang="en-IN" sz="1400" b="1" dirty="0"/>
                            <a:t>Accuracy</a:t>
                          </a:r>
                          <a:endParaRPr lang="en-IN" sz="1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Strong, competitive baselines; often SOTA with good kernels/tuning. (General background.) (</a:t>
                          </a:r>
                          <a:r>
                            <a:rPr lang="en-US" sz="1400">
                              <a:hlinkClick r:id="rId9" tooltip="1.4. Support Vector Machines — scikit-learn 1.7.2 documentation"/>
                            </a:rPr>
                            <a:t>Scikit-learn</a:t>
                          </a:r>
                          <a:r>
                            <a:rPr lang="en-US" sz="140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In principle, can separate classes unreachable to classical kernels if the quantum kernel’s inductive bias matches the task. (</a:t>
                          </a:r>
                          <a:r>
                            <a:rPr lang="en-US" sz="1400">
                              <a:hlinkClick r:id="rId10" tooltip="The Inductive Bias of Quantum Kernels"/>
                            </a:rPr>
                            <a:t>NeurIPS Proceedings</a:t>
                          </a:r>
                          <a:r>
                            <a:rPr lang="en-US" sz="140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Empirically comparable to classical methods on realistic datasets of today; hardware runs approach noiseless simulators at small scales (e.g., LHC study). (</a:t>
                          </a:r>
                          <a:r>
                            <a:rPr lang="en-US" sz="1400" dirty="0">
                              <a:hlinkClick r:id="rId11" tooltip="Application of quantum machine learning using the quantum kernel algorithm on high energy physics analysis at the LHC  |  Phys. Rev. Research"/>
                            </a:rPr>
                            <a:t>Physical Review Links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56754255"/>
                      </a:ext>
                    </a:extLst>
                  </a:tr>
                  <a:tr h="1371600">
                    <a:tc>
                      <a:txBody>
                        <a:bodyPr/>
                        <a:lstStyle/>
                        <a:p>
                          <a:r>
                            <a:rPr lang="en-IN" sz="1400" b="1"/>
                            <a:t>Hardware / resource needs</a:t>
                          </a:r>
                          <a:endParaRPr lang="en-IN" sz="14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12"/>
                          <a:stretch>
                            <a:fillRect l="-100446" t="-128319" r="-201116" b="-119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12"/>
                          <a:stretch>
                            <a:fillRect l="-200000" t="-128319" r="-100668" b="-119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12"/>
                          <a:stretch>
                            <a:fillRect l="-300670" t="-128319" r="-893" b="-1194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9320183"/>
                      </a:ext>
                    </a:extLst>
                  </a:tr>
                  <a:tr h="1584960">
                    <a:tc>
                      <a:txBody>
                        <a:bodyPr/>
                        <a:lstStyle/>
                        <a:p>
                          <a:r>
                            <a:rPr lang="en-IN" sz="1400" b="1"/>
                            <a:t>Key limits</a:t>
                          </a:r>
                          <a:endParaRPr lang="en-IN" sz="14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12"/>
                          <a:stretch>
                            <a:fillRect l="-100446" t="-198462" r="-201116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Many speed-ups rely on QRAM or specially structured (potentially synthetic) data; classical “de-quantization” and data-dependence results temper generic advantage claims. (</a:t>
                          </a:r>
                          <a:r>
                            <a:rPr lang="en-US" sz="1400">
                              <a:hlinkClick r:id="rId13" tooltip="Quantum Support Vector Machine for Big Data Classification"/>
                            </a:rPr>
                            <a:t>Physical Review Links</a:t>
                          </a:r>
                          <a:r>
                            <a:rPr lang="en-US" sz="140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400" dirty="0"/>
                            <a:t>Shot complexity and device noise (decoherence, SPAM) can wash out signal; generalization can degrade with overly expressive embeddings; kernel estimation overhead dominates. (</a:t>
                          </a:r>
                          <a:r>
                            <a:rPr lang="en-IN" sz="1400" dirty="0">
                              <a:hlinkClick r:id="rId14" tooltip="The complexity of quantum support vector machines – Quantum"/>
                            </a:rPr>
                            <a:t>Quantum Journal</a:t>
                          </a:r>
                          <a:r>
                            <a:rPr lang="en-IN" sz="1400" dirty="0"/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9557154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CA7EF5-BB13-48AF-826C-529D0ACBD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23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47106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529DD-5FD3-4EE1-AD92-BD567C8EC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Merits of </a:t>
            </a:r>
            <a:r>
              <a:rPr lang="nl-NL" b="1" dirty="0"/>
              <a:t>Kernel method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5F42C-528B-49A2-A8F6-399CA711D0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IN" b="1" dirty="0"/>
              <a:t>Strong in small-N: </a:t>
            </a:r>
            <a:r>
              <a:rPr lang="en-IN" dirty="0"/>
              <a:t>Works very well on small to medium datasets (like Iris); little risk of underfitting.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b="1" dirty="0"/>
              <a:t>Stable training: </a:t>
            </a:r>
            <a:r>
              <a:rPr lang="en-IN" dirty="0"/>
              <a:t>No circuit gradients; just build kernel matrix → classical SVM optimization is convex and reliable.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b="1" dirty="0"/>
              <a:t>Simple </a:t>
            </a:r>
            <a:r>
              <a:rPr lang="en-IN" b="1" dirty="0" err="1"/>
              <a:t>modeling</a:t>
            </a:r>
            <a:r>
              <a:rPr lang="en-IN" b="1" dirty="0"/>
              <a:t>: </a:t>
            </a:r>
            <a:r>
              <a:rPr lang="en-IN" dirty="0"/>
              <a:t>Only tune SVM </a:t>
            </a:r>
            <a:r>
              <a:rPr lang="en-IN" dirty="0" err="1"/>
              <a:t>hyperparams</a:t>
            </a:r>
            <a:r>
              <a:rPr lang="en-IN" dirty="0"/>
              <a:t> (C, sometimes class weights); feature map stays fixed.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b="1" dirty="0"/>
              <a:t>Support vectors: </a:t>
            </a:r>
            <a:r>
              <a:rPr lang="en-IN" dirty="0"/>
              <a:t>You get SVs and margins, nice interpretability and boundary diagnostics.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b="1" dirty="0"/>
              <a:t>Shallow circuits: </a:t>
            </a:r>
            <a:r>
              <a:rPr lang="en-IN" dirty="0"/>
              <a:t>Overlap/ancilla tests can be shallow → more noise tolerant on NISQ.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A16F15-4DD1-4B4F-8FC0-A17B758F0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24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75371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8B118-C345-4892-A3C9-53B877449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Demerits of Kernel method</a:t>
            </a:r>
            <a:endParaRPr lang="en-IN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4523E4-25D3-410B-B21E-F9441FFD2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IN" b="1" dirty="0"/>
                  <a:t>Quadratic cost in N: </a:t>
                </a:r>
                <a:r>
                  <a:rPr lang="en-IN" dirty="0"/>
                  <a:t>Building/storing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IN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IN" dirty="0"/>
                  <a:t> circuits &amp; memory.</a:t>
                </a:r>
              </a:p>
              <a:p>
                <a:r>
                  <a:rPr lang="en-IN" b="1" dirty="0"/>
                  <a:t>Slow inference: </a:t>
                </a:r>
                <a:r>
                  <a:rPr lang="en-IN" dirty="0"/>
                  <a:t>Each test point needs kernel evals vs many train points.</a:t>
                </a:r>
              </a:p>
              <a:p>
                <a:r>
                  <a:rPr lang="en-IN" b="1" dirty="0"/>
                  <a:t>Feature-map locked: </a:t>
                </a:r>
                <a:r>
                  <a:rPr lang="en-IN" dirty="0"/>
                  <a:t>Expressivity limited by your fixed map; no end-to-end learning of representation.</a:t>
                </a:r>
              </a:p>
              <a:p>
                <a:r>
                  <a:rPr lang="en-IN" b="1" dirty="0"/>
                  <a:t>Multiclass overhead: </a:t>
                </a:r>
                <a:r>
                  <a:rPr lang="en-IN" dirty="0"/>
                  <a:t>One-vs-one trains multiple SVMs.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4523E4-25D3-410B-B21E-F9441FFD2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F1DFF9-782E-4096-9F42-FB9832023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25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26873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D8B6A-1156-4FA7-9BFC-0E4200BFA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Merits of </a:t>
            </a:r>
            <a:r>
              <a:rPr lang="en-IN" b="1" dirty="0"/>
              <a:t>Hamiltonian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FF78-88FE-4241-A758-9844E3BB3B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End-to-end learning: </a:t>
                </a:r>
                <a:r>
                  <a:rPr lang="en-US" dirty="0"/>
                  <a:t>Trainable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​ learns the decision rule; potentially richer boundaries.</a:t>
                </a:r>
              </a:p>
              <a:p>
                <a:r>
                  <a:rPr lang="en-US" b="1" dirty="0"/>
                  <a:t>Compact inference: </a:t>
                </a:r>
                <a:r>
                  <a:rPr lang="en-US" dirty="0"/>
                  <a:t>One circuit per test sample; no kernel with all train points.</a:t>
                </a:r>
              </a:p>
              <a:p>
                <a:r>
                  <a:rPr lang="en-US" b="1" dirty="0"/>
                  <a:t>Direct multiclass: </a:t>
                </a:r>
                <a:r>
                  <a:rPr lang="en-US" dirty="0"/>
                  <a:t>Label register handles 3+ classes natively (no one-vs-one needed).</a:t>
                </a:r>
              </a:p>
              <a:p>
                <a:r>
                  <a:rPr lang="en-US" b="1" dirty="0"/>
                  <a:t>Adaptable capacity: </a:t>
                </a:r>
                <a:r>
                  <a:rPr lang="en-US" dirty="0"/>
                  <a:t>Depth/layers = controllable model size; can match hardware budget.</a:t>
                </a:r>
                <a:endParaRPr lang="en-IN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FF78-88FE-4241-A758-9844E3BB3B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73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8DA9DA-084B-4224-8138-8F539B257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26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87890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D8B6A-1156-4FA7-9BFC-0E4200BFA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Merits of </a:t>
            </a:r>
            <a:r>
              <a:rPr lang="en-IN" b="1" dirty="0"/>
              <a:t>Hamiltonian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FF78-88FE-4241-A758-9844E3BB3B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Ansatz design matters: </a:t>
                </a:r>
                <a:r>
                  <a:rPr lang="en-US" dirty="0"/>
                  <a:t>Need a reasonable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l-GR" dirty="0"/>
                  <a:t>​ (</a:t>
                </a:r>
                <a:r>
                  <a:rPr lang="en-US" dirty="0"/>
                  <a:t>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label couplings, depth, entanglers).</a:t>
                </a:r>
              </a:p>
              <a:p>
                <a:r>
                  <a:rPr lang="en-US" b="1" dirty="0"/>
                  <a:t>Fewer guarantees: </a:t>
                </a:r>
                <a:r>
                  <a:rPr lang="en-US" dirty="0"/>
                  <a:t>Non-convex; no global-opt guarantees like SVM.</a:t>
                </a:r>
              </a:p>
              <a:p>
                <a:r>
                  <a:rPr lang="en-US" b="1" dirty="0"/>
                  <a:t>No support vectors: </a:t>
                </a:r>
                <a:r>
                  <a:rPr lang="en-US" dirty="0"/>
                  <a:t>You lose SV/margin interpretability.</a:t>
                </a:r>
              </a:p>
              <a:p>
                <a:r>
                  <a:rPr lang="en-US" b="1" dirty="0"/>
                  <a:t>Shot budget: </a:t>
                </a:r>
                <a:r>
                  <a:rPr lang="en-US" dirty="0"/>
                  <a:t>Estimating expectations (and gradients) may need more shots than kernel overlaps.</a:t>
                </a:r>
                <a:endParaRPr lang="en-IN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FF78-88FE-4241-A758-9844E3BB3B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04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8DA9DA-084B-4224-8138-8F539B257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27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30220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3FC59-80F5-4815-AE78-38007C0B5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Future Prospects of QSVM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A31CB-ED63-448A-8DC7-69057A12D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dirty="0"/>
              <a:t>Noise-adapted kernels</a:t>
            </a:r>
            <a:r>
              <a:rPr lang="en-IN" dirty="0"/>
              <a:t>: </a:t>
            </a:r>
            <a:r>
              <a:rPr lang="en-US" dirty="0"/>
              <a:t>Improve kernel fidelity by tailoring circuits to the specific noise profile of each quantum device.</a:t>
            </a:r>
            <a:endParaRPr lang="en-IN" dirty="0"/>
          </a:p>
          <a:p>
            <a:r>
              <a:rPr lang="en-IN" b="1" dirty="0"/>
              <a:t>Scalable kernel evaluation</a:t>
            </a:r>
            <a:r>
              <a:rPr lang="en-IN" dirty="0"/>
              <a:t>: </a:t>
            </a:r>
            <a:r>
              <a:rPr lang="en-US" dirty="0"/>
              <a:t>feasible through quantum random feature methods and sparse feature maps that cut the computational cost of building the kernel matrix.</a:t>
            </a:r>
          </a:p>
          <a:p>
            <a:r>
              <a:rPr lang="en-IN" b="1" dirty="0"/>
              <a:t>Fault-tolerant runs</a:t>
            </a:r>
            <a:r>
              <a:rPr lang="en-IN" dirty="0"/>
              <a:t>: </a:t>
            </a:r>
            <a:r>
              <a:rPr lang="en-US" dirty="0"/>
              <a:t>support deeper circuits and reliable kernel estimates, opening the door to a provable quantum advantage on large data sets.</a:t>
            </a:r>
            <a:endParaRPr lang="en-IN" dirty="0"/>
          </a:p>
          <a:p>
            <a:r>
              <a:rPr lang="en-IN" b="1" dirty="0"/>
              <a:t>Auto-optimising stacks</a:t>
            </a:r>
            <a:r>
              <a:rPr lang="en-IN" dirty="0"/>
              <a:t>: </a:t>
            </a:r>
            <a:r>
              <a:rPr lang="en-US" dirty="0"/>
              <a:t>automatically search for the best quantum feature map and support-vector hyperparameters without manual tuning.</a:t>
            </a:r>
            <a:endParaRPr lang="en-IN" dirty="0"/>
          </a:p>
          <a:p>
            <a:r>
              <a:rPr lang="en-IN" b="1" dirty="0"/>
              <a:t>R&amp;D focus</a:t>
            </a:r>
            <a:r>
              <a:rPr lang="en-IN" dirty="0"/>
              <a:t>: adaptive feature maps, sparse kernels, large public benchmarks, explainable quantum kernels and stronger error-mitigation techniques.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AA431-ED51-4588-A993-7C9470B95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28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48834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EBBF0-BB2D-4F47-9B98-1328EA7A6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Quantum K Means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F819E-C985-4D77-A0FC-9D1DA2CFE4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dirty="0"/>
              <a:t>Quantum </a:t>
            </a:r>
            <a:r>
              <a:rPr lang="en-US" b="1" dirty="0" err="1"/>
              <a:t>KMeans</a:t>
            </a:r>
            <a:r>
              <a:rPr lang="en-US" b="1" dirty="0"/>
              <a:t> (QKMeans) </a:t>
            </a:r>
            <a:r>
              <a:rPr lang="en-US" dirty="0"/>
              <a:t>is a hybrid clustering algorithm that leverages quantum computing concepts alongside traditional clustering methods. </a:t>
            </a:r>
          </a:p>
          <a:p>
            <a:r>
              <a:rPr lang="en-US" dirty="0"/>
              <a:t>At its core, QKMeans utilizes quantum circuits to compute similarity measures between data points and centroids, which serves as an alternative means for distance evaluation compared to classical Euclidean metrics. </a:t>
            </a:r>
          </a:p>
          <a:p>
            <a:r>
              <a:rPr lang="en-US" dirty="0"/>
              <a:t>The primary goal of QKMeans is to exploit potential quantum speed-ups and enhanced feature mapping through quantum state representations while still incorporating well-known classical techniques for cluster updating, convergence checking, and evaluation.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B6F5FC-661A-44F1-9235-350E2F0E1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29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28562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1397F-C6E6-49D2-9267-0D41A5892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Distance Measurement for Classical K Means </a:t>
            </a:r>
            <a:endParaRPr lang="en-IN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26D94D-0C83-43DA-AD10-27E97B134A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Euclidean Distance</a:t>
                </a:r>
                <a:r>
                  <a:rPr lang="en-US" dirty="0"/>
                  <a:t>:</a:t>
                </a:r>
                <a:r>
                  <a:rPr lang="en-US" b="1" dirty="0"/>
                  <a:t> </a:t>
                </a:r>
                <a:r>
                  <a:rPr lang="en-US" dirty="0"/>
                  <a:t>For two points,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N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N" dirty="0"/>
                  <a:t>, distance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r>
                  <a:rPr lang="en-IN" dirty="0"/>
                  <a:t>. </a:t>
                </a:r>
                <a:endParaRPr lang="en-IN" b="1" dirty="0"/>
              </a:p>
              <a:p>
                <a:r>
                  <a:rPr lang="en-IN" b="1" dirty="0"/>
                  <a:t>Manhattan Distance</a:t>
                </a:r>
                <a:r>
                  <a:rPr lang="en-IN" dirty="0"/>
                  <a:t>: </a:t>
                </a:r>
                <a:r>
                  <a:rPr lang="en-US" dirty="0"/>
                  <a:t>For two points,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N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N" dirty="0"/>
                  <a:t>, distance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IN" b="1" dirty="0"/>
                  <a:t>.</a:t>
                </a:r>
              </a:p>
              <a:p>
                <a:r>
                  <a:rPr lang="en-IN" b="1" dirty="0" err="1"/>
                  <a:t>Minkowski</a:t>
                </a:r>
                <a:r>
                  <a:rPr lang="en-IN" b="1" dirty="0"/>
                  <a:t> Distance</a:t>
                </a:r>
                <a:r>
                  <a:rPr lang="en-IN" dirty="0"/>
                  <a:t>: </a:t>
                </a:r>
                <a:r>
                  <a:rPr lang="en-US" dirty="0"/>
                  <a:t>For two points,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N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N" dirty="0"/>
                  <a:t>, distance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p>
                                </m:sSup>
                              </m:e>
                            </m:nary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endParaRPr lang="en-IN" b="1" dirty="0"/>
              </a:p>
              <a:p>
                <a:r>
                  <a:rPr lang="en-IN" b="1" dirty="0" err="1"/>
                  <a:t>Mahalanobis</a:t>
                </a:r>
                <a:r>
                  <a:rPr lang="en-IN" b="1" dirty="0"/>
                  <a:t> Distance</a:t>
                </a:r>
                <a:r>
                  <a:rPr lang="en-IN" dirty="0"/>
                  <a:t>: </a:t>
                </a:r>
                <a:r>
                  <a:rPr lang="en-US" dirty="0"/>
                  <a:t>For two points,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N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N" dirty="0"/>
                  <a:t>, distance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rad>
                  </m:oMath>
                </a14:m>
                <a:endParaRPr lang="en-IN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26D94D-0C83-43DA-AD10-27E97B134A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9BAC93-BCA5-4003-B29E-B3437D15A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30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46702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C30D-81AE-47A1-96B4-54BC34A25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K Means Refresher</a:t>
            </a:r>
            <a:endParaRPr lang="en-IN" b="1" dirty="0"/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3757310-3386-4697-994F-8C01B76DF50A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" r="67"/>
          <a:stretch>
            <a:fillRect/>
          </a:stretch>
        </p:blipFill>
        <p:spPr>
          <a:xfrm>
            <a:off x="5183188" y="1507958"/>
            <a:ext cx="5679470" cy="4353092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0542C-714D-4999-997C-6671E8D29E2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K-Means clustering algorithm partitions </a:t>
            </a:r>
            <a:r>
              <a:rPr lang="en-US" i="1" dirty="0"/>
              <a:t>n</a:t>
            </a:r>
            <a:r>
              <a:rPr lang="en-US" dirty="0"/>
              <a:t> data points into </a:t>
            </a:r>
            <a:r>
              <a:rPr lang="en-US" i="1" dirty="0"/>
              <a:t>k</a:t>
            </a:r>
            <a:r>
              <a:rPr lang="en-US" dirty="0"/>
              <a:t> clusters by minimizing the within-cluster variance.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Classical K-Means is also known as Llyod’s K-Means because it was first proposed by Stuart Lloyd of Bell Labs in 1957.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alternates between </a:t>
            </a:r>
            <a:r>
              <a:rPr lang="en-US" b="1" dirty="0"/>
              <a:t>assignment</a:t>
            </a:r>
            <a:r>
              <a:rPr lang="en-US" dirty="0"/>
              <a:t> (each point → nearest centroid) and </a:t>
            </a:r>
            <a:r>
              <a:rPr lang="en-US" b="1" dirty="0"/>
              <a:t>update</a:t>
            </a:r>
            <a:r>
              <a:rPr lang="en-US" dirty="0"/>
              <a:t> (centroid = mean of assigned points), so only those assignments influence the solution.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Initialization trick:</a:t>
            </a:r>
            <a:r>
              <a:rPr lang="en-US" dirty="0"/>
              <a:t> k-means++ (smarter seed selection) or random seeding to improve convergence.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Distance metric:</a:t>
            </a:r>
            <a:r>
              <a:rPr lang="en-US" dirty="0"/>
              <a:t> typically Euclidean.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Popular variants:</a:t>
            </a:r>
            <a:r>
              <a:rPr lang="en-US" dirty="0"/>
              <a:t> K-Means++, Mini-Batch K-Means (for large-scale data).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97EDA5-FF24-4CDA-B86D-7734722BD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31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84574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C30D-81AE-47A1-96B4-54BC34A25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K Means Refresher</a:t>
            </a:r>
            <a:endParaRPr lang="en-IN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90542C-714D-4999-997C-6671E8D29E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r>
                  <a:rPr lang="en-US" b="1" dirty="0"/>
                  <a:t>Clustering Objective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𝑖𝑗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‖"/>
                                          <m:endChr m:val="‖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nary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IN" dirty="0"/>
              </a:p>
              <a:p>
                <a:pPr marL="0" indent="0">
                  <a:buNone/>
                </a:pPr>
                <a:endParaRPr lang="en-IN" dirty="0"/>
              </a:p>
              <a:p>
                <a:pPr marL="457200" lvl="1" indent="0">
                  <a:buNone/>
                </a:pPr>
                <a:r>
                  <a:rPr lang="en-US" dirty="0"/>
                  <a:t>Only the binary assignments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dirty="0"/>
                  <a:t> for the nearest centroid influence the cost.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IN" b="1" dirty="0"/>
                  <a:t>Hard Assignment </a:t>
                </a:r>
              </a:p>
              <a:p>
                <a:endParaRPr lang="en-IN" b="1" dirty="0"/>
              </a:p>
              <a:p>
                <a:pPr marL="0" indent="0">
                  <a:buNone/>
                </a:pPr>
                <a:r>
                  <a:rPr lang="en-US" b="0" dirty="0"/>
                  <a:t>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1, 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arg</m:t>
                                </m:r>
                              </m:fName>
                              <m:e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func>
                                      <m:func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limLow>
                                          <m:limLow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limLow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b="0" i="0" smtClean="0">
                                                <a:latin typeface="Cambria Math" panose="02040503050406030204" pitchFamily="18" charset="0"/>
                                              </a:rPr>
                                              <m:t>min</m:t>
                                            </m:r>
                                          </m:e>
                                          <m:lim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𝑙</m:t>
                                            </m:r>
                                          </m:lim>
                                        </m:limLow>
                                      </m:fName>
                                      <m:e>
                                        <m:d>
                                          <m:dPr>
                                            <m:begChr m:val="‖"/>
                                            <m:endChr m:val="‖"/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𝑙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func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func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𝑜𝑡h𝑒𝑟𝑤𝑖𝑠𝑒</m:t>
                            </m:r>
                          </m:e>
                        </m:eqArr>
                      </m:e>
                    </m:d>
                  </m:oMath>
                </a14:m>
                <a:endParaRPr lang="en-IN" dirty="0"/>
              </a:p>
              <a:p>
                <a:r>
                  <a:rPr lang="en-US" b="1" dirty="0"/>
                  <a:t>Centroid Update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𝑚𝑒𝑎𝑛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𝑎𝑠𝑠𝑖𝑔𝑛𝑒𝑑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𝑝𝑜𝑖𝑛𝑡𝑠</m:t>
                          </m:r>
                        </m:e>
                      </m:d>
                    </m:oMath>
                  </m:oMathPara>
                </a14:m>
                <a:endParaRPr lang="en-IN" dirty="0"/>
              </a:p>
              <a:p>
                <a:pPr marL="0" indent="0">
                  <a:buNone/>
                </a:pPr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90542C-714D-4999-997C-6671E8D29E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4" t="-1541" b="-490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41430A-62BB-4EC3-ACBD-0F406B7C1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1A44A4F-A82D-4CE4-A479-AF51176D115C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351286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95BD1-8DDC-4FA4-850F-FF30C61C6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Merits of K-Means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670C4A-A3CE-4EA5-BD3F-7372EC55D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Simplicity</a:t>
            </a:r>
          </a:p>
          <a:p>
            <a:r>
              <a:rPr lang="en-IN" dirty="0"/>
              <a:t>Scalability</a:t>
            </a:r>
          </a:p>
          <a:p>
            <a:r>
              <a:rPr lang="en-IN" dirty="0"/>
              <a:t>Speed</a:t>
            </a:r>
          </a:p>
          <a:p>
            <a:r>
              <a:rPr lang="en-IN" dirty="0"/>
              <a:t>Interpretable Centroids</a:t>
            </a:r>
          </a:p>
          <a:p>
            <a:r>
              <a:rPr lang="en-IN" dirty="0"/>
              <a:t>Flexibility</a:t>
            </a:r>
          </a:p>
          <a:p>
            <a:r>
              <a:rPr lang="en-IN" dirty="0"/>
              <a:t>Deterministic Refinement</a:t>
            </a:r>
          </a:p>
          <a:p>
            <a:r>
              <a:rPr lang="en-IN" dirty="0"/>
              <a:t>Memory Efficiency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31331B-2F79-451B-8224-5C93B0175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33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28734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A34F1-51DE-45EA-9C65-0E73C10D3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Demerits of K-Means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42FCF-2793-4560-A595-D8B6C2C2C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Requires Pre-specified </a:t>
            </a:r>
            <a:r>
              <a:rPr lang="en-IN" i="1" dirty="0"/>
              <a:t>k</a:t>
            </a:r>
          </a:p>
          <a:p>
            <a:r>
              <a:rPr lang="en-IN" dirty="0"/>
              <a:t>Sensitive to Initialization</a:t>
            </a:r>
            <a:endParaRPr lang="en-IN" i="1" dirty="0"/>
          </a:p>
          <a:p>
            <a:r>
              <a:rPr lang="en-IN" dirty="0"/>
              <a:t>Converges to Local Minima</a:t>
            </a:r>
            <a:endParaRPr lang="en-IN" i="1" dirty="0"/>
          </a:p>
          <a:p>
            <a:r>
              <a:rPr lang="en-IN" dirty="0"/>
              <a:t>Outlier and Noise Sensitivity</a:t>
            </a:r>
            <a:endParaRPr lang="en-IN" i="1" dirty="0"/>
          </a:p>
          <a:p>
            <a:r>
              <a:rPr lang="en-US" dirty="0"/>
              <a:t>Not Suitable for Categorical Data</a:t>
            </a:r>
            <a:endParaRPr lang="en-IN" i="1" dirty="0"/>
          </a:p>
          <a:p>
            <a:r>
              <a:rPr lang="en-IN" dirty="0"/>
              <a:t>Equal Cluster Size Bias</a:t>
            </a:r>
            <a:endParaRPr lang="en-IN" i="1" dirty="0"/>
          </a:p>
          <a:p>
            <a:r>
              <a:rPr lang="en-IN" dirty="0"/>
              <a:t>Distance Metric Dependence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02A07-C01C-4319-8C16-DC146FAF7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34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78545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4DC44-4678-464B-94BB-A4A87A514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Quantum </a:t>
            </a:r>
            <a:r>
              <a:rPr lang="en-US" b="1" dirty="0" err="1"/>
              <a:t>KMeans</a:t>
            </a:r>
            <a:r>
              <a:rPr lang="en-US" b="1" dirty="0"/>
              <a:t> Workflow </a:t>
            </a:r>
            <a:endParaRPr lang="en-IN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DAD4EC-704B-4138-8A62-2B527EB181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b="1" dirty="0"/>
                  <a:t>Data</a:t>
                </a:r>
                <a:r>
                  <a:rPr lang="en-IN" dirty="0"/>
                  <a:t> </a:t>
                </a:r>
                <a:r>
                  <a:rPr lang="en-IN" b="1" dirty="0"/>
                  <a:t>Preparation</a:t>
                </a:r>
                <a:r>
                  <a:rPr lang="en-IN" dirty="0"/>
                  <a:t>: Normalize and split into training/testing sets</a:t>
                </a:r>
              </a:p>
              <a:p>
                <a:r>
                  <a:rPr lang="en-IN" b="1" dirty="0"/>
                  <a:t>Encode States</a:t>
                </a:r>
                <a:r>
                  <a:rPr lang="en-IN" dirty="0"/>
                  <a:t>:</a:t>
                </a:r>
                <a:r>
                  <a:rPr lang="en-IN" b="1" dirty="0"/>
                  <a:t> </a:t>
                </a:r>
                <a:r>
                  <a:rPr lang="en-IN" dirty="0"/>
                  <a:t>Map features to qubits via </a:t>
                </a:r>
                <a:r>
                  <a:rPr lang="en-IN" b="1" dirty="0"/>
                  <a:t>angle</a:t>
                </a:r>
                <a:r>
                  <a:rPr lang="en-IN" dirty="0"/>
                  <a:t> (e.g., RY) or </a:t>
                </a:r>
                <a:r>
                  <a:rPr lang="en-IN" b="1" dirty="0"/>
                  <a:t>amplitude</a:t>
                </a:r>
                <a:r>
                  <a:rPr lang="en-IN" dirty="0"/>
                  <a:t> encoding to get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IN" dirty="0"/>
                  <a:t>.</a:t>
                </a:r>
              </a:p>
              <a:p>
                <a:r>
                  <a:rPr lang="en-US" b="1" dirty="0"/>
                  <a:t>Measure Similarity (Swap Test)</a:t>
                </a:r>
                <a:r>
                  <a:rPr lang="en-US" dirty="0"/>
                  <a:t>: </a:t>
                </a:r>
                <a:r>
                  <a:rPr lang="en-IN" dirty="0"/>
                  <a:t>Use ancilla + CSWAP to estimate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⟨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𝜓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𝜓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⟩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IN" dirty="0"/>
                  <a:t>.</a:t>
                </a:r>
              </a:p>
              <a:p>
                <a:r>
                  <a:rPr lang="en-IN" b="1" dirty="0"/>
                  <a:t>Assign to Clusters</a:t>
                </a:r>
                <a:r>
                  <a:rPr lang="en-IN" dirty="0"/>
                  <a:t>: For each point, compute Fidelity to each centroid. Assign to the maximum. </a:t>
                </a:r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DAD4EC-704B-4138-8A62-2B527EB181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46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128A20-CF1F-4113-AA03-6717E4C0D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35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3680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4DC44-4678-464B-94BB-A4A87A514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Quantum </a:t>
            </a:r>
            <a:r>
              <a:rPr lang="en-US" b="1" dirty="0" err="1"/>
              <a:t>KMeans</a:t>
            </a:r>
            <a:r>
              <a:rPr lang="en-US" b="1" dirty="0"/>
              <a:t> Workflow 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AD4EC-704B-4138-8A62-2B527EB18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Update Centroids (Classical)</a:t>
            </a:r>
            <a:r>
              <a:rPr lang="en-IN" dirty="0"/>
              <a:t>:</a:t>
            </a:r>
            <a:r>
              <a:rPr lang="en-IN" b="1" dirty="0"/>
              <a:t> </a:t>
            </a:r>
            <a:r>
              <a:rPr lang="en-IN" dirty="0"/>
              <a:t>Recompute cluster means. No quantum needed here.</a:t>
            </a:r>
          </a:p>
          <a:p>
            <a:r>
              <a:rPr lang="en-IN" b="1" dirty="0"/>
              <a:t>Iterate to Converge</a:t>
            </a:r>
            <a:r>
              <a:rPr lang="en-IN" dirty="0"/>
              <a:t>:</a:t>
            </a:r>
            <a:r>
              <a:rPr lang="en-IN" b="1" dirty="0"/>
              <a:t> </a:t>
            </a:r>
            <a:r>
              <a:rPr lang="en-IN" dirty="0"/>
              <a:t>Repeat assign and update until centroid shift &lt; </a:t>
            </a:r>
            <a:r>
              <a:rPr lang="el-GR" dirty="0"/>
              <a:t>ε </a:t>
            </a:r>
            <a:r>
              <a:rPr lang="en-IN" dirty="0"/>
              <a:t>or max iterations hit; log history if needed.</a:t>
            </a:r>
          </a:p>
          <a:p>
            <a:r>
              <a:rPr lang="en-IN" b="1" dirty="0"/>
              <a:t>Evaluate</a:t>
            </a:r>
          </a:p>
          <a:p>
            <a:pPr lvl="1"/>
            <a:r>
              <a:rPr lang="en-IN" dirty="0"/>
              <a:t>Internal: Silhouette, Davies–Bouldin, </a:t>
            </a:r>
            <a:r>
              <a:rPr lang="en-IN" dirty="0" err="1"/>
              <a:t>Calinski</a:t>
            </a:r>
            <a:r>
              <a:rPr lang="en-IN" dirty="0"/>
              <a:t>–</a:t>
            </a:r>
            <a:r>
              <a:rPr lang="en-IN" dirty="0" err="1"/>
              <a:t>Harabasz</a:t>
            </a:r>
            <a:r>
              <a:rPr lang="en-IN" dirty="0"/>
              <a:t>.</a:t>
            </a:r>
          </a:p>
          <a:p>
            <a:pPr lvl="1"/>
            <a:r>
              <a:rPr lang="en-IN" dirty="0"/>
              <a:t>External (if True labels available): ARI, NMI.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0FE704-D3BE-410D-B831-5AE74686E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36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26572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38514-2D03-422E-8ABC-B1DD18D0F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Comparison of Classical </a:t>
            </a:r>
            <a:r>
              <a:rPr lang="en-US" b="1" dirty="0" err="1"/>
              <a:t>KMeans</a:t>
            </a:r>
            <a:r>
              <a:rPr lang="en-US" b="1" dirty="0"/>
              <a:t> vs QKMeans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91E16B24-7937-4BD2-AFE3-4A8ACD208EE1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54572729"/>
                  </p:ext>
                </p:extLst>
              </p:nvPr>
            </p:nvGraphicFramePr>
            <p:xfrm>
              <a:off x="567267" y="1813547"/>
              <a:ext cx="11049000" cy="445678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62250">
                      <a:extLst>
                        <a:ext uri="{9D8B030D-6E8A-4147-A177-3AD203B41FA5}">
                          <a16:colId xmlns:a16="http://schemas.microsoft.com/office/drawing/2014/main" val="3028305695"/>
                        </a:ext>
                      </a:extLst>
                    </a:gridCol>
                    <a:gridCol w="2762250">
                      <a:extLst>
                        <a:ext uri="{9D8B030D-6E8A-4147-A177-3AD203B41FA5}">
                          <a16:colId xmlns:a16="http://schemas.microsoft.com/office/drawing/2014/main" val="3724684555"/>
                        </a:ext>
                      </a:extLst>
                    </a:gridCol>
                    <a:gridCol w="2762250">
                      <a:extLst>
                        <a:ext uri="{9D8B030D-6E8A-4147-A177-3AD203B41FA5}">
                          <a16:colId xmlns:a16="http://schemas.microsoft.com/office/drawing/2014/main" val="2351774484"/>
                        </a:ext>
                      </a:extLst>
                    </a:gridCol>
                    <a:gridCol w="2762250">
                      <a:extLst>
                        <a:ext uri="{9D8B030D-6E8A-4147-A177-3AD203B41FA5}">
                          <a16:colId xmlns:a16="http://schemas.microsoft.com/office/drawing/2014/main" val="714631192"/>
                        </a:ext>
                      </a:extLst>
                    </a:gridCol>
                  </a:tblGrid>
                  <a:tr h="618153">
                    <a:tc>
                      <a:txBody>
                        <a:bodyPr/>
                        <a:lstStyle/>
                        <a:p>
                          <a:r>
                            <a:rPr lang="en-IN" dirty="0"/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dirty="0"/>
                            <a:t>Classical k-means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Quantum k-means — theory 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dirty="0"/>
                            <a:t>Quantum k-means — practice (NISQ-era)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7379144"/>
                      </a:ext>
                    </a:extLst>
                  </a:tr>
                  <a:tr h="1584291">
                    <a:tc>
                      <a:txBody>
                        <a:bodyPr/>
                        <a:lstStyle/>
                        <a:p>
                          <a:r>
                            <a:rPr lang="en-IN" sz="1400" b="1" dirty="0"/>
                            <a:t>Training-time complexity</a:t>
                          </a:r>
                          <a:endParaRPr lang="en-IN" sz="1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Typical runtime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en-US" sz="1400" i="1" dirty="0" err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sz="1400" dirty="0"/>
                            <a:t>; heuristics often converge in few iterations, but worst-case can be super-polynomial. 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400" dirty="0"/>
                            <a:t>Under strong assumptions (efficient state prep/QRAM), several proposals claim polylog dependence in </a:t>
                          </a:r>
                          <a14:m>
                            <m:oMath xmlns:m="http://schemas.openxmlformats.org/officeDocument/2006/math">
                              <m:r>
                                <a:rPr lang="en-IN" sz="140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IN" sz="140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IN" sz="1400" i="1" dirty="0" err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oMath>
                          </a14:m>
                          <a:r>
                            <a:rPr lang="en-IN" sz="1400" dirty="0"/>
                            <a:t>. (</a:t>
                          </a:r>
                          <a:r>
                            <a:rPr lang="en-IN" sz="1400" dirty="0" err="1">
                              <a:hlinkClick r:id="rId2" tooltip="A quantum algorithm for unsupervised machine learning"/>
                            </a:rPr>
                            <a:t>NeurIPS</a:t>
                          </a:r>
                          <a:r>
                            <a:rPr lang="en-IN" sz="1400" dirty="0">
                              <a:hlinkClick r:id="rId2" tooltip="A quantum algorithm for unsupervised machine learning"/>
                            </a:rPr>
                            <a:t> Papers</a:t>
                          </a:r>
                          <a:r>
                            <a:rPr lang="en-IN" sz="1400" dirty="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End-to-end cost dominated by state preparation and circuit depth; with today’s devices the scaling advantage is not observed for realistic sizes. (</a:t>
                          </a:r>
                          <a:r>
                            <a:rPr lang="en-US" sz="1400" dirty="0" err="1">
                              <a:hlinkClick r:id="rId3" tooltip="Practical Quantum K-Means Clustering: Performance ..."/>
                            </a:rPr>
                            <a:t>arXiv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807163969"/>
                      </a:ext>
                    </a:extLst>
                  </a:tr>
                  <a:tr h="2232410">
                    <a:tc>
                      <a:txBody>
                        <a:bodyPr/>
                        <a:lstStyle/>
                        <a:p>
                          <a:r>
                            <a:rPr lang="en-IN" sz="1400" b="1" dirty="0"/>
                            <a:t>Distance evaluation</a:t>
                          </a:r>
                          <a:endParaRPr lang="en-IN" sz="1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400" dirty="0"/>
                            <a:t>Euclidean distances computed directly in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IN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ℝ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oMath>
                          </a14:m>
                          <a:r>
                            <a:rPr lang="en-IN" sz="1400" dirty="0"/>
                            <a:t>; no kernel unless using </a:t>
                          </a:r>
                          <a:r>
                            <a:rPr lang="en-IN" sz="1400" i="1" dirty="0"/>
                            <a:t>kernel k-means.</a:t>
                          </a:r>
                          <a:endParaRPr lang="en-IN" sz="1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400" dirty="0"/>
                            <a:t>Distances/overlaps estimated with quantum subroutines (e.g., SWAP-test / fidelity or trace-distance estimators), potentially in polylog(d) time if data are amplitude-encoded. (</a:t>
                          </a:r>
                          <a:r>
                            <a:rPr lang="en-IN" sz="1400" dirty="0" err="1">
                              <a:hlinkClick r:id="rId4" tooltip="Quantum multi-state Swap Test: an algorithm for estimating ..."/>
                            </a:rPr>
                            <a:t>SpringerOpen</a:t>
                          </a:r>
                          <a:r>
                            <a:rPr lang="en-IN" sz="1400" dirty="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SWAP-test–style overlaps feasible only for small qubit counts; noise and shot requirements inflate cost and error bars. (</a:t>
                          </a:r>
                          <a:r>
                            <a:rPr lang="en-US" sz="1400" dirty="0" err="1">
                              <a:hlinkClick r:id="rId3" tooltip="Practical Quantum K-Means Clustering: Performance ..."/>
                            </a:rPr>
                            <a:t>arXiv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7469765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91E16B24-7937-4BD2-AFE3-4A8ACD208EE1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54572729"/>
                  </p:ext>
                </p:extLst>
              </p:nvPr>
            </p:nvGraphicFramePr>
            <p:xfrm>
              <a:off x="567267" y="1813547"/>
              <a:ext cx="11049000" cy="445678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62250">
                      <a:extLst>
                        <a:ext uri="{9D8B030D-6E8A-4147-A177-3AD203B41FA5}">
                          <a16:colId xmlns:a16="http://schemas.microsoft.com/office/drawing/2014/main" val="3028305695"/>
                        </a:ext>
                      </a:extLst>
                    </a:gridCol>
                    <a:gridCol w="2762250">
                      <a:extLst>
                        <a:ext uri="{9D8B030D-6E8A-4147-A177-3AD203B41FA5}">
                          <a16:colId xmlns:a16="http://schemas.microsoft.com/office/drawing/2014/main" val="3724684555"/>
                        </a:ext>
                      </a:extLst>
                    </a:gridCol>
                    <a:gridCol w="2762250">
                      <a:extLst>
                        <a:ext uri="{9D8B030D-6E8A-4147-A177-3AD203B41FA5}">
                          <a16:colId xmlns:a16="http://schemas.microsoft.com/office/drawing/2014/main" val="2351774484"/>
                        </a:ext>
                      </a:extLst>
                    </a:gridCol>
                    <a:gridCol w="2762250">
                      <a:extLst>
                        <a:ext uri="{9D8B030D-6E8A-4147-A177-3AD203B41FA5}">
                          <a16:colId xmlns:a16="http://schemas.microsoft.com/office/drawing/2014/main" val="714631192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r>
                            <a:rPr lang="en-IN" dirty="0"/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dirty="0"/>
                            <a:t>Classical k-means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Quantum k-means — theory 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dirty="0"/>
                            <a:t>Quantum k-means — practice (NISQ-era)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7379144"/>
                      </a:ext>
                    </a:extLst>
                  </a:tr>
                  <a:tr h="1584291">
                    <a:tc>
                      <a:txBody>
                        <a:bodyPr/>
                        <a:lstStyle/>
                        <a:p>
                          <a:r>
                            <a:rPr lang="en-IN" sz="1400" b="1" dirty="0"/>
                            <a:t>Training-time complexity</a:t>
                          </a:r>
                          <a:endParaRPr lang="en-IN" sz="1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100000" t="-42308" r="-200441" b="-14192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200442" t="-42308" r="-100883" b="-14192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End-to-end cost dominated by state preparation and circuit depth; with today’s devices the scaling advantage is not observed for realistic sizes. (</a:t>
                          </a:r>
                          <a:r>
                            <a:rPr lang="en-US" sz="1400" dirty="0" err="1">
                              <a:hlinkClick r:id="rId6" tooltip="Practical Quantum K-Means Clustering: Performance ..."/>
                            </a:rPr>
                            <a:t>arXiv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807163969"/>
                      </a:ext>
                    </a:extLst>
                  </a:tr>
                  <a:tr h="2232410">
                    <a:tc>
                      <a:txBody>
                        <a:bodyPr/>
                        <a:lstStyle/>
                        <a:p>
                          <a:r>
                            <a:rPr lang="en-IN" sz="1400" b="1" dirty="0"/>
                            <a:t>Distance evaluation</a:t>
                          </a:r>
                          <a:endParaRPr lang="en-IN" sz="1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100000" t="-100817" r="-200441" b="-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IN" sz="1400" dirty="0"/>
                            <a:t>Distances/overlaps estimated with quantum subroutines (e.g., SWAP-test / fidelity or trace-distance estimators), potentially in polylog(d) time if data are amplitude-encoded. (</a:t>
                          </a:r>
                          <a:r>
                            <a:rPr lang="en-IN" sz="1400" dirty="0" err="1">
                              <a:hlinkClick r:id="rId7" tooltip="Quantum multi-state Swap Test: an algorithm for estimating ..."/>
                            </a:rPr>
                            <a:t>SpringerOpen</a:t>
                          </a:r>
                          <a:r>
                            <a:rPr lang="en-IN" sz="1400" dirty="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SWAP-test–style overlaps feasible only for small qubit counts; noise and shot requirements inflate cost and error bars. (</a:t>
                          </a:r>
                          <a:r>
                            <a:rPr lang="en-US" sz="1400" dirty="0" err="1">
                              <a:hlinkClick r:id="rId6" tooltip="Practical Quantum K-Means Clustering: Performance ..."/>
                            </a:rPr>
                            <a:t>arXiv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7469765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E2F177-E656-4BE2-B7AD-D135834B8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37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34894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E3477-06BC-4475-B117-0D784DBFC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Comparison of Classical </a:t>
            </a:r>
            <a:r>
              <a:rPr lang="en-US" b="1" dirty="0" err="1"/>
              <a:t>KMeans</a:t>
            </a:r>
            <a:r>
              <a:rPr lang="en-US" b="1" dirty="0"/>
              <a:t> vs QKMeans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1AEC19A8-B98E-4FE0-8488-158A92110153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998356102"/>
                  </p:ext>
                </p:extLst>
              </p:nvPr>
            </p:nvGraphicFramePr>
            <p:xfrm>
              <a:off x="838200" y="1825625"/>
              <a:ext cx="10515600" cy="4211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2940362001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342649750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764199473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239491619"/>
                        </a:ext>
                      </a:extLst>
                    </a:gridCol>
                  </a:tblGrid>
                  <a:tr h="747468">
                    <a:tc>
                      <a:txBody>
                        <a:bodyPr/>
                        <a:lstStyle/>
                        <a:p>
                          <a:r>
                            <a:rPr lang="en-IN" dirty="0"/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dirty="0"/>
                            <a:t>Classical k-means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Quantum k-means — theory 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dirty="0"/>
                            <a:t>Quantum k-means — practice (NISQ-era)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13444445"/>
                      </a:ext>
                    </a:extLst>
                  </a:tr>
                  <a:tr h="1861923">
                    <a:tc>
                      <a:txBody>
                        <a:bodyPr/>
                        <a:lstStyle/>
                        <a:p>
                          <a:r>
                            <a:rPr lang="en-IN" sz="1400" b="1" dirty="0"/>
                            <a:t>Feature-space power</a:t>
                          </a:r>
                          <a:endParaRPr lang="en-IN" sz="1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Operates in input space; “feature lift” only if </a:t>
                          </a:r>
                          <a:r>
                            <a:rPr lang="en-US" sz="1400" b="1" dirty="0"/>
                            <a:t>kernel k-means</a:t>
                          </a:r>
                          <a:r>
                            <a:rPr lang="en-US" sz="1400" dirty="0"/>
                            <a:t> is used. 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sz="1400" dirty="0"/>
                            <a:t>Amplitude encoding represents a d-dimensional vector with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 b="0" i="0" dirty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14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IN" sz="140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IN" sz="1400" dirty="0"/>
                            <a:t>qubits, implicitly accessing a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IN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IN" sz="140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IN" sz="1400" i="1" dirty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  <m:r>
                                    <a:rPr lang="en-US" sz="1400" b="0" i="1" dirty="0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oMath>
                          </a14:m>
                          <a:r>
                            <a:rPr lang="en-IN" sz="1400" dirty="0"/>
                            <a:t> dimensional Hilbert space; attractive for high-dimensional structure. (</a:t>
                          </a:r>
                          <a:r>
                            <a:rPr lang="en-IN" sz="1400" dirty="0">
                              <a:hlinkClick r:id="rId2" tooltip="Chapter 2 Quantum computing and quantum algorithms"/>
                            </a:rPr>
                            <a:t>Quantum Algorithms</a:t>
                          </a:r>
                          <a:r>
                            <a:rPr lang="en-IN" sz="1400" dirty="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Preparing those amplitude-encoded states reliably is the bottleneck; without fast QRAM/state-prep, the theoretical advantage largely disappears. (</a:t>
                          </a:r>
                          <a:r>
                            <a:rPr lang="en-US" sz="1400" dirty="0">
                              <a:hlinkClick r:id="rId3" tooltip="Quantum machine learning: a classical perspective - Journals"/>
                            </a:rPr>
                            <a:t>Royal Society Publishing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44872188"/>
                      </a:ext>
                    </a:extLst>
                  </a:tr>
                  <a:tr h="1601717">
                    <a:tc>
                      <a:txBody>
                        <a:bodyPr/>
                        <a:lstStyle/>
                        <a:p>
                          <a:r>
                            <a:rPr lang="en-IN" sz="1400" b="1"/>
                            <a:t>Speed-up claims</a:t>
                          </a:r>
                          <a:endParaRPr lang="en-IN" sz="14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None beyond classical accelerations (initialization/indexing/pruning). 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Papers claim exponential/polylog speed-ups under QRAM + efficient state-prep assumptions. (</a:t>
                          </a:r>
                          <a:r>
                            <a:rPr lang="en-US" sz="1400">
                              <a:hlinkClick r:id="rId4" tooltip="A quantum algorithm for unsupervised machine learning"/>
                            </a:rPr>
                            <a:t>NeurIPS Papers</a:t>
                          </a:r>
                          <a:r>
                            <a:rPr lang="en-US" sz="140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De-quantization results show many QRAM-based advantages can be matched classically; practical quantum speed-ups for k-means remain unproven. (</a:t>
                          </a:r>
                          <a:r>
                            <a:rPr lang="en-US" sz="1400" dirty="0" err="1">
                              <a:hlinkClick r:id="rId5" tooltip="A quantum-inspired classical algorithm for recommendation systems"/>
                            </a:rPr>
                            <a:t>arXiv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4433115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1AEC19A8-B98E-4FE0-8488-158A92110153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998356102"/>
                  </p:ext>
                </p:extLst>
              </p:nvPr>
            </p:nvGraphicFramePr>
            <p:xfrm>
              <a:off x="838200" y="1825625"/>
              <a:ext cx="10515600" cy="42111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2940362001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342649750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764199473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239491619"/>
                        </a:ext>
                      </a:extLst>
                    </a:gridCol>
                  </a:tblGrid>
                  <a:tr h="747468">
                    <a:tc>
                      <a:txBody>
                        <a:bodyPr/>
                        <a:lstStyle/>
                        <a:p>
                          <a:r>
                            <a:rPr lang="en-IN" dirty="0"/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dirty="0"/>
                            <a:t>Classical k-means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Quantum k-means — theory 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N" dirty="0"/>
                            <a:t>Quantum k-means — practice (NISQ-era)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13444445"/>
                      </a:ext>
                    </a:extLst>
                  </a:tr>
                  <a:tr h="1861923">
                    <a:tc>
                      <a:txBody>
                        <a:bodyPr/>
                        <a:lstStyle/>
                        <a:p>
                          <a:r>
                            <a:rPr lang="en-IN" sz="1400" b="1" dirty="0"/>
                            <a:t>Feature-space power</a:t>
                          </a:r>
                          <a:endParaRPr lang="en-IN" sz="1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Operates in input space; “feature lift” only if </a:t>
                          </a:r>
                          <a:r>
                            <a:rPr lang="en-US" sz="1400" b="1" dirty="0"/>
                            <a:t>kernel k-means</a:t>
                          </a:r>
                          <a:r>
                            <a:rPr lang="en-US" sz="1400" dirty="0"/>
                            <a:t> is used. 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00000" t="-40523" r="-100694" b="-8660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Preparing those amplitude-encoded states reliably is the bottleneck; without fast QRAM/state-prep, the theoretical advantage largely disappears. (</a:t>
                          </a:r>
                          <a:r>
                            <a:rPr lang="en-US" sz="1400" dirty="0">
                              <a:hlinkClick r:id="rId7" tooltip="Quantum machine learning: a classical perspective - Journals"/>
                            </a:rPr>
                            <a:t>Royal Society Publishing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44872188"/>
                      </a:ext>
                    </a:extLst>
                  </a:tr>
                  <a:tr h="1601717">
                    <a:tc>
                      <a:txBody>
                        <a:bodyPr/>
                        <a:lstStyle/>
                        <a:p>
                          <a:r>
                            <a:rPr lang="en-IN" sz="1400" b="1"/>
                            <a:t>Speed-up claims</a:t>
                          </a:r>
                          <a:endParaRPr lang="en-IN" sz="14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None beyond classical accelerations (initialization/indexing/pruning). 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Papers claim exponential/polylog speed-ups under QRAM + efficient state-prep assumptions. (</a:t>
                          </a:r>
                          <a:r>
                            <a:rPr lang="en-US" sz="1400">
                              <a:hlinkClick r:id="rId8" tooltip="A quantum algorithm for unsupervised machine learning"/>
                            </a:rPr>
                            <a:t>NeurIPS Papers</a:t>
                          </a:r>
                          <a:r>
                            <a:rPr lang="en-US" sz="1400"/>
                            <a:t>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De-quantization results show many QRAM-based advantages can be matched classically; practical quantum speed-ups for k-means remain unproven. (</a:t>
                          </a:r>
                          <a:r>
                            <a:rPr lang="en-US" sz="1400" dirty="0" err="1">
                              <a:hlinkClick r:id="rId9" tooltip="A quantum-inspired classical algorithm for recommendation systems"/>
                            </a:rPr>
                            <a:t>arXiv</a:t>
                          </a:r>
                          <a:r>
                            <a:rPr lang="en-US" sz="1400" dirty="0"/>
                            <a:t>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4433115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37DFD-1361-4F0E-97A8-03D5F1570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38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10873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9FD74-8794-4490-A0E7-E0B393F90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Comparison of Classical </a:t>
            </a:r>
            <a:r>
              <a:rPr lang="en-US" b="1" dirty="0" err="1"/>
              <a:t>KMeans</a:t>
            </a:r>
            <a:r>
              <a:rPr lang="en-US" b="1" dirty="0"/>
              <a:t> vs QKMeans</a:t>
            </a:r>
            <a:endParaRPr lang="en-IN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677FFB9E-2DF7-4C3F-AA72-AFB94C0BFFA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70791180"/>
              </p:ext>
            </p:extLst>
          </p:nvPr>
        </p:nvGraphicFramePr>
        <p:xfrm>
          <a:off x="482600" y="1825625"/>
          <a:ext cx="11303000" cy="43110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5750">
                  <a:extLst>
                    <a:ext uri="{9D8B030D-6E8A-4147-A177-3AD203B41FA5}">
                      <a16:colId xmlns:a16="http://schemas.microsoft.com/office/drawing/2014/main" val="2795337624"/>
                    </a:ext>
                  </a:extLst>
                </a:gridCol>
                <a:gridCol w="2825750">
                  <a:extLst>
                    <a:ext uri="{9D8B030D-6E8A-4147-A177-3AD203B41FA5}">
                      <a16:colId xmlns:a16="http://schemas.microsoft.com/office/drawing/2014/main" val="2556571894"/>
                    </a:ext>
                  </a:extLst>
                </a:gridCol>
                <a:gridCol w="2825750">
                  <a:extLst>
                    <a:ext uri="{9D8B030D-6E8A-4147-A177-3AD203B41FA5}">
                      <a16:colId xmlns:a16="http://schemas.microsoft.com/office/drawing/2014/main" val="891123936"/>
                    </a:ext>
                  </a:extLst>
                </a:gridCol>
                <a:gridCol w="2825750">
                  <a:extLst>
                    <a:ext uri="{9D8B030D-6E8A-4147-A177-3AD203B41FA5}">
                      <a16:colId xmlns:a16="http://schemas.microsoft.com/office/drawing/2014/main" val="21675921"/>
                    </a:ext>
                  </a:extLst>
                </a:gridCol>
              </a:tblGrid>
              <a:tr h="531660">
                <a:tc>
                  <a:txBody>
                    <a:bodyPr/>
                    <a:lstStyle/>
                    <a:p>
                      <a:r>
                        <a:rPr lang="en-IN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Classical k-means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Quantum k-means — theory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Quantum k-means — practice (NISQ-era)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569995"/>
                  </a:ext>
                </a:extLst>
              </a:tr>
              <a:tr h="1291173">
                <a:tc>
                  <a:txBody>
                    <a:bodyPr/>
                    <a:lstStyle/>
                    <a:p>
                      <a:r>
                        <a:rPr lang="en-IN" sz="1400" b="1" dirty="0"/>
                        <a:t>Accuracy</a:t>
                      </a:r>
                      <a:endParaRPr lang="en-IN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Strong baselines; accuracy determined by data shape, k, </a:t>
                      </a:r>
                      <a:r>
                        <a:rPr lang="en-US" sz="1400" dirty="0" err="1"/>
                        <a:t>init</a:t>
                      </a:r>
                      <a:r>
                        <a:rPr lang="en-US" sz="1400" dirty="0"/>
                        <a:t> (k-means++), etc.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In the idealized model, matches a robust k-means objective with similar precision guarantees. (</a:t>
                      </a:r>
                      <a:r>
                        <a:rPr lang="en-US" sz="1400" dirty="0" err="1">
                          <a:hlinkClick r:id="rId2" tooltip="A quantum algorithm for unsupervised machine learning"/>
                        </a:rPr>
                        <a:t>NeurIPS</a:t>
                      </a:r>
                      <a:r>
                        <a:rPr lang="en-US" sz="1400" dirty="0">
                          <a:hlinkClick r:id="rId2" tooltip="A quantum algorithm for unsupervised machine learning"/>
                        </a:rPr>
                        <a:t> Papers</a:t>
                      </a:r>
                      <a:r>
                        <a:rPr lang="en-US" sz="140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Small-scale studies on real/noisy hardware report comparable accuracy on toy datasets, with noise/circuit depth limiting performance. (</a:t>
                      </a:r>
                      <a:r>
                        <a:rPr lang="en-US" sz="1400" dirty="0" err="1">
                          <a:hlinkClick r:id="rId3" tooltip="Practical Quantum K-Means Clustering: Performance ..."/>
                        </a:rPr>
                        <a:t>arXiv</a:t>
                      </a:r>
                      <a:r>
                        <a:rPr lang="en-US" sz="140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1812315"/>
                  </a:ext>
                </a:extLst>
              </a:tr>
              <a:tr h="1088636">
                <a:tc>
                  <a:txBody>
                    <a:bodyPr/>
                    <a:lstStyle/>
                    <a:p>
                      <a:r>
                        <a:rPr lang="en-IN" sz="1400" b="1"/>
                        <a:t>Hardware / resource needs</a:t>
                      </a:r>
                      <a:endParaRPr lang="en-IN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CPU/GPU; scales to millions of points with optimized libs.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Fault-tolerant QC + </a:t>
                      </a:r>
                      <a:r>
                        <a:rPr lang="en-US" sz="1400" b="1" dirty="0"/>
                        <a:t>QRAM</a:t>
                      </a:r>
                      <a:r>
                        <a:rPr lang="en-US" sz="1400" dirty="0"/>
                        <a:t> for fast data access; assumes efficient, low-error amplitude encoding. (</a:t>
                      </a:r>
                      <a:r>
                        <a:rPr lang="en-US" sz="1400" dirty="0">
                          <a:hlinkClick r:id="rId4" tooltip="Quantum Random Access Memory | Phys. Rev. Lett."/>
                        </a:rPr>
                        <a:t>Physical Review Links</a:t>
                      </a:r>
                      <a:r>
                        <a:rPr lang="en-US" sz="140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NISQ devices (tens–hundreds of qubits) + simulators; no practical QRAM; depth/width and error rates are the main constraints. (</a:t>
                      </a:r>
                      <a:r>
                        <a:rPr lang="en-US" sz="1400" dirty="0" err="1">
                          <a:hlinkClick r:id="rId3" tooltip="Practical Quantum K-Means Clustering: Performance ..."/>
                        </a:rPr>
                        <a:t>arXiv</a:t>
                      </a:r>
                      <a:r>
                        <a:rPr lang="en-US" sz="140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1770972"/>
                  </a:ext>
                </a:extLst>
              </a:tr>
              <a:tr h="1291173">
                <a:tc>
                  <a:txBody>
                    <a:bodyPr/>
                    <a:lstStyle/>
                    <a:p>
                      <a:r>
                        <a:rPr lang="en-IN" sz="1400" b="1"/>
                        <a:t>Key limits</a:t>
                      </a:r>
                      <a:endParaRPr lang="en-IN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Sensitive to spherical-cluster assumption, local minima, choice of k.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Assumes fast data loading/QRAM and low-noise circuits, assumptions debated in feasibility and overall end-to-end cost. (</a:t>
                      </a:r>
                      <a:r>
                        <a:rPr lang="en-US" sz="1400" dirty="0">
                          <a:hlinkClick r:id="rId4" tooltip="Quantum Random Access Memory | Phys. Rev. Lett."/>
                        </a:rPr>
                        <a:t>Physical Review Links</a:t>
                      </a:r>
                      <a:r>
                        <a:rPr lang="en-US" sz="140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State-prep overhead overwhelms; noise/shot complexity; de-quantization weakens headline advantages on classical data. (</a:t>
                      </a:r>
                      <a:r>
                        <a:rPr lang="en-US" sz="1400" dirty="0">
                          <a:hlinkClick r:id="rId5" tooltip="Quantum machine learning: a classical perspective - Journals"/>
                        </a:rPr>
                        <a:t>Royal Society Publishing</a:t>
                      </a:r>
                      <a:r>
                        <a:rPr lang="en-US" sz="140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5708640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D38967-4ADA-4FE0-B194-16D7B0A7C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39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287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AC063-9816-4BC4-898C-CBB148E5F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Merits of </a:t>
            </a:r>
            <a:r>
              <a:rPr lang="en-IN" b="1" dirty="0" err="1"/>
              <a:t>QKMeans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73740F-EA91-4179-8784-F9119EAFE8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Potential poly log-in-N speed (with QRAM) vs. 𝑂(𝑘𝑁𝑑).</a:t>
            </a:r>
          </a:p>
          <a:p>
            <a:r>
              <a:rPr lang="en-IN" dirty="0"/>
              <a:t>Expressive quantum features (overlaps/fidelity) for non-linear clusters.</a:t>
            </a:r>
          </a:p>
          <a:p>
            <a:r>
              <a:rPr lang="en-IN" dirty="0"/>
              <a:t>Native similarity via compute-</a:t>
            </a:r>
            <a:r>
              <a:rPr lang="en-IN" dirty="0" err="1"/>
              <a:t>uncompute</a:t>
            </a:r>
            <a:r>
              <a:rPr lang="en-IN" dirty="0"/>
              <a:t> / SWAP circuits.</a:t>
            </a:r>
          </a:p>
          <a:p>
            <a:r>
              <a:rPr lang="en-IN" dirty="0"/>
              <a:t>Hybrid-friendly: quantum embedding + classical assignment/update.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E37D81-4AF7-473C-AE0E-FFA6FE39D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40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87928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AC063-9816-4BC4-898C-CBB148E5F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Demerits of </a:t>
            </a:r>
            <a:r>
              <a:rPr lang="en-IN" b="1" dirty="0" err="1"/>
              <a:t>QKMeans</a:t>
            </a:r>
            <a:endParaRPr lang="en-IN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73740F-EA91-4179-8784-F9119EAFE8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925554"/>
                <a:ext cx="10515600" cy="4351338"/>
              </a:xfrm>
            </p:spPr>
            <p:txBody>
              <a:bodyPr/>
              <a:lstStyle/>
              <a:p>
                <a:r>
                  <a:rPr lang="en-IN" dirty="0"/>
                  <a:t>QRAM/state-prep needed for theory wins; not practical yet.</a:t>
                </a:r>
              </a:p>
              <a:p>
                <a:r>
                  <a:rPr lang="en-IN" dirty="0"/>
                  <a:t>Shot noise &amp; device errors → many repetitions, unstable kernels.</a:t>
                </a:r>
              </a:p>
              <a:p>
                <a:r>
                  <a:rPr lang="en-IN" dirty="0"/>
                  <a:t>Still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IN" dirty="0"/>
                  <a:t> pairwise overlaps for assignments.</a:t>
                </a:r>
              </a:p>
              <a:p>
                <a:r>
                  <a:rPr lang="en-IN" dirty="0"/>
                  <a:t>Encoding overhead: angle-enc needs </a:t>
                </a:r>
                <a14:m>
                  <m:oMath xmlns:m="http://schemas.openxmlformats.org/officeDocument/2006/math">
                    <m:r>
                      <a:rPr lang="en-IN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IN" dirty="0"/>
                  <a:t> qubits; amplitude-enc costly.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73740F-EA91-4179-8784-F9119EAFE8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925554"/>
                <a:ext cx="10515600" cy="4351338"/>
              </a:xfrm>
              <a:blipFill>
                <a:blip r:embed="rId2"/>
                <a:stretch>
                  <a:fillRect l="-1043" t="-2381" r="-92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E37D81-4AF7-473C-AE0E-FFA6FE39D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41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40424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AC063-9816-4BC4-898C-CBB148E5F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Future prospects of </a:t>
            </a:r>
            <a:r>
              <a:rPr lang="en-IN" b="1" dirty="0" err="1"/>
              <a:t>QKMeans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73740F-EA91-4179-8784-F9119EAFE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5554"/>
            <a:ext cx="10515600" cy="4351338"/>
          </a:xfrm>
        </p:spPr>
        <p:txBody>
          <a:bodyPr/>
          <a:lstStyle/>
          <a:p>
            <a:r>
              <a:rPr lang="en-IN" dirty="0"/>
              <a:t>Scalable, noise-tolerant QRAM architectures.</a:t>
            </a:r>
          </a:p>
          <a:p>
            <a:r>
              <a:rPr lang="en-IN" dirty="0"/>
              <a:t>Lower-depth / multi-overlap estimators to cut kernel time.</a:t>
            </a:r>
          </a:p>
          <a:p>
            <a:r>
              <a:rPr lang="en-IN" dirty="0"/>
              <a:t>Fault-tolerant hardware → deeper, richer feature maps.</a:t>
            </a:r>
          </a:p>
          <a:p>
            <a:r>
              <a:rPr lang="en-IN" dirty="0"/>
              <a:t>Smarter hybrids: mini-batch </a:t>
            </a:r>
            <a:r>
              <a:rPr lang="en-IN" dirty="0" err="1"/>
              <a:t>qk</a:t>
            </a:r>
            <a:r>
              <a:rPr lang="en-IN" dirty="0"/>
              <a:t>-means, cached states.</a:t>
            </a:r>
          </a:p>
          <a:p>
            <a:r>
              <a:rPr lang="en-IN" dirty="0"/>
              <a:t>Task targeting where quantum embeddings match data structure.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E37D81-4AF7-473C-AE0E-FFA6FE39D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44A4F-A82D-4CE4-A479-AF51176D115C}" type="slidenum">
              <a:rPr lang="en-IN" smtClean="0"/>
              <a:t>42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4931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29591</TotalTime>
  <Words>3898</Words>
  <Application>Microsoft Office PowerPoint</Application>
  <PresentationFormat>Widescreen</PresentationFormat>
  <Paragraphs>377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Arial</vt:lpstr>
      <vt:lpstr>Calibri</vt:lpstr>
      <vt:lpstr>Calibri Light</vt:lpstr>
      <vt:lpstr>Cambria Math</vt:lpstr>
      <vt:lpstr>Office Theme</vt:lpstr>
      <vt:lpstr>QSVM &amp; QKMeans</vt:lpstr>
      <vt:lpstr>Agenda</vt:lpstr>
      <vt:lpstr>Quantum Support Vector Machines</vt:lpstr>
      <vt:lpstr>Support Vector Machine - Concept Refresher</vt:lpstr>
      <vt:lpstr>Support Vector Machine - Concept Refresher</vt:lpstr>
      <vt:lpstr>Merits of Classical SVMs</vt:lpstr>
      <vt:lpstr>Demerits of Classical SVMs</vt:lpstr>
      <vt:lpstr>QSVM Workflow</vt:lpstr>
      <vt:lpstr>QSVM Workflow</vt:lpstr>
      <vt:lpstr>Fidelity</vt:lpstr>
      <vt:lpstr>Measuring Fidelity using SWAP Test</vt:lpstr>
      <vt:lpstr>Destructive SWAP Test (Bit-string Comparison)</vt:lpstr>
      <vt:lpstr>Measuring Fidelity using Hadamard / Inner-Product Test </vt:lpstr>
      <vt:lpstr>Types of Quantum Kernels  </vt:lpstr>
      <vt:lpstr>Fidelity Based Quantum Kernel</vt:lpstr>
      <vt:lpstr>Entanglement Based Quantum Kernel</vt:lpstr>
      <vt:lpstr>Variational Quantum Kernel</vt:lpstr>
      <vt:lpstr>Hamiltonian Way To QSVM (Iris Dataset)</vt:lpstr>
      <vt:lpstr>Cost Hamiltonian</vt:lpstr>
      <vt:lpstr>Full model circuit (data + label)</vt:lpstr>
      <vt:lpstr>Comparison of Classical SVM vs QSVM</vt:lpstr>
      <vt:lpstr>Comparison of Classical SVM vs QSVM</vt:lpstr>
      <vt:lpstr>Comparison of Classical SVM vs QSVM</vt:lpstr>
      <vt:lpstr>Merits of Kernel method</vt:lpstr>
      <vt:lpstr>Demerits of Kernel method</vt:lpstr>
      <vt:lpstr>Merits of Hamiltonian method</vt:lpstr>
      <vt:lpstr>Merits of Hamiltonian method</vt:lpstr>
      <vt:lpstr>Future Prospects of QSVM</vt:lpstr>
      <vt:lpstr>Quantum K Means</vt:lpstr>
      <vt:lpstr>Distance Measurement for Classical K Means </vt:lpstr>
      <vt:lpstr>K Means Refresher</vt:lpstr>
      <vt:lpstr>K Means Refresher</vt:lpstr>
      <vt:lpstr>Merits of K-Means</vt:lpstr>
      <vt:lpstr>Demerits of K-Means</vt:lpstr>
      <vt:lpstr>Quantum KMeans Workflow </vt:lpstr>
      <vt:lpstr>Quantum KMeans Workflow </vt:lpstr>
      <vt:lpstr>Comparison of Classical KMeans vs QKMeans</vt:lpstr>
      <vt:lpstr>Comparison of Classical KMeans vs QKMeans</vt:lpstr>
      <vt:lpstr>Comparison of Classical KMeans vs QKMeans</vt:lpstr>
      <vt:lpstr>Merits of QKMeans</vt:lpstr>
      <vt:lpstr>Demerits of QKMeans</vt:lpstr>
      <vt:lpstr>Future prospects of QKMeans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Sachin Namdeo</dc:creator>
  <cp:lastModifiedBy>Sachin Namdeo</cp:lastModifiedBy>
  <cp:revision>97</cp:revision>
  <dcterms:created xsi:type="dcterms:W3CDTF">2025-07-15T08:42:05Z</dcterms:created>
  <dcterms:modified xsi:type="dcterms:W3CDTF">2025-10-08T09:09:24Z</dcterms:modified>
</cp:coreProperties>
</file>